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1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286000"/>
            <a:ext cx="822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C3545"/>
                </a:solidFill>
              </a:defRPr>
            </a:pPr>
            <a:r>
              <a:rPr sz="5400"/>
              <a:t>TRIAGE MÉDICO AUTOMÁTICO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41148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sz="2000"/>
              <a:t>Sistema de Clasificación Inteligente de Pacientes</a:t>
            </a:r>
            <a:br>
              <a:rPr sz="2000"/>
            </a:br>
            <a:r>
              <a:rPr sz="2000"/>
              <a:t>con n8n +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1097280"/>
          </a:xfrm>
          <a:prstGeom prst="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82880"/>
            <a:ext cx="399660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El Desafío Médico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5520" y="1371601"/>
            <a:ext cx="7680960" cy="28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282828"/>
                </a:solidFill>
              </a:defRPr>
            </a:pPr>
            <a:r>
              <a:rPr sz="1600" dirty="0"/>
              <a:t>❌ ANTES: Colas </a:t>
            </a:r>
            <a:r>
              <a:rPr sz="1600" dirty="0" err="1"/>
              <a:t>largas</a:t>
            </a:r>
            <a:r>
              <a:rPr sz="1600" dirty="0"/>
              <a:t>, </a:t>
            </a:r>
            <a:r>
              <a:rPr sz="1600" dirty="0" err="1"/>
              <a:t>esperas</a:t>
            </a:r>
            <a:r>
              <a:rPr sz="1600" dirty="0"/>
              <a:t> </a:t>
            </a:r>
            <a:r>
              <a:rPr sz="1600" dirty="0" err="1"/>
              <a:t>indefinidas</a:t>
            </a:r>
            <a:br>
              <a:rPr sz="1600" dirty="0"/>
            </a:br>
            <a:r>
              <a:rPr sz="1600" dirty="0"/>
              <a:t>❌ </a:t>
            </a:r>
            <a:r>
              <a:rPr sz="1600" dirty="0" err="1"/>
              <a:t>Pacientes</a:t>
            </a:r>
            <a:r>
              <a:rPr sz="1600" dirty="0"/>
              <a:t> graves </a:t>
            </a:r>
            <a:r>
              <a:rPr sz="1600" dirty="0" err="1"/>
              <a:t>esperan</a:t>
            </a:r>
            <a:r>
              <a:rPr sz="1600" dirty="0"/>
              <a:t> junto a </a:t>
            </a:r>
            <a:r>
              <a:rPr sz="1600" dirty="0" err="1"/>
              <a:t>consultas</a:t>
            </a:r>
            <a:r>
              <a:rPr sz="1600" dirty="0"/>
              <a:t> </a:t>
            </a:r>
            <a:r>
              <a:rPr sz="1600" dirty="0" err="1"/>
              <a:t>menores</a:t>
            </a:r>
            <a:br>
              <a:rPr sz="1600" dirty="0"/>
            </a:br>
            <a:r>
              <a:rPr sz="1600" dirty="0"/>
              <a:t>❌ </a:t>
            </a:r>
            <a:r>
              <a:rPr sz="1600" dirty="0" err="1"/>
              <a:t>Recursos</a:t>
            </a:r>
            <a:r>
              <a:rPr sz="1600" dirty="0"/>
              <a:t> </a:t>
            </a:r>
            <a:r>
              <a:rPr sz="1600" dirty="0" err="1"/>
              <a:t>limitados</a:t>
            </a:r>
            <a:r>
              <a:rPr sz="1600" dirty="0"/>
              <a:t>, </a:t>
            </a:r>
            <a:r>
              <a:rPr sz="1600" dirty="0" err="1"/>
              <a:t>atención</a:t>
            </a:r>
            <a:r>
              <a:rPr sz="1600" dirty="0"/>
              <a:t> </a:t>
            </a:r>
            <a:r>
              <a:rPr sz="1600" dirty="0" err="1"/>
              <a:t>desigual</a:t>
            </a:r>
            <a:br>
              <a:rPr sz="1600" dirty="0"/>
            </a:br>
            <a:br>
              <a:rPr sz="1600" dirty="0"/>
            </a:br>
            <a:r>
              <a:rPr sz="1600" dirty="0"/>
              <a:t>✅ SOLUCIÓN: Sistema de </a:t>
            </a:r>
            <a:r>
              <a:rPr sz="1600" dirty="0" err="1"/>
              <a:t>Triaje</a:t>
            </a:r>
            <a:r>
              <a:rPr sz="1600" dirty="0"/>
              <a:t> </a:t>
            </a:r>
            <a:r>
              <a:rPr sz="1600" dirty="0" err="1"/>
              <a:t>Automático</a:t>
            </a:r>
            <a:br>
              <a:rPr sz="1600" dirty="0"/>
            </a:br>
            <a:r>
              <a:rPr sz="1600" dirty="0"/>
              <a:t>   • </a:t>
            </a:r>
            <a:r>
              <a:rPr sz="1600" dirty="0" err="1"/>
              <a:t>Clasificación</a:t>
            </a:r>
            <a:r>
              <a:rPr sz="1600" dirty="0"/>
              <a:t> </a:t>
            </a:r>
            <a:r>
              <a:rPr sz="1600" dirty="0" err="1"/>
              <a:t>instantánea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gravedad</a:t>
            </a:r>
            <a:br>
              <a:rPr sz="1600" dirty="0"/>
            </a:br>
            <a:r>
              <a:rPr sz="1600" dirty="0"/>
              <a:t>   • </a:t>
            </a:r>
            <a:r>
              <a:rPr sz="1600" dirty="0" err="1"/>
              <a:t>Priorización</a:t>
            </a:r>
            <a:r>
              <a:rPr sz="1600" dirty="0"/>
              <a:t> </a:t>
            </a:r>
            <a:r>
              <a:rPr sz="1600" dirty="0" err="1"/>
              <a:t>inteligente</a:t>
            </a:r>
            <a:br>
              <a:rPr sz="1600" dirty="0"/>
            </a:br>
            <a:r>
              <a:rPr sz="1600" dirty="0"/>
              <a:t>   • Respuesta 24/7 sin </a:t>
            </a:r>
            <a:r>
              <a:rPr sz="1600" dirty="0" err="1"/>
              <a:t>intervención</a:t>
            </a:r>
            <a:r>
              <a:rPr sz="1600" dirty="0"/>
              <a:t> humana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9169780-17A9-C120-A505-5F7BF6908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2214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55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1097280"/>
          </a:xfrm>
          <a:prstGeom prst="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0" y="182880"/>
            <a:ext cx="588334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Las 4 Capas del Ecosistema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5520" y="1371600"/>
            <a:ext cx="7680960" cy="385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282828"/>
                </a:solidFill>
              </a:defRPr>
            </a:pPr>
            <a:r>
              <a:rPr sz="1600" dirty="0"/>
              <a:t>1️⃣ HERRAMIENTAS</a:t>
            </a:r>
            <a:br>
              <a:rPr sz="1600" dirty="0"/>
            </a:br>
            <a:r>
              <a:rPr sz="1600" dirty="0"/>
              <a:t>   Gmail (HITL), Chat </a:t>
            </a:r>
            <a:r>
              <a:rPr sz="1600" dirty="0" err="1"/>
              <a:t>conversacional</a:t>
            </a:r>
            <a:r>
              <a:rPr sz="1600" dirty="0"/>
              <a:t>, Slack (</a:t>
            </a:r>
            <a:r>
              <a:rPr sz="1600" dirty="0" err="1"/>
              <a:t>notificaciones</a:t>
            </a:r>
            <a:r>
              <a:rPr sz="1600" dirty="0"/>
              <a:t>)</a:t>
            </a:r>
            <a:br>
              <a:rPr sz="1600" dirty="0"/>
            </a:br>
            <a:br>
              <a:rPr sz="1600" dirty="0"/>
            </a:br>
            <a:r>
              <a:rPr sz="1600" dirty="0"/>
              <a:t>2️⃣ INTEGRACIÓN</a:t>
            </a:r>
            <a:br>
              <a:rPr sz="1600" dirty="0"/>
            </a:br>
            <a:r>
              <a:rPr sz="1600" dirty="0"/>
              <a:t>   n8n: Webhooks, triggers, </a:t>
            </a:r>
            <a:r>
              <a:rPr sz="1600" dirty="0" err="1"/>
              <a:t>normalización</a:t>
            </a:r>
            <a:r>
              <a:rPr sz="1600" dirty="0"/>
              <a:t> de </a:t>
            </a:r>
            <a:r>
              <a:rPr sz="1600" dirty="0" err="1"/>
              <a:t>datos</a:t>
            </a:r>
            <a:br>
              <a:rPr sz="1600" dirty="0"/>
            </a:br>
            <a:br>
              <a:rPr sz="1600" dirty="0"/>
            </a:br>
            <a:r>
              <a:rPr sz="1600" dirty="0"/>
              <a:t>3️⃣ PROCESO</a:t>
            </a:r>
            <a:br>
              <a:rPr sz="1600" dirty="0"/>
            </a:br>
            <a:r>
              <a:rPr sz="1600" dirty="0"/>
              <a:t>   Manager (IA </a:t>
            </a:r>
            <a:r>
              <a:rPr sz="1600" dirty="0" err="1"/>
              <a:t>triajea</a:t>
            </a:r>
            <a:r>
              <a:rPr sz="1600" dirty="0"/>
              <a:t>) → Switch → Workers </a:t>
            </a:r>
            <a:r>
              <a:rPr sz="1600" dirty="0" err="1"/>
              <a:t>especializados</a:t>
            </a:r>
            <a:br>
              <a:rPr sz="1600" dirty="0"/>
            </a:br>
            <a:br>
              <a:rPr sz="1600" dirty="0"/>
            </a:br>
            <a:r>
              <a:rPr sz="1600" dirty="0"/>
              <a:t>4️⃣ GOBERNANZA</a:t>
            </a:r>
            <a:br>
              <a:rPr sz="1600" dirty="0"/>
            </a:br>
            <a:r>
              <a:rPr sz="1600" dirty="0"/>
              <a:t>   HITL (</a:t>
            </a:r>
            <a:r>
              <a:rPr sz="1600" dirty="0" err="1"/>
              <a:t>médico</a:t>
            </a:r>
            <a:r>
              <a:rPr sz="1600" dirty="0"/>
              <a:t> </a:t>
            </a:r>
            <a:r>
              <a:rPr sz="1600" dirty="0" err="1"/>
              <a:t>revisa</a:t>
            </a:r>
            <a:r>
              <a:rPr sz="1600" dirty="0"/>
              <a:t>), </a:t>
            </a:r>
            <a:r>
              <a:rPr sz="1600" dirty="0" err="1"/>
              <a:t>Auditoría</a:t>
            </a:r>
            <a:r>
              <a:rPr sz="1600" dirty="0"/>
              <a:t>, </a:t>
            </a:r>
            <a:r>
              <a:rPr sz="1600" dirty="0" err="1"/>
              <a:t>Observabilidad</a:t>
            </a:r>
            <a:r>
              <a:rPr sz="1600" dirty="0"/>
              <a:t>, </a:t>
            </a:r>
            <a:r>
              <a:rPr sz="1600" dirty="0" err="1"/>
              <a:t>Errores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1097280"/>
          </a:xfrm>
          <a:prstGeom prst="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82880"/>
            <a:ext cx="380104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Flujo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5520" y="1371600"/>
            <a:ext cx="7680960" cy="454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282828"/>
                </a:solidFill>
              </a:defRPr>
            </a:pPr>
            <a:r>
              <a:rPr sz="1600"/>
              <a:t>[Chat: Paciente describe síntomas]</a:t>
            </a:r>
            <a:br>
              <a:rPr sz="1600"/>
            </a:br>
            <a:r>
              <a:rPr sz="1600"/>
              <a:t>           ↓</a:t>
            </a:r>
            <a:br>
              <a:rPr sz="1600"/>
            </a:br>
            <a:r>
              <a:rPr sz="1600"/>
              <a:t>[Manager - Groq: Análisis inteligente]</a:t>
            </a:r>
            <a:br>
              <a:rPr sz="1600"/>
            </a:br>
            <a:r>
              <a:rPr sz="1600"/>
              <a:t>           ↓</a:t>
            </a:r>
            <a:br>
              <a:rPr sz="1600"/>
            </a:br>
            <a:r>
              <a:rPr sz="1600"/>
              <a:t>[Switch: Bifurcación por gravedad]</a:t>
            </a:r>
            <a:br>
              <a:rPr sz="1600"/>
            </a:br>
            <a:r>
              <a:rPr sz="1600"/>
              <a:t>    ↙  ↓  ↘</a:t>
            </a:r>
            <a:br>
              <a:rPr sz="1600"/>
            </a:br>
            <a:r>
              <a:rPr sz="1600"/>
              <a:t>BAJA MEDIA ALTA</a:t>
            </a:r>
            <a:br>
              <a:rPr sz="1600"/>
            </a:br>
            <a:r>
              <a:rPr sz="1600"/>
              <a:t>    ↘  ↓  ↙</a:t>
            </a:r>
            <a:br>
              <a:rPr sz="1600"/>
            </a:br>
            <a:r>
              <a:rPr sz="1600"/>
              <a:t>[Workers: Respuestas especializadas]</a:t>
            </a:r>
            <a:br>
              <a:rPr sz="1600"/>
            </a:br>
            <a:r>
              <a:rPr sz="1600"/>
              <a:t>           ↓</a:t>
            </a:r>
            <a:br>
              <a:rPr sz="1600"/>
            </a:br>
            <a:r>
              <a:rPr sz="1600"/>
              <a:t>[HITL: Médico revisa antes de enviar]</a:t>
            </a:r>
            <a:br>
              <a:rPr sz="1600"/>
            </a:br>
            <a:r>
              <a:rPr sz="1600"/>
              <a:t>           ↓</a:t>
            </a:r>
            <a:br>
              <a:rPr sz="1600"/>
            </a:br>
            <a:r>
              <a:rPr sz="1600"/>
              <a:t>[Slack: Notificación y auditoría]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03670BC-8549-866B-0069-D637FDF12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52387"/>
            <a:ext cx="12115800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3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1097280"/>
          </a:xfrm>
          <a:prstGeom prst="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201" y="182880"/>
            <a:ext cx="726032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🔒 HITL: La Barrera de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5520" y="1371601"/>
            <a:ext cx="7680960" cy="4195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282828"/>
                </a:solidFill>
              </a:defRPr>
            </a:pPr>
            <a:r>
              <a:rPr sz="1600"/>
              <a:t>⚠️ RIESGO: IA responde solo y comete error grave</a:t>
            </a:r>
            <a:br>
              <a:rPr sz="1600"/>
            </a:br>
            <a:r>
              <a:rPr sz="1600"/>
              <a:t>   → Paciente confía en diagnóstico falso</a:t>
            </a:r>
            <a:br>
              <a:rPr sz="1600"/>
            </a:br>
            <a:r>
              <a:rPr sz="1600"/>
              <a:t>   → Consecuencias médicas catastróficas</a:t>
            </a:r>
            <a:br>
              <a:rPr sz="1600"/>
            </a:br>
            <a:br>
              <a:rPr sz="1600"/>
            </a:br>
            <a:r>
              <a:rPr sz="1600"/>
              <a:t>✅ SOLUCIÓN: Create Draft en Gmail</a:t>
            </a:r>
            <a:br>
              <a:rPr sz="1600"/>
            </a:br>
            <a:r>
              <a:rPr sz="1600"/>
              <a:t>   1. Paciente escribe síntomas</a:t>
            </a:r>
            <a:br>
              <a:rPr sz="1600"/>
            </a:br>
            <a:r>
              <a:rPr sz="1600"/>
              <a:t>   2. IA analiza y redacta respuesta</a:t>
            </a:r>
            <a:br>
              <a:rPr sz="1600"/>
            </a:br>
            <a:r>
              <a:rPr sz="1600"/>
              <a:t>   3. MÉDICO REVISA el borrador</a:t>
            </a:r>
            <a:br>
              <a:rPr sz="1600"/>
            </a:br>
            <a:r>
              <a:rPr sz="1600"/>
              <a:t>   4. Médico aprueba y envía</a:t>
            </a:r>
            <a:br>
              <a:rPr sz="1600"/>
            </a:br>
            <a:r>
              <a:rPr sz="1600"/>
              <a:t>   5. Paciente recibe respuesta validada</a:t>
            </a:r>
            <a:br>
              <a:rPr sz="1600"/>
            </a:br>
            <a:br>
              <a:rPr sz="1600"/>
            </a:br>
            <a:r>
              <a:rPr sz="1600"/>
              <a:t>🎯 RESULTADO: Velocidad + Seguridad médica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304</Words>
  <Application>Microsoft Office PowerPoint</Application>
  <PresentationFormat>Panorámica</PresentationFormat>
  <Paragraphs>10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Carolina Lemes</cp:lastModifiedBy>
  <cp:revision>2</cp:revision>
  <dcterms:created xsi:type="dcterms:W3CDTF">2013-01-27T09:14:16Z</dcterms:created>
  <dcterms:modified xsi:type="dcterms:W3CDTF">2026-08-19T23:55:09Z</dcterms:modified>
  <cp:category/>
</cp:coreProperties>
</file>