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33"/>
        </a:solidFill>
      </p:bgPr>
    </p:bg>
    <p:spTree>
      <p:nvGrpSpPr>
        <p:cNvPr id="1" name=""/>
        <p:cNvGrpSpPr/>
        <p:nvPr/>
      </p:nvGrpSpPr>
      <p:grpSpPr>
        <a:xfrm>
          <a:off x="0" y="0"/>
          <a:ext cx="0" cy="0"/>
          <a:chOff x="0" y="0"/>
          <a:chExt cx="0" cy="0"/>
        </a:xfrm>
      </p:grpSpPr>
      <p:sp>
        <p:nvSpPr>
          <p:cNvPr id="2" name="Shape 0"/>
          <p:cNvSpPr/>
          <p:nvPr/>
        </p:nvSpPr>
        <p:spPr>
          <a:xfrm>
            <a:off x="9692640" y="-1097280"/>
            <a:ext cx="4114800" cy="4114800"/>
          </a:xfrm>
          <a:prstGeom prst="ellipse">
            <a:avLst/>
          </a:prstGeom>
          <a:solidFill>
            <a:srgbClr val="028090">
              <a:alpha val="40000"/>
            </a:srgbClr>
          </a:solidFill>
          <a:ln/>
        </p:spPr>
      </p:sp>
      <p:sp>
        <p:nvSpPr>
          <p:cNvPr id="3" name="Shape 1"/>
          <p:cNvSpPr/>
          <p:nvPr/>
        </p:nvSpPr>
        <p:spPr>
          <a:xfrm>
            <a:off x="10789920" y="3931920"/>
            <a:ext cx="2743200" cy="2743200"/>
          </a:xfrm>
          <a:prstGeom prst="ellipse">
            <a:avLst/>
          </a:prstGeom>
          <a:solidFill>
            <a:srgbClr val="02C39A">
              <a:alpha val="35000"/>
            </a:srgbClr>
          </a:solidFill>
          <a:ln/>
        </p:spPr>
      </p:sp>
      <p:sp>
        <p:nvSpPr>
          <p:cNvPr id="4" name="Text 2"/>
          <p:cNvSpPr/>
          <p:nvPr/>
        </p:nvSpPr>
        <p:spPr>
          <a:xfrm>
            <a:off x="640080" y="548640"/>
            <a:ext cx="5486400" cy="365760"/>
          </a:xfrm>
          <a:prstGeom prst="rect">
            <a:avLst/>
          </a:prstGeom>
          <a:noFill/>
          <a:ln/>
        </p:spPr>
        <p:txBody>
          <a:bodyPr wrap="square"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LLAMACLOUD</a:t>
            </a:r>
            <a:endParaRPr lang="en-US" sz="1300" dirty="0"/>
          </a:p>
        </p:txBody>
      </p:sp>
      <p:sp>
        <p:nvSpPr>
          <p:cNvPr id="5" name="Text 3"/>
          <p:cNvSpPr/>
          <p:nvPr/>
        </p:nvSpPr>
        <p:spPr>
          <a:xfrm>
            <a:off x="640080" y="914400"/>
            <a:ext cx="9601200" cy="822960"/>
          </a:xfrm>
          <a:prstGeom prst="rect">
            <a:avLst/>
          </a:prstGeom>
          <a:noFill/>
          <a:ln/>
        </p:spPr>
        <p:txBody>
          <a:bodyPr wrap="square" rtlCol="0" anchor="ctr"/>
          <a:lstStyle/>
          <a:p>
            <a:pPr indent="0" marL="0">
              <a:buNone/>
            </a:pPr>
            <a:r>
              <a:rPr lang="en-US" sz="3600" b="1" dirty="0">
                <a:solidFill>
                  <a:srgbClr val="FFFFFF"/>
                </a:solidFill>
                <a:latin typeface="Century Schoolbook" pitchFamily="34" charset="0"/>
                <a:ea typeface="Century Schoolbook" pitchFamily="34" charset="-122"/>
                <a:cs typeface="Century Schoolbook" pitchFamily="34" charset="-120"/>
              </a:rPr>
              <a:t>¿Qué es LlamaParse?</a:t>
            </a:r>
            <a:endParaRPr lang="en-US" sz="3600" dirty="0"/>
          </a:p>
        </p:txBody>
      </p:sp>
      <p:sp>
        <p:nvSpPr>
          <p:cNvPr id="6" name="Text 4"/>
          <p:cNvSpPr/>
          <p:nvPr/>
        </p:nvSpPr>
        <p:spPr>
          <a:xfrm>
            <a:off x="640080" y="1874520"/>
            <a:ext cx="7863840" cy="1371600"/>
          </a:xfrm>
          <a:prstGeom prst="rect">
            <a:avLst/>
          </a:prstGeom>
          <a:noFill/>
          <a:ln/>
        </p:spPr>
        <p:txBody>
          <a:bodyPr wrap="square" rtlCol="0" anchor="ctr"/>
          <a:lstStyle/>
          <a:p>
            <a:pPr indent="0" marL="0">
              <a:lnSpc>
                <a:spcPct val="135000"/>
              </a:lnSpc>
              <a:buNone/>
            </a:pPr>
            <a:r>
              <a:rPr lang="en-US" sz="1500" dirty="0">
                <a:solidFill>
                  <a:srgbClr val="CFEDE9"/>
                </a:solidFill>
                <a:latin typeface="Calibri" pitchFamily="34" charset="0"/>
                <a:ea typeface="Calibri" pitchFamily="34" charset="-122"/>
                <a:cs typeface="Calibri" pitchFamily="34" charset="-120"/>
              </a:rPr>
              <a:t>Es el motor de parseo (OCR agéntico) de LlamaCloud: convierte documentos complejos —PDFs, escaneos, Word, PowerPoint, planillas— en texto limpio y estructurado, listo para que un modelo de IA lo entienda y lo use, por ejemplo dentro de un sistema RAG.</a:t>
            </a:r>
            <a:endParaRPr lang="en-US" sz="1500" dirty="0"/>
          </a:p>
        </p:txBody>
      </p:sp>
      <p:sp>
        <p:nvSpPr>
          <p:cNvPr id="7" name="Shape 5"/>
          <p:cNvSpPr/>
          <p:nvPr/>
        </p:nvSpPr>
        <p:spPr>
          <a:xfrm>
            <a:off x="640080" y="3657600"/>
            <a:ext cx="3246120" cy="1737360"/>
          </a:xfrm>
          <a:prstGeom prst="roundRect">
            <a:avLst>
              <a:gd name="adj" fmla="val 4737"/>
            </a:avLst>
          </a:prstGeom>
          <a:solidFill>
            <a:srgbClr val="0F3E43"/>
          </a:solidFill>
          <a:ln/>
        </p:spPr>
      </p:sp>
      <p:sp>
        <p:nvSpPr>
          <p:cNvPr id="8" name="Shape 6"/>
          <p:cNvSpPr/>
          <p:nvPr/>
        </p:nvSpPr>
        <p:spPr>
          <a:xfrm>
            <a:off x="868680" y="3886200"/>
            <a:ext cx="502920" cy="502920"/>
          </a:xfrm>
          <a:prstGeom prst="ellipse">
            <a:avLst/>
          </a:prstGeom>
          <a:solidFill>
            <a:srgbClr val="02C39A"/>
          </a:solidFill>
          <a:ln/>
        </p:spPr>
      </p:sp>
      <p:sp>
        <p:nvSpPr>
          <p:cNvPr id="9" name="Text 7"/>
          <p:cNvSpPr/>
          <p:nvPr/>
        </p:nvSpPr>
        <p:spPr>
          <a:xfrm>
            <a:off x="868680" y="3886200"/>
            <a:ext cx="502920" cy="502920"/>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0" name="Text 8"/>
          <p:cNvSpPr/>
          <p:nvPr/>
        </p:nvSpPr>
        <p:spPr>
          <a:xfrm>
            <a:off x="868680" y="4526280"/>
            <a:ext cx="278892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Interpreta la estructura</a:t>
            </a:r>
            <a:endParaRPr lang="en-US" sz="1300" dirty="0"/>
          </a:p>
        </p:txBody>
      </p:sp>
      <p:sp>
        <p:nvSpPr>
          <p:cNvPr id="11" name="Text 9"/>
          <p:cNvSpPr/>
          <p:nvPr/>
        </p:nvSpPr>
        <p:spPr>
          <a:xfrm>
            <a:off x="868680" y="4846320"/>
            <a:ext cx="2788920" cy="502920"/>
          </a:xfrm>
          <a:prstGeom prst="rect">
            <a:avLst/>
          </a:prstGeom>
          <a:noFill/>
          <a:ln/>
        </p:spPr>
        <p:txBody>
          <a:bodyPr wrap="square" rtlCol="0" anchor="ctr"/>
          <a:lstStyle/>
          <a:p>
            <a:pPr indent="0" marL="0">
              <a:lnSpc>
                <a:spcPct val="115000"/>
              </a:lnSpc>
              <a:buNone/>
            </a:pPr>
            <a:r>
              <a:rPr lang="en-US" sz="1050" dirty="0">
                <a:solidFill>
                  <a:srgbClr val="9FD8D3"/>
                </a:solidFill>
                <a:latin typeface="Calibri" pitchFamily="34" charset="0"/>
                <a:ea typeface="Calibri" pitchFamily="34" charset="-122"/>
                <a:cs typeface="Calibri" pitchFamily="34" charset="-120"/>
              </a:rPr>
              <a:t>Reconoce títulos, jerarquía y tablas, no solo texto plano.</a:t>
            </a:r>
            <a:endParaRPr lang="en-US" sz="1050" dirty="0"/>
          </a:p>
        </p:txBody>
      </p:sp>
      <p:sp>
        <p:nvSpPr>
          <p:cNvPr id="12" name="Shape 10"/>
          <p:cNvSpPr/>
          <p:nvPr/>
        </p:nvSpPr>
        <p:spPr>
          <a:xfrm>
            <a:off x="4206240" y="3657600"/>
            <a:ext cx="3246120" cy="1737360"/>
          </a:xfrm>
          <a:prstGeom prst="roundRect">
            <a:avLst>
              <a:gd name="adj" fmla="val 4737"/>
            </a:avLst>
          </a:prstGeom>
          <a:solidFill>
            <a:srgbClr val="0F3E43"/>
          </a:solidFill>
          <a:ln/>
        </p:spPr>
      </p:sp>
      <p:sp>
        <p:nvSpPr>
          <p:cNvPr id="13" name="Shape 11"/>
          <p:cNvSpPr/>
          <p:nvPr/>
        </p:nvSpPr>
        <p:spPr>
          <a:xfrm>
            <a:off x="4434840" y="3886200"/>
            <a:ext cx="502920" cy="502920"/>
          </a:xfrm>
          <a:prstGeom prst="ellipse">
            <a:avLst/>
          </a:prstGeom>
          <a:solidFill>
            <a:srgbClr val="02C39A"/>
          </a:solidFill>
          <a:ln/>
        </p:spPr>
      </p:sp>
      <p:sp>
        <p:nvSpPr>
          <p:cNvPr id="14" name="Text 12"/>
          <p:cNvSpPr/>
          <p:nvPr/>
        </p:nvSpPr>
        <p:spPr>
          <a:xfrm>
            <a:off x="4434840" y="3886200"/>
            <a:ext cx="502920" cy="502920"/>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5" name="Text 13"/>
          <p:cNvSpPr/>
          <p:nvPr/>
        </p:nvSpPr>
        <p:spPr>
          <a:xfrm>
            <a:off x="4434840" y="4526280"/>
            <a:ext cx="278892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Entiende lo visual</a:t>
            </a:r>
            <a:endParaRPr lang="en-US" sz="1300" dirty="0"/>
          </a:p>
        </p:txBody>
      </p:sp>
      <p:sp>
        <p:nvSpPr>
          <p:cNvPr id="16" name="Text 14"/>
          <p:cNvSpPr/>
          <p:nvPr/>
        </p:nvSpPr>
        <p:spPr>
          <a:xfrm>
            <a:off x="4434840" y="4846320"/>
            <a:ext cx="2788920" cy="502920"/>
          </a:xfrm>
          <a:prstGeom prst="rect">
            <a:avLst/>
          </a:prstGeom>
          <a:noFill/>
          <a:ln/>
        </p:spPr>
        <p:txBody>
          <a:bodyPr wrap="square" rtlCol="0" anchor="ctr"/>
          <a:lstStyle/>
          <a:p>
            <a:pPr indent="0" marL="0">
              <a:lnSpc>
                <a:spcPct val="115000"/>
              </a:lnSpc>
              <a:buNone/>
            </a:pPr>
            <a:r>
              <a:rPr lang="en-US" sz="1050" dirty="0">
                <a:solidFill>
                  <a:srgbClr val="9FD8D3"/>
                </a:solidFill>
                <a:latin typeface="Calibri" pitchFamily="34" charset="0"/>
                <a:ea typeface="Calibri" pitchFamily="34" charset="-122"/>
                <a:cs typeface="Calibri" pitchFamily="34" charset="-120"/>
              </a:rPr>
              <a:t>Procesa diagramas, imágenes y layouts complejos.</a:t>
            </a:r>
            <a:endParaRPr lang="en-US" sz="1050" dirty="0"/>
          </a:p>
        </p:txBody>
      </p:sp>
      <p:sp>
        <p:nvSpPr>
          <p:cNvPr id="17" name="Shape 15"/>
          <p:cNvSpPr/>
          <p:nvPr/>
        </p:nvSpPr>
        <p:spPr>
          <a:xfrm>
            <a:off x="7772400" y="3657600"/>
            <a:ext cx="3246120" cy="1737360"/>
          </a:xfrm>
          <a:prstGeom prst="roundRect">
            <a:avLst>
              <a:gd name="adj" fmla="val 4737"/>
            </a:avLst>
          </a:prstGeom>
          <a:solidFill>
            <a:srgbClr val="0F3E43"/>
          </a:solidFill>
          <a:ln/>
        </p:spPr>
      </p:sp>
      <p:sp>
        <p:nvSpPr>
          <p:cNvPr id="18" name="Shape 16"/>
          <p:cNvSpPr/>
          <p:nvPr/>
        </p:nvSpPr>
        <p:spPr>
          <a:xfrm>
            <a:off x="8001000" y="3886200"/>
            <a:ext cx="502920" cy="502920"/>
          </a:xfrm>
          <a:prstGeom prst="ellipse">
            <a:avLst/>
          </a:prstGeom>
          <a:solidFill>
            <a:srgbClr val="02C39A"/>
          </a:solidFill>
          <a:ln/>
        </p:spPr>
      </p:sp>
      <p:sp>
        <p:nvSpPr>
          <p:cNvPr id="19" name="Text 17"/>
          <p:cNvSpPr/>
          <p:nvPr/>
        </p:nvSpPr>
        <p:spPr>
          <a:xfrm>
            <a:off x="8001000" y="3886200"/>
            <a:ext cx="502920" cy="502920"/>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0" name="Text 18"/>
          <p:cNvSpPr/>
          <p:nvPr/>
        </p:nvSpPr>
        <p:spPr>
          <a:xfrm>
            <a:off x="8001000" y="4526280"/>
            <a:ext cx="278892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Se conecta a tu flujo</a:t>
            </a:r>
            <a:endParaRPr lang="en-US" sz="1300" dirty="0"/>
          </a:p>
        </p:txBody>
      </p:sp>
      <p:sp>
        <p:nvSpPr>
          <p:cNvPr id="21" name="Text 19"/>
          <p:cNvSpPr/>
          <p:nvPr/>
        </p:nvSpPr>
        <p:spPr>
          <a:xfrm>
            <a:off x="8001000" y="4846320"/>
            <a:ext cx="2788920" cy="502920"/>
          </a:xfrm>
          <a:prstGeom prst="rect">
            <a:avLst/>
          </a:prstGeom>
          <a:noFill/>
          <a:ln/>
        </p:spPr>
        <p:txBody>
          <a:bodyPr wrap="square" rtlCol="0" anchor="ctr"/>
          <a:lstStyle/>
          <a:p>
            <a:pPr indent="0" marL="0">
              <a:lnSpc>
                <a:spcPct val="115000"/>
              </a:lnSpc>
              <a:buNone/>
            </a:pPr>
            <a:r>
              <a:rPr lang="en-US" sz="1050" dirty="0">
                <a:solidFill>
                  <a:srgbClr val="9FD8D3"/>
                </a:solidFill>
                <a:latin typeface="Calibri" pitchFamily="34" charset="0"/>
                <a:ea typeface="Calibri" pitchFamily="34" charset="-122"/>
                <a:cs typeface="Calibri" pitchFamily="34" charset="-120"/>
              </a:rPr>
              <a:t>Vía UI, API o integraciones como n8n, para alimentar agentes.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772400" cy="548640"/>
          </a:xfrm>
          <a:prstGeom prst="rect">
            <a:avLst/>
          </a:prstGeom>
          <a:noFill/>
          <a:ln/>
        </p:spPr>
        <p:txBody>
          <a:bodyPr wrap="square" rtlCol="0" anchor="ctr"/>
          <a:lstStyle/>
          <a:p>
            <a:pPr indent="0" marL="0">
              <a:buNone/>
            </a:pPr>
            <a:r>
              <a:rPr lang="en-US" sz="2800" b="1" dirty="0">
                <a:solidFill>
                  <a:srgbClr val="16302F"/>
                </a:solidFill>
                <a:latin typeface="Century Schoolbook" pitchFamily="34" charset="0"/>
                <a:ea typeface="Century Schoolbook" pitchFamily="34" charset="-122"/>
                <a:cs typeface="Century Schoolbook" pitchFamily="34" charset="-120"/>
              </a:rPr>
              <a:t>LlamaParse — Parse Tier</a:t>
            </a:r>
            <a:endParaRPr lang="en-US" sz="2800" dirty="0"/>
          </a:p>
        </p:txBody>
      </p:sp>
      <p:sp>
        <p:nvSpPr>
          <p:cNvPr id="3" name="Text 1"/>
          <p:cNvSpPr/>
          <p:nvPr/>
        </p:nvSpPr>
        <p:spPr>
          <a:xfrm>
            <a:off x="548640" y="868680"/>
            <a:ext cx="9601200" cy="365760"/>
          </a:xfrm>
          <a:prstGeom prst="rect">
            <a:avLst/>
          </a:prstGeom>
          <a:noFill/>
          <a:ln/>
        </p:spPr>
        <p:txBody>
          <a:bodyPr wrap="square" rtlCol="0" anchor="ctr"/>
          <a:lstStyle/>
          <a:p>
            <a:pPr indent="0" marL="0">
              <a:buNone/>
            </a:pPr>
            <a:r>
              <a:rPr lang="en-US" sz="1300" dirty="0">
                <a:solidFill>
                  <a:srgbClr val="5B6E6C"/>
                </a:solidFill>
                <a:latin typeface="Calibri" pitchFamily="34" charset="0"/>
                <a:ea typeface="Calibri" pitchFamily="34" charset="-122"/>
                <a:cs typeface="Calibri" pitchFamily="34" charset="-120"/>
              </a:rPr>
              <a:t>Qué hace cada opción al configurar cómo se procesa tu documento</a:t>
            </a:r>
            <a:endParaRPr lang="en-US" sz="1300" dirty="0"/>
          </a:p>
        </p:txBody>
      </p:sp>
      <p:sp>
        <p:nvSpPr>
          <p:cNvPr id="4" name="Shape 2"/>
          <p:cNvSpPr/>
          <p:nvPr/>
        </p:nvSpPr>
        <p:spPr>
          <a:xfrm>
            <a:off x="548640" y="1417320"/>
            <a:ext cx="2606040" cy="3017520"/>
          </a:xfrm>
          <a:prstGeom prst="roundRect">
            <a:avLst>
              <a:gd name="adj" fmla="val 3509"/>
            </a:avLst>
          </a:prstGeom>
          <a:solidFill>
            <a:srgbClr val="F4FAF9"/>
          </a:solidFill>
          <a:ln w="12700">
            <a:solidFill>
              <a:srgbClr val="DCEEEA"/>
            </a:solidFill>
            <a:prstDash val="solid"/>
          </a:ln>
          <a:effectLst>
            <a:outerShdw sx="100000" sy="100000" kx="0" ky="0" algn="bl" rotWithShape="0" blurRad="76200" dist="25400" dir="5400000">
              <a:srgbClr val="1F4744">
                <a:alpha val="10000"/>
              </a:srgbClr>
            </a:outerShdw>
          </a:effectLst>
        </p:spPr>
      </p:sp>
      <p:sp>
        <p:nvSpPr>
          <p:cNvPr id="5" name="Shape 3"/>
          <p:cNvSpPr/>
          <p:nvPr/>
        </p:nvSpPr>
        <p:spPr>
          <a:xfrm>
            <a:off x="731520" y="1645920"/>
            <a:ext cx="548640" cy="548640"/>
          </a:xfrm>
          <a:prstGeom prst="ellipse">
            <a:avLst/>
          </a:prstGeom>
          <a:solidFill>
            <a:srgbClr val="8FD3C7"/>
          </a:solidFill>
          <a:ln/>
        </p:spPr>
      </p:sp>
      <p:sp>
        <p:nvSpPr>
          <p:cNvPr id="6" name="Text 4"/>
          <p:cNvSpPr/>
          <p:nvPr/>
        </p:nvSpPr>
        <p:spPr>
          <a:xfrm>
            <a:off x="731520" y="1645920"/>
            <a:ext cx="548640" cy="548640"/>
          </a:xfrm>
          <a:prstGeom prst="rect">
            <a:avLst/>
          </a:prstGeom>
          <a:noFill/>
          <a:ln/>
        </p:spPr>
        <p:txBody>
          <a:bodyPr wrap="square"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7" name="Shape 5"/>
          <p:cNvSpPr/>
          <p:nvPr/>
        </p:nvSpPr>
        <p:spPr>
          <a:xfrm>
            <a:off x="2286000" y="1691640"/>
            <a:ext cx="685800" cy="365760"/>
          </a:xfrm>
          <a:prstGeom prst="roundRect">
            <a:avLst>
              <a:gd name="adj" fmla="val 50000"/>
            </a:avLst>
          </a:prstGeom>
          <a:solidFill>
            <a:srgbClr val="FFFFFF"/>
          </a:solidFill>
          <a:ln w="12700">
            <a:solidFill>
              <a:srgbClr val="CDEAE6"/>
            </a:solidFill>
            <a:prstDash val="solid"/>
          </a:ln>
        </p:spPr>
      </p:sp>
      <p:sp>
        <p:nvSpPr>
          <p:cNvPr id="8" name="Text 6"/>
          <p:cNvSpPr/>
          <p:nvPr/>
        </p:nvSpPr>
        <p:spPr>
          <a:xfrm>
            <a:off x="2286000" y="1691640"/>
            <a:ext cx="685800" cy="365760"/>
          </a:xfrm>
          <a:prstGeom prst="rect">
            <a:avLst/>
          </a:prstGeom>
          <a:noFill/>
          <a:ln/>
        </p:spPr>
        <p:txBody>
          <a:bodyPr wrap="square" rtlCol="0" anchor="ctr"/>
          <a:lstStyle/>
          <a:p>
            <a:pPr algn="ctr" indent="0" marL="0">
              <a:buNone/>
            </a:pPr>
            <a:r>
              <a:rPr lang="en-US" sz="1100" b="1" dirty="0">
                <a:solidFill>
                  <a:srgbClr val="028090"/>
                </a:solidFill>
                <a:latin typeface="Calibri" pitchFamily="34" charset="0"/>
                <a:ea typeface="Calibri" pitchFamily="34" charset="-122"/>
                <a:cs typeface="Calibri" pitchFamily="34" charset="-120"/>
              </a:rPr>
              <a:t>1 cr</a:t>
            </a:r>
            <a:endParaRPr lang="en-US" sz="1100" dirty="0"/>
          </a:p>
        </p:txBody>
      </p:sp>
      <p:sp>
        <p:nvSpPr>
          <p:cNvPr id="9" name="Text 7"/>
          <p:cNvSpPr/>
          <p:nvPr/>
        </p:nvSpPr>
        <p:spPr>
          <a:xfrm>
            <a:off x="731520" y="2331720"/>
            <a:ext cx="2240280" cy="411480"/>
          </a:xfrm>
          <a:prstGeom prst="rect">
            <a:avLst/>
          </a:prstGeom>
          <a:noFill/>
          <a:ln/>
        </p:spPr>
        <p:txBody>
          <a:bodyPr wrap="square" rtlCol="0" anchor="ctr"/>
          <a:lstStyle/>
          <a:p>
            <a:pPr indent="0" marL="0">
              <a:buNone/>
            </a:pPr>
            <a:r>
              <a:rPr lang="en-US" sz="1600" b="1" dirty="0">
                <a:solidFill>
                  <a:srgbClr val="16302F"/>
                </a:solidFill>
                <a:latin typeface="Calibri" pitchFamily="34" charset="0"/>
                <a:ea typeface="Calibri" pitchFamily="34" charset="-122"/>
                <a:cs typeface="Calibri" pitchFamily="34" charset="-120"/>
              </a:rPr>
              <a:t>Fast</a:t>
            </a:r>
            <a:endParaRPr lang="en-US" sz="1600" dirty="0"/>
          </a:p>
        </p:txBody>
      </p:sp>
      <p:sp>
        <p:nvSpPr>
          <p:cNvPr id="10" name="Text 8"/>
          <p:cNvSpPr/>
          <p:nvPr/>
        </p:nvSpPr>
        <p:spPr>
          <a:xfrm>
            <a:off x="731520" y="2788920"/>
            <a:ext cx="2240280" cy="1554480"/>
          </a:xfrm>
          <a:prstGeom prst="rect">
            <a:avLst/>
          </a:prstGeom>
          <a:noFill/>
          <a:ln/>
        </p:spPr>
        <p:txBody>
          <a:bodyPr wrap="square" rtlCol="0" anchor="ctr"/>
          <a:lstStyle/>
          <a:p>
            <a:pPr indent="0" marL="0">
              <a:lnSpc>
                <a:spcPct val="120000"/>
              </a:lnSpc>
              <a:buNone/>
            </a:pPr>
            <a:r>
              <a:rPr lang="en-US" sz="1150" dirty="0">
                <a:solidFill>
                  <a:srgbClr val="16302F"/>
                </a:solidFill>
                <a:latin typeface="Calibri" pitchFamily="34" charset="0"/>
                <a:ea typeface="Calibri" pitchFamily="34" charset="-122"/>
                <a:cs typeface="Calibri" pitchFamily="34" charset="-120"/>
              </a:rPr>
              <a:t>La opción más rápida. Pensada para documentos simples, solo texto, sin tablas ni imágenes complejas.</a:t>
            </a:r>
            <a:endParaRPr lang="en-US" sz="1150" dirty="0"/>
          </a:p>
        </p:txBody>
      </p:sp>
      <p:sp>
        <p:nvSpPr>
          <p:cNvPr id="11" name="Shape 9"/>
          <p:cNvSpPr/>
          <p:nvPr/>
        </p:nvSpPr>
        <p:spPr>
          <a:xfrm>
            <a:off x="3355848" y="1417320"/>
            <a:ext cx="2606040" cy="3017520"/>
          </a:xfrm>
          <a:prstGeom prst="roundRect">
            <a:avLst>
              <a:gd name="adj" fmla="val 3509"/>
            </a:avLst>
          </a:prstGeom>
          <a:solidFill>
            <a:srgbClr val="F4FAF9"/>
          </a:solidFill>
          <a:ln w="12700">
            <a:solidFill>
              <a:srgbClr val="DCEEEA"/>
            </a:solidFill>
            <a:prstDash val="solid"/>
          </a:ln>
          <a:effectLst>
            <a:outerShdw sx="100000" sy="100000" kx="0" ky="0" algn="bl" rotWithShape="0" blurRad="76200" dist="25400" dir="5400000">
              <a:srgbClr val="1F4744">
                <a:alpha val="10000"/>
              </a:srgbClr>
            </a:outerShdw>
          </a:effectLst>
        </p:spPr>
      </p:sp>
      <p:sp>
        <p:nvSpPr>
          <p:cNvPr id="12" name="Shape 10"/>
          <p:cNvSpPr/>
          <p:nvPr/>
        </p:nvSpPr>
        <p:spPr>
          <a:xfrm>
            <a:off x="3538728" y="1645920"/>
            <a:ext cx="548640" cy="548640"/>
          </a:xfrm>
          <a:prstGeom prst="ellipse">
            <a:avLst/>
          </a:prstGeom>
          <a:solidFill>
            <a:srgbClr val="00A896"/>
          </a:solidFill>
          <a:ln/>
        </p:spPr>
      </p:sp>
      <p:sp>
        <p:nvSpPr>
          <p:cNvPr id="13" name="Text 11"/>
          <p:cNvSpPr/>
          <p:nvPr/>
        </p:nvSpPr>
        <p:spPr>
          <a:xfrm>
            <a:off x="3538728" y="1645920"/>
            <a:ext cx="548640" cy="548640"/>
          </a:xfrm>
          <a:prstGeom prst="rect">
            <a:avLst/>
          </a:prstGeom>
          <a:noFill/>
          <a:ln/>
        </p:spPr>
        <p:txBody>
          <a:bodyPr wrap="square"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4" name="Shape 12"/>
          <p:cNvSpPr/>
          <p:nvPr/>
        </p:nvSpPr>
        <p:spPr>
          <a:xfrm>
            <a:off x="5093208" y="1691640"/>
            <a:ext cx="685800" cy="365760"/>
          </a:xfrm>
          <a:prstGeom prst="roundRect">
            <a:avLst>
              <a:gd name="adj" fmla="val 50000"/>
            </a:avLst>
          </a:prstGeom>
          <a:solidFill>
            <a:srgbClr val="FFFFFF"/>
          </a:solidFill>
          <a:ln w="12700">
            <a:solidFill>
              <a:srgbClr val="CDEAE6"/>
            </a:solidFill>
            <a:prstDash val="solid"/>
          </a:ln>
        </p:spPr>
      </p:sp>
      <p:sp>
        <p:nvSpPr>
          <p:cNvPr id="15" name="Text 13"/>
          <p:cNvSpPr/>
          <p:nvPr/>
        </p:nvSpPr>
        <p:spPr>
          <a:xfrm>
            <a:off x="5093208" y="1691640"/>
            <a:ext cx="685800" cy="365760"/>
          </a:xfrm>
          <a:prstGeom prst="rect">
            <a:avLst/>
          </a:prstGeom>
          <a:noFill/>
          <a:ln/>
        </p:spPr>
        <p:txBody>
          <a:bodyPr wrap="square" rtlCol="0" anchor="ctr"/>
          <a:lstStyle/>
          <a:p>
            <a:pPr algn="ctr" indent="0" marL="0">
              <a:buNone/>
            </a:pPr>
            <a:r>
              <a:rPr lang="en-US" sz="1100" b="1" dirty="0">
                <a:solidFill>
                  <a:srgbClr val="028090"/>
                </a:solidFill>
                <a:latin typeface="Calibri" pitchFamily="34" charset="0"/>
                <a:ea typeface="Calibri" pitchFamily="34" charset="-122"/>
                <a:cs typeface="Calibri" pitchFamily="34" charset="-120"/>
              </a:rPr>
              <a:t>3 cr</a:t>
            </a:r>
            <a:endParaRPr lang="en-US" sz="1100" dirty="0"/>
          </a:p>
        </p:txBody>
      </p:sp>
      <p:sp>
        <p:nvSpPr>
          <p:cNvPr id="16" name="Text 14"/>
          <p:cNvSpPr/>
          <p:nvPr/>
        </p:nvSpPr>
        <p:spPr>
          <a:xfrm>
            <a:off x="3538728" y="2331720"/>
            <a:ext cx="2240280" cy="411480"/>
          </a:xfrm>
          <a:prstGeom prst="rect">
            <a:avLst/>
          </a:prstGeom>
          <a:noFill/>
          <a:ln/>
        </p:spPr>
        <p:txBody>
          <a:bodyPr wrap="square" rtlCol="0" anchor="ctr"/>
          <a:lstStyle/>
          <a:p>
            <a:pPr indent="0" marL="0">
              <a:buNone/>
            </a:pPr>
            <a:r>
              <a:rPr lang="en-US" sz="1600" b="1" dirty="0">
                <a:solidFill>
                  <a:srgbClr val="16302F"/>
                </a:solidFill>
                <a:latin typeface="Calibri" pitchFamily="34" charset="0"/>
                <a:ea typeface="Calibri" pitchFamily="34" charset="-122"/>
                <a:cs typeface="Calibri" pitchFamily="34" charset="-120"/>
              </a:rPr>
              <a:t>Cost Effective</a:t>
            </a:r>
            <a:endParaRPr lang="en-US" sz="1600" dirty="0"/>
          </a:p>
        </p:txBody>
      </p:sp>
      <p:sp>
        <p:nvSpPr>
          <p:cNvPr id="17" name="Text 15"/>
          <p:cNvSpPr/>
          <p:nvPr/>
        </p:nvSpPr>
        <p:spPr>
          <a:xfrm>
            <a:off x="3538728" y="2788920"/>
            <a:ext cx="2240280" cy="1554480"/>
          </a:xfrm>
          <a:prstGeom prst="rect">
            <a:avLst/>
          </a:prstGeom>
          <a:noFill/>
          <a:ln/>
        </p:spPr>
        <p:txBody>
          <a:bodyPr wrap="square" rtlCol="0" anchor="ctr"/>
          <a:lstStyle/>
          <a:p>
            <a:pPr indent="0" marL="0">
              <a:lnSpc>
                <a:spcPct val="120000"/>
              </a:lnSpc>
              <a:buNone/>
            </a:pPr>
            <a:r>
              <a:rPr lang="en-US" sz="1150" dirty="0">
                <a:solidFill>
                  <a:srgbClr val="16302F"/>
                </a:solidFill>
                <a:latin typeface="Calibri" pitchFamily="34" charset="0"/>
                <a:ea typeface="Calibri" pitchFamily="34" charset="-122"/>
                <a:cs typeface="Calibri" pitchFamily="34" charset="-120"/>
              </a:rPr>
              <a:t>Para documentos con mucho texto, pero sin diagramas ni imágenes. Buen balance entre precio y calidad.</a:t>
            </a:r>
            <a:endParaRPr lang="en-US" sz="1150" dirty="0"/>
          </a:p>
        </p:txBody>
      </p:sp>
      <p:sp>
        <p:nvSpPr>
          <p:cNvPr id="18" name="Shape 16"/>
          <p:cNvSpPr/>
          <p:nvPr/>
        </p:nvSpPr>
        <p:spPr>
          <a:xfrm>
            <a:off x="6163056" y="1417320"/>
            <a:ext cx="2606040" cy="3017520"/>
          </a:xfrm>
          <a:prstGeom prst="roundRect">
            <a:avLst>
              <a:gd name="adj" fmla="val 3509"/>
            </a:avLst>
          </a:prstGeom>
          <a:solidFill>
            <a:srgbClr val="E9F7F5"/>
          </a:solidFill>
          <a:ln w="25400">
            <a:solidFill>
              <a:srgbClr val="028090"/>
            </a:solidFill>
            <a:prstDash val="solid"/>
          </a:ln>
          <a:effectLst>
            <a:outerShdw sx="100000" sy="100000" kx="0" ky="0" algn="bl" rotWithShape="0" blurRad="76200" dist="25400" dir="5400000">
              <a:srgbClr val="1F4744">
                <a:alpha val="10000"/>
              </a:srgbClr>
            </a:outerShdw>
          </a:effectLst>
        </p:spPr>
      </p:sp>
      <p:sp>
        <p:nvSpPr>
          <p:cNvPr id="19" name="Shape 17"/>
          <p:cNvSpPr/>
          <p:nvPr/>
        </p:nvSpPr>
        <p:spPr>
          <a:xfrm>
            <a:off x="6300216" y="1216152"/>
            <a:ext cx="1371600" cy="329184"/>
          </a:xfrm>
          <a:prstGeom prst="roundRect">
            <a:avLst>
              <a:gd name="adj" fmla="val 50000"/>
            </a:avLst>
          </a:prstGeom>
          <a:solidFill>
            <a:srgbClr val="028090"/>
          </a:solidFill>
          <a:ln/>
        </p:spPr>
      </p:sp>
      <p:sp>
        <p:nvSpPr>
          <p:cNvPr id="20" name="Text 18"/>
          <p:cNvSpPr/>
          <p:nvPr/>
        </p:nvSpPr>
        <p:spPr>
          <a:xfrm>
            <a:off x="6300216" y="1216152"/>
            <a:ext cx="1371600" cy="329184"/>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SELECCIONADO</a:t>
            </a:r>
            <a:endParaRPr lang="en-US" sz="850" dirty="0"/>
          </a:p>
        </p:txBody>
      </p:sp>
      <p:sp>
        <p:nvSpPr>
          <p:cNvPr id="21" name="Shape 19"/>
          <p:cNvSpPr/>
          <p:nvPr/>
        </p:nvSpPr>
        <p:spPr>
          <a:xfrm>
            <a:off x="6345936" y="1645920"/>
            <a:ext cx="548640" cy="548640"/>
          </a:xfrm>
          <a:prstGeom prst="ellipse">
            <a:avLst/>
          </a:prstGeom>
          <a:solidFill>
            <a:srgbClr val="028090"/>
          </a:solidFill>
          <a:ln/>
        </p:spPr>
      </p:sp>
      <p:sp>
        <p:nvSpPr>
          <p:cNvPr id="22" name="Text 20"/>
          <p:cNvSpPr/>
          <p:nvPr/>
        </p:nvSpPr>
        <p:spPr>
          <a:xfrm>
            <a:off x="6345936" y="1645920"/>
            <a:ext cx="548640" cy="548640"/>
          </a:xfrm>
          <a:prstGeom prst="rect">
            <a:avLst/>
          </a:prstGeom>
          <a:noFill/>
          <a:ln/>
        </p:spPr>
        <p:txBody>
          <a:bodyPr wrap="square"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3" name="Shape 21"/>
          <p:cNvSpPr/>
          <p:nvPr/>
        </p:nvSpPr>
        <p:spPr>
          <a:xfrm>
            <a:off x="7900416" y="1691640"/>
            <a:ext cx="685800" cy="365760"/>
          </a:xfrm>
          <a:prstGeom prst="roundRect">
            <a:avLst>
              <a:gd name="adj" fmla="val 50000"/>
            </a:avLst>
          </a:prstGeom>
          <a:solidFill>
            <a:srgbClr val="FFFFFF"/>
          </a:solidFill>
          <a:ln w="12700">
            <a:solidFill>
              <a:srgbClr val="CDEAE6"/>
            </a:solidFill>
            <a:prstDash val="solid"/>
          </a:ln>
        </p:spPr>
      </p:sp>
      <p:sp>
        <p:nvSpPr>
          <p:cNvPr id="24" name="Text 22"/>
          <p:cNvSpPr/>
          <p:nvPr/>
        </p:nvSpPr>
        <p:spPr>
          <a:xfrm>
            <a:off x="7900416" y="1691640"/>
            <a:ext cx="685800" cy="365760"/>
          </a:xfrm>
          <a:prstGeom prst="rect">
            <a:avLst/>
          </a:prstGeom>
          <a:noFill/>
          <a:ln/>
        </p:spPr>
        <p:txBody>
          <a:bodyPr wrap="square" rtlCol="0" anchor="ctr"/>
          <a:lstStyle/>
          <a:p>
            <a:pPr algn="ctr" indent="0" marL="0">
              <a:buNone/>
            </a:pPr>
            <a:r>
              <a:rPr lang="en-US" sz="1100" b="1" dirty="0">
                <a:solidFill>
                  <a:srgbClr val="028090"/>
                </a:solidFill>
                <a:latin typeface="Calibri" pitchFamily="34" charset="0"/>
                <a:ea typeface="Calibri" pitchFamily="34" charset="-122"/>
                <a:cs typeface="Calibri" pitchFamily="34" charset="-120"/>
              </a:rPr>
              <a:t>10 cr</a:t>
            </a:r>
            <a:endParaRPr lang="en-US" sz="1100" dirty="0"/>
          </a:p>
        </p:txBody>
      </p:sp>
      <p:sp>
        <p:nvSpPr>
          <p:cNvPr id="25" name="Text 23"/>
          <p:cNvSpPr/>
          <p:nvPr/>
        </p:nvSpPr>
        <p:spPr>
          <a:xfrm>
            <a:off x="6345936" y="2331720"/>
            <a:ext cx="2240280" cy="411480"/>
          </a:xfrm>
          <a:prstGeom prst="rect">
            <a:avLst/>
          </a:prstGeom>
          <a:noFill/>
          <a:ln/>
        </p:spPr>
        <p:txBody>
          <a:bodyPr wrap="square" rtlCol="0" anchor="ctr"/>
          <a:lstStyle/>
          <a:p>
            <a:pPr indent="0" marL="0">
              <a:buNone/>
            </a:pPr>
            <a:r>
              <a:rPr lang="en-US" sz="1600" b="1" dirty="0">
                <a:solidFill>
                  <a:srgbClr val="16302F"/>
                </a:solidFill>
                <a:latin typeface="Calibri" pitchFamily="34" charset="0"/>
                <a:ea typeface="Calibri" pitchFamily="34" charset="-122"/>
                <a:cs typeface="Calibri" pitchFamily="34" charset="-120"/>
              </a:rPr>
              <a:t>Agentic</a:t>
            </a:r>
            <a:endParaRPr lang="en-US" sz="1600" dirty="0"/>
          </a:p>
        </p:txBody>
      </p:sp>
      <p:sp>
        <p:nvSpPr>
          <p:cNvPr id="26" name="Text 24"/>
          <p:cNvSpPr/>
          <p:nvPr/>
        </p:nvSpPr>
        <p:spPr>
          <a:xfrm>
            <a:off x="6345936" y="2788920"/>
            <a:ext cx="2240280" cy="1554480"/>
          </a:xfrm>
          <a:prstGeom prst="rect">
            <a:avLst/>
          </a:prstGeom>
          <a:noFill/>
          <a:ln/>
        </p:spPr>
        <p:txBody>
          <a:bodyPr wrap="square" rtlCol="0" anchor="ctr"/>
          <a:lstStyle/>
          <a:p>
            <a:pPr indent="0" marL="0">
              <a:lnSpc>
                <a:spcPct val="120000"/>
              </a:lnSpc>
              <a:buNone/>
            </a:pPr>
            <a:r>
              <a:rPr lang="en-US" sz="1150" dirty="0">
                <a:solidFill>
                  <a:srgbClr val="16302F"/>
                </a:solidFill>
                <a:latin typeface="Calibri" pitchFamily="34" charset="0"/>
                <a:ea typeface="Calibri" pitchFamily="34" charset="-122"/>
                <a:cs typeface="Calibri" pitchFamily="34" charset="-120"/>
              </a:rPr>
              <a:t>Para documentos con diagramas e imágenes, pero nada demasiado complejo. Usa un agente para interpretar mejor la estructura.</a:t>
            </a:r>
            <a:endParaRPr lang="en-US" sz="1150" dirty="0"/>
          </a:p>
        </p:txBody>
      </p:sp>
      <p:sp>
        <p:nvSpPr>
          <p:cNvPr id="27" name="Shape 25"/>
          <p:cNvSpPr/>
          <p:nvPr/>
        </p:nvSpPr>
        <p:spPr>
          <a:xfrm>
            <a:off x="8970264" y="1417320"/>
            <a:ext cx="2606040" cy="3017520"/>
          </a:xfrm>
          <a:prstGeom prst="roundRect">
            <a:avLst>
              <a:gd name="adj" fmla="val 3509"/>
            </a:avLst>
          </a:prstGeom>
          <a:solidFill>
            <a:srgbClr val="F4FAF9"/>
          </a:solidFill>
          <a:ln w="12700">
            <a:solidFill>
              <a:srgbClr val="DCEEEA"/>
            </a:solidFill>
            <a:prstDash val="solid"/>
          </a:ln>
          <a:effectLst>
            <a:outerShdw sx="100000" sy="100000" kx="0" ky="0" algn="bl" rotWithShape="0" blurRad="76200" dist="25400" dir="5400000">
              <a:srgbClr val="1F4744">
                <a:alpha val="10000"/>
              </a:srgbClr>
            </a:outerShdw>
          </a:effectLst>
        </p:spPr>
      </p:sp>
      <p:sp>
        <p:nvSpPr>
          <p:cNvPr id="28" name="Shape 26"/>
          <p:cNvSpPr/>
          <p:nvPr/>
        </p:nvSpPr>
        <p:spPr>
          <a:xfrm>
            <a:off x="9153144" y="1645920"/>
            <a:ext cx="548640" cy="548640"/>
          </a:xfrm>
          <a:prstGeom prst="ellipse">
            <a:avLst/>
          </a:prstGeom>
          <a:solidFill>
            <a:srgbClr val="0B2E33"/>
          </a:solidFill>
          <a:ln/>
        </p:spPr>
      </p:sp>
      <p:sp>
        <p:nvSpPr>
          <p:cNvPr id="29" name="Text 27"/>
          <p:cNvSpPr/>
          <p:nvPr/>
        </p:nvSpPr>
        <p:spPr>
          <a:xfrm>
            <a:off x="9153144" y="1645920"/>
            <a:ext cx="548640" cy="548640"/>
          </a:xfrm>
          <a:prstGeom prst="rect">
            <a:avLst/>
          </a:prstGeom>
          <a:noFill/>
          <a:ln/>
        </p:spPr>
        <p:txBody>
          <a:bodyPr wrap="square"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0" name="Shape 28"/>
          <p:cNvSpPr/>
          <p:nvPr/>
        </p:nvSpPr>
        <p:spPr>
          <a:xfrm>
            <a:off x="10707624" y="1691640"/>
            <a:ext cx="685800" cy="365760"/>
          </a:xfrm>
          <a:prstGeom prst="roundRect">
            <a:avLst>
              <a:gd name="adj" fmla="val 50000"/>
            </a:avLst>
          </a:prstGeom>
          <a:solidFill>
            <a:srgbClr val="FFFFFF"/>
          </a:solidFill>
          <a:ln w="12700">
            <a:solidFill>
              <a:srgbClr val="CDEAE6"/>
            </a:solidFill>
            <a:prstDash val="solid"/>
          </a:ln>
        </p:spPr>
      </p:sp>
      <p:sp>
        <p:nvSpPr>
          <p:cNvPr id="31" name="Text 29"/>
          <p:cNvSpPr/>
          <p:nvPr/>
        </p:nvSpPr>
        <p:spPr>
          <a:xfrm>
            <a:off x="10707624" y="1691640"/>
            <a:ext cx="685800" cy="365760"/>
          </a:xfrm>
          <a:prstGeom prst="rect">
            <a:avLst/>
          </a:prstGeom>
          <a:noFill/>
          <a:ln/>
        </p:spPr>
        <p:txBody>
          <a:bodyPr wrap="square" rtlCol="0" anchor="ctr"/>
          <a:lstStyle/>
          <a:p>
            <a:pPr algn="ctr" indent="0" marL="0">
              <a:buNone/>
            </a:pPr>
            <a:r>
              <a:rPr lang="en-US" sz="1100" b="1" dirty="0">
                <a:solidFill>
                  <a:srgbClr val="028090"/>
                </a:solidFill>
                <a:latin typeface="Calibri" pitchFamily="34" charset="0"/>
                <a:ea typeface="Calibri" pitchFamily="34" charset="-122"/>
                <a:cs typeface="Calibri" pitchFamily="34" charset="-120"/>
              </a:rPr>
              <a:t>45 cr</a:t>
            </a:r>
            <a:endParaRPr lang="en-US" sz="1100" dirty="0"/>
          </a:p>
        </p:txBody>
      </p:sp>
      <p:sp>
        <p:nvSpPr>
          <p:cNvPr id="32" name="Text 30"/>
          <p:cNvSpPr/>
          <p:nvPr/>
        </p:nvSpPr>
        <p:spPr>
          <a:xfrm>
            <a:off x="9153144" y="2331720"/>
            <a:ext cx="2240280" cy="411480"/>
          </a:xfrm>
          <a:prstGeom prst="rect">
            <a:avLst/>
          </a:prstGeom>
          <a:noFill/>
          <a:ln/>
        </p:spPr>
        <p:txBody>
          <a:bodyPr wrap="square" rtlCol="0" anchor="ctr"/>
          <a:lstStyle/>
          <a:p>
            <a:pPr indent="0" marL="0">
              <a:buNone/>
            </a:pPr>
            <a:r>
              <a:rPr lang="en-US" sz="1600" b="1" dirty="0">
                <a:solidFill>
                  <a:srgbClr val="16302F"/>
                </a:solidFill>
                <a:latin typeface="Calibri" pitchFamily="34" charset="0"/>
                <a:ea typeface="Calibri" pitchFamily="34" charset="-122"/>
                <a:cs typeface="Calibri" pitchFamily="34" charset="-120"/>
              </a:rPr>
              <a:t>Agentic Plus</a:t>
            </a:r>
            <a:endParaRPr lang="en-US" sz="1600" dirty="0"/>
          </a:p>
        </p:txBody>
      </p:sp>
      <p:sp>
        <p:nvSpPr>
          <p:cNvPr id="33" name="Text 31"/>
          <p:cNvSpPr/>
          <p:nvPr/>
        </p:nvSpPr>
        <p:spPr>
          <a:xfrm>
            <a:off x="9153144" y="2788920"/>
            <a:ext cx="2240280" cy="1554480"/>
          </a:xfrm>
          <a:prstGeom prst="rect">
            <a:avLst/>
          </a:prstGeom>
          <a:noFill/>
          <a:ln/>
        </p:spPr>
        <p:txBody>
          <a:bodyPr wrap="square" rtlCol="0" anchor="ctr"/>
          <a:lstStyle/>
          <a:p>
            <a:pPr indent="0" marL="0">
              <a:lnSpc>
                <a:spcPct val="120000"/>
              </a:lnSpc>
              <a:buNone/>
            </a:pPr>
            <a:r>
              <a:rPr lang="en-US" sz="1150" dirty="0">
                <a:solidFill>
                  <a:srgbClr val="16302F"/>
                </a:solidFill>
                <a:latin typeface="Calibri" pitchFamily="34" charset="0"/>
                <a:ea typeface="Calibri" pitchFamily="34" charset="-122"/>
                <a:cs typeface="Calibri" pitchFamily="34" charset="-120"/>
              </a:rPr>
              <a:t>La configuración más potente. Ideal para layouts complejos, con muchos diagramas e imágenes entrelazados con el texto.</a:t>
            </a:r>
            <a:endParaRPr lang="en-US" sz="1150" dirty="0"/>
          </a:p>
        </p:txBody>
      </p:sp>
      <p:sp>
        <p:nvSpPr>
          <p:cNvPr id="34" name="Shape 32"/>
          <p:cNvSpPr/>
          <p:nvPr/>
        </p:nvSpPr>
        <p:spPr>
          <a:xfrm>
            <a:off x="548640" y="4709160"/>
            <a:ext cx="11064240" cy="1417320"/>
          </a:xfrm>
          <a:prstGeom prst="roundRect">
            <a:avLst>
              <a:gd name="adj" fmla="val 6452"/>
            </a:avLst>
          </a:prstGeom>
          <a:solidFill>
            <a:srgbClr val="0B2E33"/>
          </a:solidFill>
          <a:ln/>
        </p:spPr>
      </p:sp>
      <p:sp>
        <p:nvSpPr>
          <p:cNvPr id="35" name="Shape 33"/>
          <p:cNvSpPr/>
          <p:nvPr/>
        </p:nvSpPr>
        <p:spPr>
          <a:xfrm>
            <a:off x="822960" y="4983480"/>
            <a:ext cx="502920" cy="502920"/>
          </a:xfrm>
          <a:prstGeom prst="ellipse">
            <a:avLst/>
          </a:prstGeom>
          <a:solidFill>
            <a:srgbClr val="02C39A"/>
          </a:solidFill>
          <a:ln/>
        </p:spPr>
      </p:sp>
      <p:sp>
        <p:nvSpPr>
          <p:cNvPr id="36" name="Text 34"/>
          <p:cNvSpPr/>
          <p:nvPr/>
        </p:nvSpPr>
        <p:spPr>
          <a:xfrm>
            <a:off x="822960" y="4983480"/>
            <a:ext cx="502920" cy="502920"/>
          </a:xfrm>
          <a:prstGeom prst="rect">
            <a:avLst/>
          </a:prstGeom>
          <a:noFill/>
          <a:ln/>
        </p:spPr>
        <p:txBody>
          <a:bodyPr wrap="square" rtlCol="0" anchor="ctr"/>
          <a:lstStyle/>
          <a:p>
            <a:pPr algn="ct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7" name="Text 35"/>
          <p:cNvSpPr/>
          <p:nvPr/>
        </p:nvSpPr>
        <p:spPr>
          <a:xfrm>
            <a:off x="1508760" y="4873752"/>
            <a:ext cx="36576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Cost optimizer</a:t>
            </a:r>
            <a:endParaRPr lang="en-US" sz="1500" dirty="0"/>
          </a:p>
        </p:txBody>
      </p:sp>
      <p:sp>
        <p:nvSpPr>
          <p:cNvPr id="38" name="Text 36"/>
          <p:cNvSpPr/>
          <p:nvPr/>
        </p:nvSpPr>
        <p:spPr>
          <a:xfrm>
            <a:off x="1508760" y="5212080"/>
            <a:ext cx="9784080" cy="822960"/>
          </a:xfrm>
          <a:prstGeom prst="rect">
            <a:avLst/>
          </a:prstGeom>
          <a:noFill/>
          <a:ln/>
        </p:spPr>
        <p:txBody>
          <a:bodyPr wrap="square" rtlCol="0" anchor="ctr"/>
          <a:lstStyle/>
          <a:p>
            <a:pPr indent="0" marL="0">
              <a:lnSpc>
                <a:spcPct val="120000"/>
              </a:lnSpc>
              <a:buNone/>
            </a:pPr>
            <a:r>
              <a:rPr lang="en-US" sz="1150" dirty="0">
                <a:solidFill>
                  <a:srgbClr val="CFEDE9"/>
                </a:solidFill>
                <a:latin typeface="Calibri" pitchFamily="34" charset="0"/>
                <a:ea typeface="Calibri" pitchFamily="34" charset="-122"/>
                <a:cs typeface="Calibri" pitchFamily="34" charset="-120"/>
              </a:rPr>
              <a:t>Interruptor opcional (apagado por defecto). Al activarlo, LlamaParse ajusta automáticamente el nivel de procesamiento página por página, usando un tier más económico donde el contenido lo permite, para reducir el costo total sin perder calidad en las páginas complejas.</a:t>
            </a:r>
            <a:endParaRPr lang="en-US" sz="1150" dirty="0"/>
          </a:p>
        </p:txBody>
      </p:sp>
      <p:sp>
        <p:nvSpPr>
          <p:cNvPr id="39" name="Text 37"/>
          <p:cNvSpPr/>
          <p:nvPr/>
        </p:nvSpPr>
        <p:spPr>
          <a:xfrm>
            <a:off x="548640" y="6263640"/>
            <a:ext cx="11064240" cy="365760"/>
          </a:xfrm>
          <a:prstGeom prst="rect">
            <a:avLst/>
          </a:prstGeom>
          <a:noFill/>
          <a:ln/>
        </p:spPr>
        <p:txBody>
          <a:bodyPr wrap="square" rtlCol="0" anchor="ctr"/>
          <a:lstStyle/>
          <a:p>
            <a:pPr indent="0" marL="0">
              <a:buNone/>
            </a:pPr>
            <a:r>
              <a:rPr lang="en-US" sz="1050" i="1" dirty="0">
                <a:solidFill>
                  <a:srgbClr val="5B6E6C"/>
                </a:solidFill>
                <a:latin typeface="Calibri" pitchFamily="34" charset="0"/>
                <a:ea typeface="Calibri" pitchFamily="34" charset="-122"/>
                <a:cs typeface="Calibri" pitchFamily="34" charset="-120"/>
              </a:rPr>
              <a:t>Tip: elegí el tier según la complejidad visual del documento — más diagramas/imágenes = tier más alto.</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AF9"/>
        </a:solidFill>
      </p:bgPr>
    </p:bg>
    <p:spTree>
      <p:nvGrpSpPr>
        <p:cNvPr id="1" name=""/>
        <p:cNvGrpSpPr/>
        <p:nvPr/>
      </p:nvGrpSpPr>
      <p:grpSpPr>
        <a:xfrm>
          <a:off x="0" y="0"/>
          <a:ext cx="0" cy="0"/>
          <a:chOff x="0" y="0"/>
          <a:chExt cx="0" cy="0"/>
        </a:xfrm>
      </p:grpSpPr>
      <p:sp>
        <p:nvSpPr>
          <p:cNvPr id="2" name="Text 0"/>
          <p:cNvSpPr/>
          <p:nvPr/>
        </p:nvSpPr>
        <p:spPr>
          <a:xfrm>
            <a:off x="548640" y="365760"/>
            <a:ext cx="7772400" cy="548640"/>
          </a:xfrm>
          <a:prstGeom prst="rect">
            <a:avLst/>
          </a:prstGeom>
          <a:noFill/>
          <a:ln/>
        </p:spPr>
        <p:txBody>
          <a:bodyPr wrap="square" rtlCol="0" anchor="ctr"/>
          <a:lstStyle/>
          <a:p>
            <a:pPr indent="0" marL="0">
              <a:buNone/>
            </a:pPr>
            <a:r>
              <a:rPr lang="en-US" sz="2800" b="1" dirty="0">
                <a:solidFill>
                  <a:srgbClr val="16302F"/>
                </a:solidFill>
                <a:latin typeface="Century Schoolbook" pitchFamily="34" charset="0"/>
                <a:ea typeface="Century Schoolbook" pitchFamily="34" charset="-122"/>
                <a:cs typeface="Century Schoolbook" pitchFamily="34" charset="-120"/>
              </a:rPr>
              <a:t>LlamaParse — Menú lateral</a:t>
            </a:r>
            <a:endParaRPr lang="en-US" sz="2800" dirty="0"/>
          </a:p>
        </p:txBody>
      </p:sp>
      <p:sp>
        <p:nvSpPr>
          <p:cNvPr id="3" name="Text 1"/>
          <p:cNvSpPr/>
          <p:nvPr/>
        </p:nvSpPr>
        <p:spPr>
          <a:xfrm>
            <a:off x="548640" y="868680"/>
            <a:ext cx="9601200" cy="365760"/>
          </a:xfrm>
          <a:prstGeom prst="rect">
            <a:avLst/>
          </a:prstGeom>
          <a:noFill/>
          <a:ln/>
        </p:spPr>
        <p:txBody>
          <a:bodyPr wrap="square" rtlCol="0" anchor="ctr"/>
          <a:lstStyle/>
          <a:p>
            <a:pPr indent="0" marL="0">
              <a:buNone/>
            </a:pPr>
            <a:r>
              <a:rPr lang="en-US" sz="1300" dirty="0">
                <a:solidFill>
                  <a:srgbClr val="5B6E6C"/>
                </a:solidFill>
                <a:latin typeface="Calibri" pitchFamily="34" charset="0"/>
                <a:ea typeface="Calibri" pitchFamily="34" charset="-122"/>
                <a:cs typeface="Calibri" pitchFamily="34" charset="-120"/>
              </a:rPr>
              <a:t>Qué hace cada sección de la barra izquierda</a:t>
            </a:r>
            <a:endParaRPr lang="en-US" sz="1300" dirty="0"/>
          </a:p>
        </p:txBody>
      </p:sp>
      <p:sp>
        <p:nvSpPr>
          <p:cNvPr id="4" name="Shape 2"/>
          <p:cNvSpPr/>
          <p:nvPr/>
        </p:nvSpPr>
        <p:spPr>
          <a:xfrm>
            <a:off x="548640" y="1417320"/>
            <a:ext cx="5349240" cy="676656"/>
          </a:xfrm>
          <a:prstGeom prst="roundRect">
            <a:avLst>
              <a:gd name="adj" fmla="val 9459"/>
            </a:avLst>
          </a:prstGeom>
          <a:solidFill>
            <a:srgbClr val="FFFFFF"/>
          </a:solidFill>
          <a:ln/>
          <a:effectLst>
            <a:outerShdw sx="100000" sy="100000" kx="0" ky="0" algn="bl" rotWithShape="0" blurRad="50800" dist="12700" dir="5400000">
              <a:srgbClr val="1F4744">
                <a:alpha val="8000"/>
              </a:srgbClr>
            </a:outerShdw>
          </a:effectLst>
        </p:spPr>
      </p:sp>
      <p:sp>
        <p:nvSpPr>
          <p:cNvPr id="5" name="Shape 3"/>
          <p:cNvSpPr/>
          <p:nvPr/>
        </p:nvSpPr>
        <p:spPr>
          <a:xfrm>
            <a:off x="676656" y="1517904"/>
            <a:ext cx="457200" cy="457200"/>
          </a:xfrm>
          <a:prstGeom prst="ellipse">
            <a:avLst/>
          </a:prstGeom>
          <a:solidFill>
            <a:srgbClr val="028090"/>
          </a:solidFill>
          <a:ln/>
        </p:spPr>
      </p:sp>
      <p:sp>
        <p:nvSpPr>
          <p:cNvPr id="6" name="Text 4"/>
          <p:cNvSpPr/>
          <p:nvPr/>
        </p:nvSpPr>
        <p:spPr>
          <a:xfrm>
            <a:off x="676656" y="1517904"/>
            <a:ext cx="457200" cy="457200"/>
          </a:xfrm>
          <a:prstGeom prst="rect">
            <a:avLst/>
          </a:prstGeom>
          <a:noFill/>
          <a:ln/>
        </p:spPr>
        <p:txBody>
          <a:bodyPr wrap="square"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1261872" y="1463040"/>
            <a:ext cx="4480560" cy="292608"/>
          </a:xfrm>
          <a:prstGeom prst="rect">
            <a:avLst/>
          </a:prstGeom>
          <a:noFill/>
          <a:ln/>
        </p:spPr>
        <p:txBody>
          <a:bodyPr wrap="square" rtlCol="0" anchor="ctr"/>
          <a:lstStyle/>
          <a:p>
            <a:pPr indent="0" marL="0">
              <a:buNone/>
            </a:pPr>
            <a:r>
              <a:rPr lang="en-US" sz="1300" b="1" dirty="0">
                <a:solidFill>
                  <a:srgbClr val="16302F"/>
                </a:solidFill>
                <a:latin typeface="Calibri" pitchFamily="34" charset="0"/>
                <a:ea typeface="Calibri" pitchFamily="34" charset="-122"/>
                <a:cs typeface="Calibri" pitchFamily="34" charset="-120"/>
              </a:rPr>
              <a:t>Home</a:t>
            </a:r>
            <a:endParaRPr lang="en-US" sz="1300" dirty="0"/>
          </a:p>
        </p:txBody>
      </p:sp>
      <p:sp>
        <p:nvSpPr>
          <p:cNvPr id="8" name="Text 6"/>
          <p:cNvSpPr/>
          <p:nvPr/>
        </p:nvSpPr>
        <p:spPr>
          <a:xfrm>
            <a:off x="1261872" y="1737360"/>
            <a:ext cx="4480560" cy="365760"/>
          </a:xfrm>
          <a:prstGeom prst="rect">
            <a:avLst/>
          </a:prstGeom>
          <a:noFill/>
          <a:ln/>
        </p:spPr>
        <p:txBody>
          <a:bodyPr wrap="square" rtlCol="0" anchor="ctr"/>
          <a:lstStyle/>
          <a:p>
            <a:pPr indent="0" marL="0">
              <a:lnSpc>
                <a:spcPct val="100000"/>
              </a:lnSpc>
              <a:buNone/>
            </a:pPr>
            <a:r>
              <a:rPr lang="en-US" sz="980" dirty="0">
                <a:solidFill>
                  <a:srgbClr val="5B6E6C"/>
                </a:solidFill>
                <a:latin typeface="Calibri" pitchFamily="34" charset="0"/>
                <a:ea typeface="Calibri" pitchFamily="34" charset="-122"/>
                <a:cs typeface="Calibri" pitchFamily="34" charset="-120"/>
              </a:rPr>
              <a:t>Panel principal: resumen de tu cuenta, uso del plan y accesos rápidos.</a:t>
            </a:r>
            <a:endParaRPr lang="en-US" sz="980" dirty="0"/>
          </a:p>
        </p:txBody>
      </p:sp>
      <p:sp>
        <p:nvSpPr>
          <p:cNvPr id="9" name="Shape 7"/>
          <p:cNvSpPr/>
          <p:nvPr/>
        </p:nvSpPr>
        <p:spPr>
          <a:xfrm>
            <a:off x="548640" y="2203704"/>
            <a:ext cx="5349240" cy="676656"/>
          </a:xfrm>
          <a:prstGeom prst="roundRect">
            <a:avLst>
              <a:gd name="adj" fmla="val 9459"/>
            </a:avLst>
          </a:prstGeom>
          <a:solidFill>
            <a:srgbClr val="FFFFFF"/>
          </a:solidFill>
          <a:ln/>
          <a:effectLst>
            <a:outerShdw sx="100000" sy="100000" kx="0" ky="0" algn="bl" rotWithShape="0" blurRad="50800" dist="12700" dir="5400000">
              <a:srgbClr val="1F4744">
                <a:alpha val="8000"/>
              </a:srgbClr>
            </a:outerShdw>
          </a:effectLst>
        </p:spPr>
      </p:sp>
      <p:sp>
        <p:nvSpPr>
          <p:cNvPr id="10" name="Shape 8"/>
          <p:cNvSpPr/>
          <p:nvPr/>
        </p:nvSpPr>
        <p:spPr>
          <a:xfrm>
            <a:off x="676656" y="2304288"/>
            <a:ext cx="457200" cy="457200"/>
          </a:xfrm>
          <a:prstGeom prst="ellipse">
            <a:avLst/>
          </a:prstGeom>
          <a:solidFill>
            <a:srgbClr val="028090"/>
          </a:solidFill>
          <a:ln/>
        </p:spPr>
      </p:sp>
      <p:sp>
        <p:nvSpPr>
          <p:cNvPr id="11" name="Text 9"/>
          <p:cNvSpPr/>
          <p:nvPr/>
        </p:nvSpPr>
        <p:spPr>
          <a:xfrm>
            <a:off x="676656" y="2304288"/>
            <a:ext cx="457200" cy="457200"/>
          </a:xfrm>
          <a:prstGeom prst="rect">
            <a:avLst/>
          </a:prstGeom>
          <a:noFill/>
          <a:ln/>
        </p:spPr>
        <p:txBody>
          <a:bodyPr wrap="square"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1261872" y="2249424"/>
            <a:ext cx="4480560" cy="292608"/>
          </a:xfrm>
          <a:prstGeom prst="rect">
            <a:avLst/>
          </a:prstGeom>
          <a:noFill/>
          <a:ln/>
        </p:spPr>
        <p:txBody>
          <a:bodyPr wrap="square" rtlCol="0" anchor="ctr"/>
          <a:lstStyle/>
          <a:p>
            <a:pPr indent="0" marL="0">
              <a:buNone/>
            </a:pPr>
            <a:r>
              <a:rPr lang="en-US" sz="1300" b="1" dirty="0">
                <a:solidFill>
                  <a:srgbClr val="16302F"/>
                </a:solidFill>
                <a:latin typeface="Calibri" pitchFamily="34" charset="0"/>
                <a:ea typeface="Calibri" pitchFamily="34" charset="-122"/>
                <a:cs typeface="Calibri" pitchFamily="34" charset="-120"/>
              </a:rPr>
              <a:t>Parse</a:t>
            </a:r>
            <a:endParaRPr lang="en-US" sz="1300" dirty="0"/>
          </a:p>
        </p:txBody>
      </p:sp>
      <p:sp>
        <p:nvSpPr>
          <p:cNvPr id="13" name="Text 11"/>
          <p:cNvSpPr/>
          <p:nvPr/>
        </p:nvSpPr>
        <p:spPr>
          <a:xfrm>
            <a:off x="1261872" y="2523744"/>
            <a:ext cx="4480560" cy="365760"/>
          </a:xfrm>
          <a:prstGeom prst="rect">
            <a:avLst/>
          </a:prstGeom>
          <a:noFill/>
          <a:ln/>
        </p:spPr>
        <p:txBody>
          <a:bodyPr wrap="square" rtlCol="0" anchor="ctr"/>
          <a:lstStyle/>
          <a:p>
            <a:pPr indent="0" marL="0">
              <a:lnSpc>
                <a:spcPct val="100000"/>
              </a:lnSpc>
              <a:buNone/>
            </a:pPr>
            <a:r>
              <a:rPr lang="en-US" sz="980" dirty="0">
                <a:solidFill>
                  <a:srgbClr val="5B6E6C"/>
                </a:solidFill>
                <a:latin typeface="Calibri" pitchFamily="34" charset="0"/>
                <a:ea typeface="Calibri" pitchFamily="34" charset="-122"/>
                <a:cs typeface="Calibri" pitchFamily="34" charset="-120"/>
              </a:rPr>
              <a:t>Convierte PDFs y escaneos en texto listo para IA (OCR agéntico), preservando títulos y tablas. Es la pantalla que ya viste.</a:t>
            </a:r>
            <a:endParaRPr lang="en-US" sz="980" dirty="0"/>
          </a:p>
        </p:txBody>
      </p:sp>
      <p:sp>
        <p:nvSpPr>
          <p:cNvPr id="14" name="Shape 12"/>
          <p:cNvSpPr/>
          <p:nvPr/>
        </p:nvSpPr>
        <p:spPr>
          <a:xfrm>
            <a:off x="548640" y="2990088"/>
            <a:ext cx="5349240" cy="676656"/>
          </a:xfrm>
          <a:prstGeom prst="roundRect">
            <a:avLst>
              <a:gd name="adj" fmla="val 9459"/>
            </a:avLst>
          </a:prstGeom>
          <a:solidFill>
            <a:srgbClr val="FFFFFF"/>
          </a:solidFill>
          <a:ln/>
          <a:effectLst>
            <a:outerShdw sx="100000" sy="100000" kx="0" ky="0" algn="bl" rotWithShape="0" blurRad="50800" dist="12700" dir="5400000">
              <a:srgbClr val="1F4744">
                <a:alpha val="8000"/>
              </a:srgbClr>
            </a:outerShdw>
          </a:effectLst>
        </p:spPr>
      </p:sp>
      <p:sp>
        <p:nvSpPr>
          <p:cNvPr id="15" name="Shape 13"/>
          <p:cNvSpPr/>
          <p:nvPr/>
        </p:nvSpPr>
        <p:spPr>
          <a:xfrm>
            <a:off x="676656" y="3090672"/>
            <a:ext cx="457200" cy="457200"/>
          </a:xfrm>
          <a:prstGeom prst="ellipse">
            <a:avLst/>
          </a:prstGeom>
          <a:solidFill>
            <a:srgbClr val="028090"/>
          </a:solidFill>
          <a:ln/>
        </p:spPr>
      </p:sp>
      <p:sp>
        <p:nvSpPr>
          <p:cNvPr id="16" name="Text 14"/>
          <p:cNvSpPr/>
          <p:nvPr/>
        </p:nvSpPr>
        <p:spPr>
          <a:xfrm>
            <a:off x="676656" y="3090672"/>
            <a:ext cx="457200" cy="457200"/>
          </a:xfrm>
          <a:prstGeom prst="rect">
            <a:avLst/>
          </a:prstGeom>
          <a:noFill/>
          <a:ln/>
        </p:spPr>
        <p:txBody>
          <a:bodyPr wrap="square"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1261872" y="3035808"/>
            <a:ext cx="4480560" cy="292608"/>
          </a:xfrm>
          <a:prstGeom prst="rect">
            <a:avLst/>
          </a:prstGeom>
          <a:noFill/>
          <a:ln/>
        </p:spPr>
        <p:txBody>
          <a:bodyPr wrap="square" rtlCol="0" anchor="ctr"/>
          <a:lstStyle/>
          <a:p>
            <a:pPr indent="0" marL="0">
              <a:buNone/>
            </a:pPr>
            <a:r>
              <a:rPr lang="en-US" sz="1300" b="1" dirty="0">
                <a:solidFill>
                  <a:srgbClr val="16302F"/>
                </a:solidFill>
                <a:latin typeface="Calibri" pitchFamily="34" charset="0"/>
                <a:ea typeface="Calibri" pitchFamily="34" charset="-122"/>
                <a:cs typeface="Calibri" pitchFamily="34" charset="-120"/>
              </a:rPr>
              <a:t>Extract</a:t>
            </a:r>
            <a:endParaRPr lang="en-US" sz="1300" dirty="0"/>
          </a:p>
        </p:txBody>
      </p:sp>
      <p:sp>
        <p:nvSpPr>
          <p:cNvPr id="18" name="Text 16"/>
          <p:cNvSpPr/>
          <p:nvPr/>
        </p:nvSpPr>
        <p:spPr>
          <a:xfrm>
            <a:off x="1261872" y="3310128"/>
            <a:ext cx="4480560" cy="365760"/>
          </a:xfrm>
          <a:prstGeom prst="rect">
            <a:avLst/>
          </a:prstGeom>
          <a:noFill/>
          <a:ln/>
        </p:spPr>
        <p:txBody>
          <a:bodyPr wrap="square" rtlCol="0" anchor="ctr"/>
          <a:lstStyle/>
          <a:p>
            <a:pPr indent="0" marL="0">
              <a:lnSpc>
                <a:spcPct val="100000"/>
              </a:lnSpc>
              <a:buNone/>
            </a:pPr>
            <a:r>
              <a:rPr lang="en-US" sz="980" dirty="0">
                <a:solidFill>
                  <a:srgbClr val="5B6E6C"/>
                </a:solidFill>
                <a:latin typeface="Calibri" pitchFamily="34" charset="0"/>
                <a:ea typeface="Calibri" pitchFamily="34" charset="-122"/>
                <a:cs typeface="Calibri" pitchFamily="34" charset="-120"/>
              </a:rPr>
              <a:t>Saca datos estructurados de un documento según un esquema propio (ej. campos de una factura).</a:t>
            </a:r>
            <a:endParaRPr lang="en-US" sz="980" dirty="0"/>
          </a:p>
        </p:txBody>
      </p:sp>
      <p:sp>
        <p:nvSpPr>
          <p:cNvPr id="19" name="Shape 17"/>
          <p:cNvSpPr/>
          <p:nvPr/>
        </p:nvSpPr>
        <p:spPr>
          <a:xfrm>
            <a:off x="548640" y="3776472"/>
            <a:ext cx="5349240" cy="676656"/>
          </a:xfrm>
          <a:prstGeom prst="roundRect">
            <a:avLst>
              <a:gd name="adj" fmla="val 9459"/>
            </a:avLst>
          </a:prstGeom>
          <a:solidFill>
            <a:srgbClr val="FFFFFF"/>
          </a:solidFill>
          <a:ln/>
          <a:effectLst>
            <a:outerShdw sx="100000" sy="100000" kx="0" ky="0" algn="bl" rotWithShape="0" blurRad="50800" dist="12700" dir="5400000">
              <a:srgbClr val="1F4744">
                <a:alpha val="8000"/>
              </a:srgbClr>
            </a:outerShdw>
          </a:effectLst>
        </p:spPr>
      </p:sp>
      <p:sp>
        <p:nvSpPr>
          <p:cNvPr id="20" name="Shape 18"/>
          <p:cNvSpPr/>
          <p:nvPr/>
        </p:nvSpPr>
        <p:spPr>
          <a:xfrm>
            <a:off x="676656" y="3877056"/>
            <a:ext cx="457200" cy="457200"/>
          </a:xfrm>
          <a:prstGeom prst="ellipse">
            <a:avLst/>
          </a:prstGeom>
          <a:solidFill>
            <a:srgbClr val="028090"/>
          </a:solidFill>
          <a:ln/>
        </p:spPr>
      </p:sp>
      <p:sp>
        <p:nvSpPr>
          <p:cNvPr id="21" name="Text 19"/>
          <p:cNvSpPr/>
          <p:nvPr/>
        </p:nvSpPr>
        <p:spPr>
          <a:xfrm>
            <a:off x="676656" y="3877056"/>
            <a:ext cx="457200" cy="457200"/>
          </a:xfrm>
          <a:prstGeom prst="rect">
            <a:avLst/>
          </a:prstGeom>
          <a:noFill/>
          <a:ln/>
        </p:spPr>
        <p:txBody>
          <a:bodyPr wrap="square"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1261872" y="3822192"/>
            <a:ext cx="4480560" cy="292608"/>
          </a:xfrm>
          <a:prstGeom prst="rect">
            <a:avLst/>
          </a:prstGeom>
          <a:noFill/>
          <a:ln/>
        </p:spPr>
        <p:txBody>
          <a:bodyPr wrap="square" rtlCol="0" anchor="ctr"/>
          <a:lstStyle/>
          <a:p>
            <a:pPr indent="0" marL="0">
              <a:buNone/>
            </a:pPr>
            <a:r>
              <a:rPr lang="en-US" sz="1300" b="1" dirty="0">
                <a:solidFill>
                  <a:srgbClr val="16302F"/>
                </a:solidFill>
                <a:latin typeface="Calibri" pitchFamily="34" charset="0"/>
                <a:ea typeface="Calibri" pitchFamily="34" charset="-122"/>
                <a:cs typeface="Calibri" pitchFamily="34" charset="-120"/>
              </a:rPr>
              <a:t>Split</a:t>
            </a:r>
            <a:endParaRPr lang="en-US" sz="1300" dirty="0"/>
          </a:p>
        </p:txBody>
      </p:sp>
      <p:sp>
        <p:nvSpPr>
          <p:cNvPr id="23" name="Text 21"/>
          <p:cNvSpPr/>
          <p:nvPr/>
        </p:nvSpPr>
        <p:spPr>
          <a:xfrm>
            <a:off x="1261872" y="4096512"/>
            <a:ext cx="4480560" cy="365760"/>
          </a:xfrm>
          <a:prstGeom prst="rect">
            <a:avLst/>
          </a:prstGeom>
          <a:noFill/>
          <a:ln/>
        </p:spPr>
        <p:txBody>
          <a:bodyPr wrap="square" rtlCol="0" anchor="ctr"/>
          <a:lstStyle/>
          <a:p>
            <a:pPr indent="0" marL="0">
              <a:lnSpc>
                <a:spcPct val="100000"/>
              </a:lnSpc>
              <a:buNone/>
            </a:pPr>
            <a:r>
              <a:rPr lang="en-US" sz="980" dirty="0">
                <a:solidFill>
                  <a:srgbClr val="5B6E6C"/>
                </a:solidFill>
                <a:latin typeface="Calibri" pitchFamily="34" charset="0"/>
                <a:ea typeface="Calibri" pitchFamily="34" charset="-122"/>
                <a:cs typeface="Calibri" pitchFamily="34" charset="-120"/>
              </a:rPr>
              <a:t>Divide un archivo combinado en partes según tipo de contenido (ej. separar varias facturas de un solo PDF).</a:t>
            </a:r>
            <a:endParaRPr lang="en-US" sz="980" dirty="0"/>
          </a:p>
        </p:txBody>
      </p:sp>
      <p:sp>
        <p:nvSpPr>
          <p:cNvPr id="24" name="Shape 22"/>
          <p:cNvSpPr/>
          <p:nvPr/>
        </p:nvSpPr>
        <p:spPr>
          <a:xfrm>
            <a:off x="548640" y="4562856"/>
            <a:ext cx="5349240" cy="676656"/>
          </a:xfrm>
          <a:prstGeom prst="roundRect">
            <a:avLst>
              <a:gd name="adj" fmla="val 9459"/>
            </a:avLst>
          </a:prstGeom>
          <a:solidFill>
            <a:srgbClr val="FFFFFF"/>
          </a:solidFill>
          <a:ln/>
          <a:effectLst>
            <a:outerShdw sx="100000" sy="100000" kx="0" ky="0" algn="bl" rotWithShape="0" blurRad="50800" dist="12700" dir="5400000">
              <a:srgbClr val="1F4744">
                <a:alpha val="8000"/>
              </a:srgbClr>
            </a:outerShdw>
          </a:effectLst>
        </p:spPr>
      </p:sp>
      <p:sp>
        <p:nvSpPr>
          <p:cNvPr id="25" name="Shape 23"/>
          <p:cNvSpPr/>
          <p:nvPr/>
        </p:nvSpPr>
        <p:spPr>
          <a:xfrm>
            <a:off x="676656" y="4663440"/>
            <a:ext cx="457200" cy="457200"/>
          </a:xfrm>
          <a:prstGeom prst="ellipse">
            <a:avLst/>
          </a:prstGeom>
          <a:solidFill>
            <a:srgbClr val="028090"/>
          </a:solidFill>
          <a:ln/>
        </p:spPr>
      </p:sp>
      <p:sp>
        <p:nvSpPr>
          <p:cNvPr id="26" name="Text 24"/>
          <p:cNvSpPr/>
          <p:nvPr/>
        </p:nvSpPr>
        <p:spPr>
          <a:xfrm>
            <a:off x="676656" y="4663440"/>
            <a:ext cx="457200" cy="457200"/>
          </a:xfrm>
          <a:prstGeom prst="rect">
            <a:avLst/>
          </a:prstGeom>
          <a:noFill/>
          <a:ln/>
        </p:spPr>
        <p:txBody>
          <a:bodyPr wrap="square"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27" name="Text 25"/>
          <p:cNvSpPr/>
          <p:nvPr/>
        </p:nvSpPr>
        <p:spPr>
          <a:xfrm>
            <a:off x="1261872" y="4608576"/>
            <a:ext cx="4480560" cy="292608"/>
          </a:xfrm>
          <a:prstGeom prst="rect">
            <a:avLst/>
          </a:prstGeom>
          <a:noFill/>
          <a:ln/>
        </p:spPr>
        <p:txBody>
          <a:bodyPr wrap="square" rtlCol="0" anchor="ctr"/>
          <a:lstStyle/>
          <a:p>
            <a:pPr indent="0" marL="0">
              <a:buNone/>
            </a:pPr>
            <a:r>
              <a:rPr lang="en-US" sz="1300" b="1" dirty="0">
                <a:solidFill>
                  <a:srgbClr val="16302F"/>
                </a:solidFill>
                <a:latin typeface="Calibri" pitchFamily="34" charset="0"/>
                <a:ea typeface="Calibri" pitchFamily="34" charset="-122"/>
                <a:cs typeface="Calibri" pitchFamily="34" charset="-120"/>
              </a:rPr>
              <a:t>Classify</a:t>
            </a:r>
            <a:endParaRPr lang="en-US" sz="1300" dirty="0"/>
          </a:p>
        </p:txBody>
      </p:sp>
      <p:sp>
        <p:nvSpPr>
          <p:cNvPr id="28" name="Text 26"/>
          <p:cNvSpPr/>
          <p:nvPr/>
        </p:nvSpPr>
        <p:spPr>
          <a:xfrm>
            <a:off x="1261872" y="4882896"/>
            <a:ext cx="4480560" cy="365760"/>
          </a:xfrm>
          <a:prstGeom prst="rect">
            <a:avLst/>
          </a:prstGeom>
          <a:noFill/>
          <a:ln/>
        </p:spPr>
        <p:txBody>
          <a:bodyPr wrap="square" rtlCol="0" anchor="ctr"/>
          <a:lstStyle/>
          <a:p>
            <a:pPr indent="0" marL="0">
              <a:lnSpc>
                <a:spcPct val="100000"/>
              </a:lnSpc>
              <a:buNone/>
            </a:pPr>
            <a:r>
              <a:rPr lang="en-US" sz="980" dirty="0">
                <a:solidFill>
                  <a:srgbClr val="5B6E6C"/>
                </a:solidFill>
                <a:latin typeface="Calibri" pitchFamily="34" charset="0"/>
                <a:ea typeface="Calibri" pitchFamily="34" charset="-122"/>
                <a:cs typeface="Calibri" pitchFamily="34" charset="-120"/>
              </a:rPr>
              <a:t>Clasifica documentos en categorías definidas por vos (ej. 'contrato' vs 'informe financiero').</a:t>
            </a:r>
            <a:endParaRPr lang="en-US" sz="980" dirty="0"/>
          </a:p>
        </p:txBody>
      </p:sp>
      <p:sp>
        <p:nvSpPr>
          <p:cNvPr id="29" name="Shape 27"/>
          <p:cNvSpPr/>
          <p:nvPr/>
        </p:nvSpPr>
        <p:spPr>
          <a:xfrm>
            <a:off x="548640" y="5349240"/>
            <a:ext cx="5349240" cy="676656"/>
          </a:xfrm>
          <a:prstGeom prst="roundRect">
            <a:avLst>
              <a:gd name="adj" fmla="val 9459"/>
            </a:avLst>
          </a:prstGeom>
          <a:solidFill>
            <a:srgbClr val="FFFFFF"/>
          </a:solidFill>
          <a:ln/>
          <a:effectLst>
            <a:outerShdw sx="100000" sy="100000" kx="0" ky="0" algn="bl" rotWithShape="0" blurRad="50800" dist="12700" dir="5400000">
              <a:srgbClr val="1F4744">
                <a:alpha val="8000"/>
              </a:srgbClr>
            </a:outerShdw>
          </a:effectLst>
        </p:spPr>
      </p:sp>
      <p:sp>
        <p:nvSpPr>
          <p:cNvPr id="30" name="Shape 28"/>
          <p:cNvSpPr/>
          <p:nvPr/>
        </p:nvSpPr>
        <p:spPr>
          <a:xfrm>
            <a:off x="676656" y="5449824"/>
            <a:ext cx="457200" cy="457200"/>
          </a:xfrm>
          <a:prstGeom prst="ellipse">
            <a:avLst/>
          </a:prstGeom>
          <a:solidFill>
            <a:srgbClr val="028090"/>
          </a:solidFill>
          <a:ln/>
        </p:spPr>
      </p:sp>
      <p:sp>
        <p:nvSpPr>
          <p:cNvPr id="31" name="Text 29"/>
          <p:cNvSpPr/>
          <p:nvPr/>
        </p:nvSpPr>
        <p:spPr>
          <a:xfrm>
            <a:off x="676656" y="5449824"/>
            <a:ext cx="457200" cy="457200"/>
          </a:xfrm>
          <a:prstGeom prst="rect">
            <a:avLst/>
          </a:prstGeom>
          <a:noFill/>
          <a:ln/>
        </p:spPr>
        <p:txBody>
          <a:bodyPr wrap="square"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32" name="Text 30"/>
          <p:cNvSpPr/>
          <p:nvPr/>
        </p:nvSpPr>
        <p:spPr>
          <a:xfrm>
            <a:off x="1261872" y="5394960"/>
            <a:ext cx="4480560" cy="292608"/>
          </a:xfrm>
          <a:prstGeom prst="rect">
            <a:avLst/>
          </a:prstGeom>
          <a:noFill/>
          <a:ln/>
        </p:spPr>
        <p:txBody>
          <a:bodyPr wrap="square" rtlCol="0" anchor="ctr"/>
          <a:lstStyle/>
          <a:p>
            <a:pPr indent="0" marL="0">
              <a:buNone/>
            </a:pPr>
            <a:r>
              <a:rPr lang="en-US" sz="1300" b="1" dirty="0">
                <a:solidFill>
                  <a:srgbClr val="16302F"/>
                </a:solidFill>
                <a:latin typeface="Calibri" pitchFamily="34" charset="0"/>
                <a:ea typeface="Calibri" pitchFamily="34" charset="-122"/>
                <a:cs typeface="Calibri" pitchFamily="34" charset="-120"/>
              </a:rPr>
              <a:t>Sheets</a:t>
            </a:r>
            <a:endParaRPr lang="en-US" sz="1300" dirty="0"/>
          </a:p>
        </p:txBody>
      </p:sp>
      <p:sp>
        <p:nvSpPr>
          <p:cNvPr id="33" name="Text 31"/>
          <p:cNvSpPr/>
          <p:nvPr/>
        </p:nvSpPr>
        <p:spPr>
          <a:xfrm>
            <a:off x="1261872" y="5669280"/>
            <a:ext cx="4480560" cy="365760"/>
          </a:xfrm>
          <a:prstGeom prst="rect">
            <a:avLst/>
          </a:prstGeom>
          <a:noFill/>
          <a:ln/>
        </p:spPr>
        <p:txBody>
          <a:bodyPr wrap="square" rtlCol="0" anchor="ctr"/>
          <a:lstStyle/>
          <a:p>
            <a:pPr indent="0" marL="0">
              <a:lnSpc>
                <a:spcPct val="100000"/>
              </a:lnSpc>
              <a:buNone/>
            </a:pPr>
            <a:r>
              <a:rPr lang="en-US" sz="980" dirty="0">
                <a:solidFill>
                  <a:srgbClr val="5B6E6C"/>
                </a:solidFill>
                <a:latin typeface="Calibri" pitchFamily="34" charset="0"/>
                <a:ea typeface="Calibri" pitchFamily="34" charset="-122"/>
                <a:cs typeface="Calibri" pitchFamily="34" charset="-120"/>
              </a:rPr>
              <a:t>Extrae tablas y regiones de planillas de cálculo, con metadatos por celda (Beta).</a:t>
            </a:r>
            <a:endParaRPr lang="en-US" sz="980" dirty="0"/>
          </a:p>
        </p:txBody>
      </p:sp>
      <p:sp>
        <p:nvSpPr>
          <p:cNvPr id="34" name="Shape 32"/>
          <p:cNvSpPr/>
          <p:nvPr/>
        </p:nvSpPr>
        <p:spPr>
          <a:xfrm>
            <a:off x="6263640" y="1417320"/>
            <a:ext cx="5349240" cy="676656"/>
          </a:xfrm>
          <a:prstGeom prst="roundRect">
            <a:avLst>
              <a:gd name="adj" fmla="val 9459"/>
            </a:avLst>
          </a:prstGeom>
          <a:solidFill>
            <a:srgbClr val="FFFFFF"/>
          </a:solidFill>
          <a:ln/>
          <a:effectLst>
            <a:outerShdw sx="100000" sy="100000" kx="0" ky="0" algn="bl" rotWithShape="0" blurRad="50800" dist="12700" dir="5400000">
              <a:srgbClr val="1F4744">
                <a:alpha val="8000"/>
              </a:srgbClr>
            </a:outerShdw>
          </a:effectLst>
        </p:spPr>
      </p:sp>
      <p:sp>
        <p:nvSpPr>
          <p:cNvPr id="35" name="Shape 33"/>
          <p:cNvSpPr/>
          <p:nvPr/>
        </p:nvSpPr>
        <p:spPr>
          <a:xfrm>
            <a:off x="6391656" y="1517904"/>
            <a:ext cx="457200" cy="457200"/>
          </a:xfrm>
          <a:prstGeom prst="ellipse">
            <a:avLst/>
          </a:prstGeom>
          <a:solidFill>
            <a:srgbClr val="028090"/>
          </a:solidFill>
          <a:ln/>
        </p:spPr>
      </p:sp>
      <p:sp>
        <p:nvSpPr>
          <p:cNvPr id="36" name="Text 34"/>
          <p:cNvSpPr/>
          <p:nvPr/>
        </p:nvSpPr>
        <p:spPr>
          <a:xfrm>
            <a:off x="6391656" y="1517904"/>
            <a:ext cx="457200" cy="457200"/>
          </a:xfrm>
          <a:prstGeom prst="rect">
            <a:avLst/>
          </a:prstGeom>
          <a:noFill/>
          <a:ln/>
        </p:spPr>
        <p:txBody>
          <a:bodyPr wrap="square"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37" name="Text 35"/>
          <p:cNvSpPr/>
          <p:nvPr/>
        </p:nvSpPr>
        <p:spPr>
          <a:xfrm>
            <a:off x="6976872" y="1463040"/>
            <a:ext cx="4480560" cy="292608"/>
          </a:xfrm>
          <a:prstGeom prst="rect">
            <a:avLst/>
          </a:prstGeom>
          <a:noFill/>
          <a:ln/>
        </p:spPr>
        <p:txBody>
          <a:bodyPr wrap="square" rtlCol="0" anchor="ctr"/>
          <a:lstStyle/>
          <a:p>
            <a:pPr indent="0" marL="0">
              <a:buNone/>
            </a:pPr>
            <a:r>
              <a:rPr lang="en-US" sz="1300" b="1" dirty="0">
                <a:solidFill>
                  <a:srgbClr val="16302F"/>
                </a:solidFill>
                <a:latin typeface="Calibri" pitchFamily="34" charset="0"/>
                <a:ea typeface="Calibri" pitchFamily="34" charset="-122"/>
                <a:cs typeface="Calibri" pitchFamily="34" charset="-120"/>
              </a:rPr>
              <a:t>Verify</a:t>
            </a:r>
            <a:endParaRPr lang="en-US" sz="1300" dirty="0"/>
          </a:p>
        </p:txBody>
      </p:sp>
      <p:sp>
        <p:nvSpPr>
          <p:cNvPr id="38" name="Text 36"/>
          <p:cNvSpPr/>
          <p:nvPr/>
        </p:nvSpPr>
        <p:spPr>
          <a:xfrm>
            <a:off x="6976872" y="1737360"/>
            <a:ext cx="4480560" cy="365760"/>
          </a:xfrm>
          <a:prstGeom prst="rect">
            <a:avLst/>
          </a:prstGeom>
          <a:noFill/>
          <a:ln/>
        </p:spPr>
        <p:txBody>
          <a:bodyPr wrap="square" rtlCol="0" anchor="ctr"/>
          <a:lstStyle/>
          <a:p>
            <a:pPr indent="0" marL="0">
              <a:lnSpc>
                <a:spcPct val="100000"/>
              </a:lnSpc>
              <a:buNone/>
            </a:pPr>
            <a:r>
              <a:rPr lang="en-US" sz="980" dirty="0">
                <a:solidFill>
                  <a:srgbClr val="5B6E6C"/>
                </a:solidFill>
                <a:latin typeface="Calibri" pitchFamily="34" charset="0"/>
                <a:ea typeface="Calibri" pitchFamily="34" charset="-122"/>
                <a:cs typeface="Calibri" pitchFamily="34" charset="-120"/>
              </a:rPr>
              <a:t>Revisá y validá visualmente que el resultado del parseo sea correcto antes de usarlo (Preview).</a:t>
            </a:r>
            <a:endParaRPr lang="en-US" sz="980" dirty="0"/>
          </a:p>
        </p:txBody>
      </p:sp>
      <p:sp>
        <p:nvSpPr>
          <p:cNvPr id="39" name="Shape 37"/>
          <p:cNvSpPr/>
          <p:nvPr/>
        </p:nvSpPr>
        <p:spPr>
          <a:xfrm>
            <a:off x="6263640" y="2203704"/>
            <a:ext cx="5349240" cy="676656"/>
          </a:xfrm>
          <a:prstGeom prst="roundRect">
            <a:avLst>
              <a:gd name="adj" fmla="val 9459"/>
            </a:avLst>
          </a:prstGeom>
          <a:solidFill>
            <a:srgbClr val="FFFFFF"/>
          </a:solidFill>
          <a:ln/>
          <a:effectLst>
            <a:outerShdw sx="100000" sy="100000" kx="0" ky="0" algn="bl" rotWithShape="0" blurRad="50800" dist="12700" dir="5400000">
              <a:srgbClr val="1F4744">
                <a:alpha val="8000"/>
              </a:srgbClr>
            </a:outerShdw>
          </a:effectLst>
        </p:spPr>
      </p:sp>
      <p:sp>
        <p:nvSpPr>
          <p:cNvPr id="40" name="Shape 38"/>
          <p:cNvSpPr/>
          <p:nvPr/>
        </p:nvSpPr>
        <p:spPr>
          <a:xfrm>
            <a:off x="6391656" y="2304288"/>
            <a:ext cx="457200" cy="457200"/>
          </a:xfrm>
          <a:prstGeom prst="ellipse">
            <a:avLst/>
          </a:prstGeom>
          <a:solidFill>
            <a:srgbClr val="028090"/>
          </a:solidFill>
          <a:ln/>
        </p:spPr>
      </p:sp>
      <p:sp>
        <p:nvSpPr>
          <p:cNvPr id="41" name="Text 39"/>
          <p:cNvSpPr/>
          <p:nvPr/>
        </p:nvSpPr>
        <p:spPr>
          <a:xfrm>
            <a:off x="6391656" y="2304288"/>
            <a:ext cx="457200" cy="457200"/>
          </a:xfrm>
          <a:prstGeom prst="rect">
            <a:avLst/>
          </a:prstGeom>
          <a:noFill/>
          <a:ln/>
        </p:spPr>
        <p:txBody>
          <a:bodyPr wrap="square"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42" name="Text 40"/>
          <p:cNvSpPr/>
          <p:nvPr/>
        </p:nvSpPr>
        <p:spPr>
          <a:xfrm>
            <a:off x="6976872" y="2249424"/>
            <a:ext cx="4480560" cy="292608"/>
          </a:xfrm>
          <a:prstGeom prst="rect">
            <a:avLst/>
          </a:prstGeom>
          <a:noFill/>
          <a:ln/>
        </p:spPr>
        <p:txBody>
          <a:bodyPr wrap="square" rtlCol="0" anchor="ctr"/>
          <a:lstStyle/>
          <a:p>
            <a:pPr indent="0" marL="0">
              <a:buNone/>
            </a:pPr>
            <a:r>
              <a:rPr lang="en-US" sz="1300" b="1" dirty="0">
                <a:solidFill>
                  <a:srgbClr val="16302F"/>
                </a:solidFill>
                <a:latin typeface="Calibri" pitchFamily="34" charset="0"/>
                <a:ea typeface="Calibri" pitchFamily="34" charset="-122"/>
                <a:cs typeface="Calibri" pitchFamily="34" charset="-120"/>
              </a:rPr>
              <a:t>File System</a:t>
            </a:r>
            <a:endParaRPr lang="en-US" sz="1300" dirty="0"/>
          </a:p>
        </p:txBody>
      </p:sp>
      <p:sp>
        <p:nvSpPr>
          <p:cNvPr id="43" name="Text 41"/>
          <p:cNvSpPr/>
          <p:nvPr/>
        </p:nvSpPr>
        <p:spPr>
          <a:xfrm>
            <a:off x="6976872" y="2523744"/>
            <a:ext cx="4480560" cy="365760"/>
          </a:xfrm>
          <a:prstGeom prst="rect">
            <a:avLst/>
          </a:prstGeom>
          <a:noFill/>
          <a:ln/>
        </p:spPr>
        <p:txBody>
          <a:bodyPr wrap="square" rtlCol="0" anchor="ctr"/>
          <a:lstStyle/>
          <a:p>
            <a:pPr indent="0" marL="0">
              <a:lnSpc>
                <a:spcPct val="100000"/>
              </a:lnSpc>
              <a:buNone/>
            </a:pPr>
            <a:r>
              <a:rPr lang="en-US" sz="980" dirty="0">
                <a:solidFill>
                  <a:srgbClr val="5B6E6C"/>
                </a:solidFill>
                <a:latin typeface="Calibri" pitchFamily="34" charset="0"/>
                <a:ea typeface="Calibri" pitchFamily="34" charset="-122"/>
                <a:cs typeface="Calibri" pitchFamily="34" charset="-120"/>
              </a:rPr>
              <a:t>Administra las carpetas y archivos que subiste a la plataforma.</a:t>
            </a:r>
            <a:endParaRPr lang="en-US" sz="980" dirty="0"/>
          </a:p>
        </p:txBody>
      </p:sp>
      <p:sp>
        <p:nvSpPr>
          <p:cNvPr id="44" name="Shape 42"/>
          <p:cNvSpPr/>
          <p:nvPr/>
        </p:nvSpPr>
        <p:spPr>
          <a:xfrm>
            <a:off x="6263640" y="2990088"/>
            <a:ext cx="5349240" cy="676656"/>
          </a:xfrm>
          <a:prstGeom prst="roundRect">
            <a:avLst>
              <a:gd name="adj" fmla="val 9459"/>
            </a:avLst>
          </a:prstGeom>
          <a:solidFill>
            <a:srgbClr val="FFFFFF"/>
          </a:solidFill>
          <a:ln/>
          <a:effectLst>
            <a:outerShdw sx="100000" sy="100000" kx="0" ky="0" algn="bl" rotWithShape="0" blurRad="50800" dist="12700" dir="5400000">
              <a:srgbClr val="1F4744">
                <a:alpha val="8000"/>
              </a:srgbClr>
            </a:outerShdw>
          </a:effectLst>
        </p:spPr>
      </p:sp>
      <p:sp>
        <p:nvSpPr>
          <p:cNvPr id="45" name="Shape 43"/>
          <p:cNvSpPr/>
          <p:nvPr/>
        </p:nvSpPr>
        <p:spPr>
          <a:xfrm>
            <a:off x="6391656" y="3090672"/>
            <a:ext cx="457200" cy="457200"/>
          </a:xfrm>
          <a:prstGeom prst="ellipse">
            <a:avLst/>
          </a:prstGeom>
          <a:solidFill>
            <a:srgbClr val="028090"/>
          </a:solidFill>
          <a:ln/>
        </p:spPr>
      </p:sp>
      <p:sp>
        <p:nvSpPr>
          <p:cNvPr id="46" name="Text 44"/>
          <p:cNvSpPr/>
          <p:nvPr/>
        </p:nvSpPr>
        <p:spPr>
          <a:xfrm>
            <a:off x="6391656" y="3090672"/>
            <a:ext cx="457200" cy="457200"/>
          </a:xfrm>
          <a:prstGeom prst="rect">
            <a:avLst/>
          </a:prstGeom>
          <a:noFill/>
          <a:ln/>
        </p:spPr>
        <p:txBody>
          <a:bodyPr wrap="square"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47" name="Text 45"/>
          <p:cNvSpPr/>
          <p:nvPr/>
        </p:nvSpPr>
        <p:spPr>
          <a:xfrm>
            <a:off x="6976872" y="3035808"/>
            <a:ext cx="4480560" cy="292608"/>
          </a:xfrm>
          <a:prstGeom prst="rect">
            <a:avLst/>
          </a:prstGeom>
          <a:noFill/>
          <a:ln/>
        </p:spPr>
        <p:txBody>
          <a:bodyPr wrap="square" rtlCol="0" anchor="ctr"/>
          <a:lstStyle/>
          <a:p>
            <a:pPr indent="0" marL="0">
              <a:buNone/>
            </a:pPr>
            <a:r>
              <a:rPr lang="en-US" sz="1300" b="1" dirty="0">
                <a:solidFill>
                  <a:srgbClr val="16302F"/>
                </a:solidFill>
                <a:latin typeface="Calibri" pitchFamily="34" charset="0"/>
                <a:ea typeface="Calibri" pitchFamily="34" charset="-122"/>
                <a:cs typeface="Calibri" pitchFamily="34" charset="-120"/>
              </a:rPr>
              <a:t>Index</a:t>
            </a:r>
            <a:endParaRPr lang="en-US" sz="1300" dirty="0"/>
          </a:p>
        </p:txBody>
      </p:sp>
      <p:sp>
        <p:nvSpPr>
          <p:cNvPr id="48" name="Text 46"/>
          <p:cNvSpPr/>
          <p:nvPr/>
        </p:nvSpPr>
        <p:spPr>
          <a:xfrm>
            <a:off x="6976872" y="3310128"/>
            <a:ext cx="4480560" cy="365760"/>
          </a:xfrm>
          <a:prstGeom prst="rect">
            <a:avLst/>
          </a:prstGeom>
          <a:noFill/>
          <a:ln/>
        </p:spPr>
        <p:txBody>
          <a:bodyPr wrap="square" rtlCol="0" anchor="ctr"/>
          <a:lstStyle/>
          <a:p>
            <a:pPr indent="0" marL="0">
              <a:lnSpc>
                <a:spcPct val="100000"/>
              </a:lnSpc>
              <a:buNone/>
            </a:pPr>
            <a:r>
              <a:rPr lang="en-US" sz="980" dirty="0">
                <a:solidFill>
                  <a:srgbClr val="5B6E6C"/>
                </a:solidFill>
                <a:latin typeface="Calibri" pitchFamily="34" charset="0"/>
                <a:ea typeface="Calibri" pitchFamily="34" charset="-122"/>
                <a:cs typeface="Calibri" pitchFamily="34" charset="-120"/>
              </a:rPr>
              <a:t>Crea una base de conocimiento indexada (vector store gestionado) para consultas tipo RAG.</a:t>
            </a:r>
            <a:endParaRPr lang="en-US" sz="980" dirty="0"/>
          </a:p>
        </p:txBody>
      </p:sp>
      <p:sp>
        <p:nvSpPr>
          <p:cNvPr id="49" name="Shape 47"/>
          <p:cNvSpPr/>
          <p:nvPr/>
        </p:nvSpPr>
        <p:spPr>
          <a:xfrm>
            <a:off x="6263640" y="3776472"/>
            <a:ext cx="5349240" cy="676656"/>
          </a:xfrm>
          <a:prstGeom prst="roundRect">
            <a:avLst>
              <a:gd name="adj" fmla="val 9459"/>
            </a:avLst>
          </a:prstGeom>
          <a:solidFill>
            <a:srgbClr val="FFFFFF"/>
          </a:solidFill>
          <a:ln/>
          <a:effectLst>
            <a:outerShdw sx="100000" sy="100000" kx="0" ky="0" algn="bl" rotWithShape="0" blurRad="50800" dist="12700" dir="5400000">
              <a:srgbClr val="1F4744">
                <a:alpha val="8000"/>
              </a:srgbClr>
            </a:outerShdw>
          </a:effectLst>
        </p:spPr>
      </p:sp>
      <p:sp>
        <p:nvSpPr>
          <p:cNvPr id="50" name="Shape 48"/>
          <p:cNvSpPr/>
          <p:nvPr/>
        </p:nvSpPr>
        <p:spPr>
          <a:xfrm>
            <a:off x="6391656" y="3877056"/>
            <a:ext cx="457200" cy="457200"/>
          </a:xfrm>
          <a:prstGeom prst="ellipse">
            <a:avLst/>
          </a:prstGeom>
          <a:solidFill>
            <a:srgbClr val="028090"/>
          </a:solidFill>
          <a:ln/>
        </p:spPr>
      </p:sp>
      <p:sp>
        <p:nvSpPr>
          <p:cNvPr id="51" name="Text 49"/>
          <p:cNvSpPr/>
          <p:nvPr/>
        </p:nvSpPr>
        <p:spPr>
          <a:xfrm>
            <a:off x="6391656" y="3877056"/>
            <a:ext cx="457200" cy="457200"/>
          </a:xfrm>
          <a:prstGeom prst="rect">
            <a:avLst/>
          </a:prstGeom>
          <a:noFill/>
          <a:ln/>
        </p:spPr>
        <p:txBody>
          <a:bodyPr wrap="square"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52" name="Text 50"/>
          <p:cNvSpPr/>
          <p:nvPr/>
        </p:nvSpPr>
        <p:spPr>
          <a:xfrm>
            <a:off x="6976872" y="3822192"/>
            <a:ext cx="4480560" cy="292608"/>
          </a:xfrm>
          <a:prstGeom prst="rect">
            <a:avLst/>
          </a:prstGeom>
          <a:noFill/>
          <a:ln/>
        </p:spPr>
        <p:txBody>
          <a:bodyPr wrap="square" rtlCol="0" anchor="ctr"/>
          <a:lstStyle/>
          <a:p>
            <a:pPr indent="0" marL="0">
              <a:buNone/>
            </a:pPr>
            <a:r>
              <a:rPr lang="en-US" sz="1300" b="1" dirty="0">
                <a:solidFill>
                  <a:srgbClr val="16302F"/>
                </a:solidFill>
                <a:latin typeface="Calibri" pitchFamily="34" charset="0"/>
                <a:ea typeface="Calibri" pitchFamily="34" charset="-122"/>
                <a:cs typeface="Calibri" pitchFamily="34" charset="-120"/>
              </a:rPr>
              <a:t>Batch</a:t>
            </a:r>
            <a:endParaRPr lang="en-US" sz="1300" dirty="0"/>
          </a:p>
        </p:txBody>
      </p:sp>
      <p:sp>
        <p:nvSpPr>
          <p:cNvPr id="53" name="Text 51"/>
          <p:cNvSpPr/>
          <p:nvPr/>
        </p:nvSpPr>
        <p:spPr>
          <a:xfrm>
            <a:off x="6976872" y="4096512"/>
            <a:ext cx="4480560" cy="365760"/>
          </a:xfrm>
          <a:prstGeom prst="rect">
            <a:avLst/>
          </a:prstGeom>
          <a:noFill/>
          <a:ln/>
        </p:spPr>
        <p:txBody>
          <a:bodyPr wrap="square" rtlCol="0" anchor="ctr"/>
          <a:lstStyle/>
          <a:p>
            <a:pPr indent="0" marL="0">
              <a:lnSpc>
                <a:spcPct val="100000"/>
              </a:lnSpc>
              <a:buNone/>
            </a:pPr>
            <a:r>
              <a:rPr lang="en-US" sz="980" dirty="0">
                <a:solidFill>
                  <a:srgbClr val="5B6E6C"/>
                </a:solidFill>
                <a:latin typeface="Calibri" pitchFamily="34" charset="0"/>
                <a:ea typeface="Calibri" pitchFamily="34" charset="-122"/>
                <a:cs typeface="Calibri" pitchFamily="34" charset="-120"/>
              </a:rPr>
              <a:t>Procesa muchos documentos juntos en un solo trabajo, en lugar de uno por uno.</a:t>
            </a:r>
            <a:endParaRPr lang="en-US" sz="980" dirty="0"/>
          </a:p>
        </p:txBody>
      </p:sp>
      <p:sp>
        <p:nvSpPr>
          <p:cNvPr id="54" name="Shape 52"/>
          <p:cNvSpPr/>
          <p:nvPr/>
        </p:nvSpPr>
        <p:spPr>
          <a:xfrm>
            <a:off x="6263640" y="4562856"/>
            <a:ext cx="5349240" cy="676656"/>
          </a:xfrm>
          <a:prstGeom prst="roundRect">
            <a:avLst>
              <a:gd name="adj" fmla="val 9459"/>
            </a:avLst>
          </a:prstGeom>
          <a:solidFill>
            <a:srgbClr val="FFFFFF"/>
          </a:solidFill>
          <a:ln/>
          <a:effectLst>
            <a:outerShdw sx="100000" sy="100000" kx="0" ky="0" algn="bl" rotWithShape="0" blurRad="50800" dist="12700" dir="5400000">
              <a:srgbClr val="1F4744">
                <a:alpha val="8000"/>
              </a:srgbClr>
            </a:outerShdw>
          </a:effectLst>
        </p:spPr>
      </p:sp>
      <p:sp>
        <p:nvSpPr>
          <p:cNvPr id="55" name="Shape 53"/>
          <p:cNvSpPr/>
          <p:nvPr/>
        </p:nvSpPr>
        <p:spPr>
          <a:xfrm>
            <a:off x="6391656" y="4663440"/>
            <a:ext cx="457200" cy="457200"/>
          </a:xfrm>
          <a:prstGeom prst="ellipse">
            <a:avLst/>
          </a:prstGeom>
          <a:solidFill>
            <a:srgbClr val="028090"/>
          </a:solidFill>
          <a:ln/>
        </p:spPr>
      </p:sp>
      <p:sp>
        <p:nvSpPr>
          <p:cNvPr id="56" name="Text 54"/>
          <p:cNvSpPr/>
          <p:nvPr/>
        </p:nvSpPr>
        <p:spPr>
          <a:xfrm>
            <a:off x="6391656" y="4663440"/>
            <a:ext cx="457200" cy="457200"/>
          </a:xfrm>
          <a:prstGeom prst="rect">
            <a:avLst/>
          </a:prstGeom>
          <a:noFill/>
          <a:ln/>
        </p:spPr>
        <p:txBody>
          <a:bodyPr wrap="square"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57" name="Text 55"/>
          <p:cNvSpPr/>
          <p:nvPr/>
        </p:nvSpPr>
        <p:spPr>
          <a:xfrm>
            <a:off x="6976872" y="4608576"/>
            <a:ext cx="4480560" cy="292608"/>
          </a:xfrm>
          <a:prstGeom prst="rect">
            <a:avLst/>
          </a:prstGeom>
          <a:noFill/>
          <a:ln/>
        </p:spPr>
        <p:txBody>
          <a:bodyPr wrap="square" rtlCol="0" anchor="ctr"/>
          <a:lstStyle/>
          <a:p>
            <a:pPr indent="0" marL="0">
              <a:buNone/>
            </a:pPr>
            <a:r>
              <a:rPr lang="en-US" sz="1300" b="1" dirty="0">
                <a:solidFill>
                  <a:srgbClr val="16302F"/>
                </a:solidFill>
                <a:latin typeface="Calibri" pitchFamily="34" charset="0"/>
                <a:ea typeface="Calibri" pitchFamily="34" charset="-122"/>
                <a:cs typeface="Calibri" pitchFamily="34" charset="-120"/>
              </a:rPr>
              <a:t>Agents</a:t>
            </a:r>
            <a:endParaRPr lang="en-US" sz="1300" dirty="0"/>
          </a:p>
        </p:txBody>
      </p:sp>
      <p:sp>
        <p:nvSpPr>
          <p:cNvPr id="58" name="Text 56"/>
          <p:cNvSpPr/>
          <p:nvPr/>
        </p:nvSpPr>
        <p:spPr>
          <a:xfrm>
            <a:off x="6976872" y="4882896"/>
            <a:ext cx="4480560" cy="365760"/>
          </a:xfrm>
          <a:prstGeom prst="rect">
            <a:avLst/>
          </a:prstGeom>
          <a:noFill/>
          <a:ln/>
        </p:spPr>
        <p:txBody>
          <a:bodyPr wrap="square" rtlCol="0" anchor="ctr"/>
          <a:lstStyle/>
          <a:p>
            <a:pPr indent="0" marL="0">
              <a:lnSpc>
                <a:spcPct val="100000"/>
              </a:lnSpc>
              <a:buNone/>
            </a:pPr>
            <a:r>
              <a:rPr lang="en-US" sz="980" dirty="0">
                <a:solidFill>
                  <a:srgbClr val="5B6E6C"/>
                </a:solidFill>
                <a:latin typeface="Calibri" pitchFamily="34" charset="0"/>
                <a:ea typeface="Calibri" pitchFamily="34" charset="-122"/>
                <a:cs typeface="Calibri" pitchFamily="34" charset="-120"/>
              </a:rPr>
              <a:t>Arma agentes que combinan Parse/Extract/Split/Index para flujos documentales completos (Beta).</a:t>
            </a:r>
            <a:endParaRPr lang="en-US" sz="980" dirty="0"/>
          </a:p>
        </p:txBody>
      </p:sp>
      <p:sp>
        <p:nvSpPr>
          <p:cNvPr id="59" name="Text 57"/>
          <p:cNvSpPr/>
          <p:nvPr/>
        </p:nvSpPr>
        <p:spPr>
          <a:xfrm>
            <a:off x="548640" y="6400800"/>
            <a:ext cx="11064240" cy="320040"/>
          </a:xfrm>
          <a:prstGeom prst="rect">
            <a:avLst/>
          </a:prstGeom>
          <a:noFill/>
          <a:ln/>
        </p:spPr>
        <p:txBody>
          <a:bodyPr wrap="square" rtlCol="0" anchor="ctr"/>
          <a:lstStyle/>
          <a:p>
            <a:pPr indent="0" marL="0">
              <a:buNone/>
            </a:pPr>
            <a:r>
              <a:rPr lang="en-US" sz="1000" i="1" dirty="0">
                <a:solidFill>
                  <a:srgbClr val="5B6E6C"/>
                </a:solidFill>
                <a:latin typeface="Calibri" pitchFamily="34" charset="0"/>
                <a:ea typeface="Calibri" pitchFamily="34" charset="-122"/>
                <a:cs typeface="Calibri" pitchFamily="34" charset="-120"/>
              </a:rPr>
              <a:t>Verify y Batch pueden aparecer marcados como "Preview"/Beta según tu plan.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2026-08-24T03:03:11Z</dcterms:created>
  <dcterms:modified xsi:type="dcterms:W3CDTF">2026-08-24T03:03:11Z</dcterms:modified>
</cp:coreProperties>
</file>