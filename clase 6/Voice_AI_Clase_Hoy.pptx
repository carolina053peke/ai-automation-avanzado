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3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057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Voice AI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4285F4"/>
                </a:solidFill>
              </a:rPr>
              <a:t>STT • Procesamiento • TTS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AAAAA"/>
                </a:solidFill>
              </a:rPr>
              <a:t>Módulo 6: Voz en Canales de Mensajería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</a:rPr>
              <a:t>Coderhouse | n8n Automation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0204A09-FA6B-3096-B329-731BF69EF037}"/>
              </a:ext>
            </a:extLst>
          </p:cNvPr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FE25D1-E768-3124-6E72-456D07478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2" y="243061"/>
            <a:ext cx="4207271" cy="420727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7CBB7BA-37EF-2D8A-E4BE-D12B7E34D5BB}"/>
              </a:ext>
            </a:extLst>
          </p:cNvPr>
          <p:cNvSpPr txBox="1"/>
          <p:nvPr/>
        </p:nvSpPr>
        <p:spPr>
          <a:xfrm>
            <a:off x="4383788" y="1169672"/>
            <a:ext cx="457200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s-AR" sz="1500" b="1" u="none" strike="noStrike" dirty="0">
                <a:effectLst/>
                <a:latin typeface="Google Sans"/>
              </a:rPr>
              <a:t>La jerarquía de la Inteligencia Artificial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AR" sz="1200" b="1" u="none" strike="noStrike" dirty="0">
                <a:effectLst/>
                <a:latin typeface="Google Sans"/>
              </a:rPr>
              <a:t>IA:</a:t>
            </a:r>
            <a:r>
              <a:rPr lang="es-AR" sz="1200" b="0" u="none" strike="noStrike" dirty="0">
                <a:effectLst/>
                <a:latin typeface="Google Sans"/>
              </a:rPr>
              <a:t> El concepto general de crear máquinas inteligentes.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AR" sz="1200" b="1" u="none" strike="noStrike" dirty="0">
                <a:effectLst/>
                <a:latin typeface="Google Sans"/>
              </a:rPr>
              <a:t>Machine </a:t>
            </a:r>
            <a:r>
              <a:rPr lang="es-AR" sz="1200" b="1" u="none" strike="noStrike" dirty="0" err="1">
                <a:effectLst/>
                <a:latin typeface="Google Sans"/>
              </a:rPr>
              <a:t>Learning</a:t>
            </a:r>
            <a:r>
              <a:rPr lang="es-AR" sz="1200" b="1" u="none" strike="noStrike" dirty="0">
                <a:effectLst/>
                <a:latin typeface="Google Sans"/>
              </a:rPr>
              <a:t>:</a:t>
            </a:r>
            <a:r>
              <a:rPr lang="es-AR" sz="1200" b="0" u="none" strike="noStrike" dirty="0">
                <a:effectLst/>
                <a:latin typeface="Google Sans"/>
              </a:rPr>
              <a:t> Una rama de la IA donde la máquina aprende sola analizando datos.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AR" sz="1200" b="1" u="none" strike="noStrike" dirty="0">
                <a:effectLst/>
                <a:latin typeface="Google Sans"/>
              </a:rPr>
              <a:t>Deep </a:t>
            </a:r>
            <a:r>
              <a:rPr lang="es-AR" sz="1200" b="1" u="none" strike="noStrike" dirty="0" err="1">
                <a:effectLst/>
                <a:latin typeface="Google Sans"/>
              </a:rPr>
              <a:t>Learning</a:t>
            </a:r>
            <a:r>
              <a:rPr lang="es-AR" sz="1200" b="1" u="none" strike="noStrike" dirty="0">
                <a:effectLst/>
                <a:latin typeface="Google Sans"/>
              </a:rPr>
              <a:t>:</a:t>
            </a:r>
            <a:r>
              <a:rPr lang="es-AR" sz="1200" b="0" u="none" strike="noStrike" dirty="0">
                <a:effectLst/>
                <a:latin typeface="Google Sans"/>
              </a:rPr>
              <a:t> Machine </a:t>
            </a:r>
            <a:r>
              <a:rPr lang="es-AR" sz="1200" b="0" u="none" strike="noStrike" dirty="0" err="1">
                <a:effectLst/>
                <a:latin typeface="Google Sans"/>
              </a:rPr>
              <a:t>Learning</a:t>
            </a:r>
            <a:r>
              <a:rPr lang="es-AR" sz="1200" b="0" u="none" strike="noStrike" dirty="0">
                <a:effectLst/>
                <a:latin typeface="Google Sans"/>
              </a:rPr>
              <a:t> avanzado que usa "neuronas artificiales" para procesar datos complejos.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AR" sz="1200" b="1" u="none" strike="noStrike" dirty="0">
                <a:effectLst/>
                <a:latin typeface="Google Sans"/>
              </a:rPr>
              <a:t>IA Generativa:</a:t>
            </a:r>
            <a:r>
              <a:rPr lang="es-AR" sz="1200" b="0" u="none" strike="noStrike" dirty="0">
                <a:effectLst/>
                <a:latin typeface="Google Sans"/>
              </a:rPr>
              <a:t> Un tipo de Deep </a:t>
            </a:r>
            <a:r>
              <a:rPr lang="es-AR" sz="1200" b="0" u="none" strike="noStrike" dirty="0" err="1">
                <a:effectLst/>
                <a:latin typeface="Google Sans"/>
              </a:rPr>
              <a:t>Learning</a:t>
            </a:r>
            <a:r>
              <a:rPr lang="es-AR" sz="1200" b="0" u="none" strike="noStrike" dirty="0">
                <a:effectLst/>
                <a:latin typeface="Google Sans"/>
              </a:rPr>
              <a:t> que crea contenido nuevo desde cero (textos, imágenes, audio).</a:t>
            </a:r>
          </a:p>
        </p:txBody>
      </p:sp>
    </p:spTree>
    <p:extLst>
      <p:ext uri="{BB962C8B-B14F-4D97-AF65-F5344CB8AC3E}">
        <p14:creationId xmlns:p14="http://schemas.microsoft.com/office/powerpoint/2010/main" val="1294028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F1C4-C1E8-0C30-E4EC-F9F58BB7B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82D83CF-DD93-CDCC-53F1-FC4E9CD05C4B}"/>
              </a:ext>
            </a:extLst>
          </p:cNvPr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D428922-3419-AFB5-1E74-3B41D2CF8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288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7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02124"/>
                </a:solidFill>
              </a:rPr>
              <a:t>¿Qué es Voice AI?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285F4"/>
                </a:solidFill>
              </a:rPr>
              <a:t>Sistema de IA que procesa audio en TIEMPO REAL para entender, procesar y responder en lenguaje natural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097280" cy="10972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🎤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Audio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2651760"/>
            <a:ext cx="457200" cy="0"/>
          </a:xfrm>
          <a:prstGeom prst="line">
            <a:avLst/>
          </a:prstGeom>
          <a:noFill/>
          <a:ln w="25400">
            <a:solidFill>
              <a:srgbClr val="20212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1645920" y="2468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377440" y="210312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237744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⚙️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Procesa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468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89120" y="2103120"/>
            <a:ext cx="1097280" cy="109728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438912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🔊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Responde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</a:rPr>
              <a:t>3 Pilares Tecnológicos: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4297680"/>
            <a:ext cx="2011680" cy="6400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 txBox="1"/>
          <p:nvPr/>
        </p:nvSpPr>
        <p:spPr>
          <a:xfrm>
            <a:off x="91440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3E8"/>
                </a:solidFill>
              </a:rPr>
              <a:t>STT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124"/>
                </a:solidFill>
              </a:rPr>
              <a:t>Speech to Text (Transcribe)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4297680"/>
            <a:ext cx="2011680" cy="6400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 txBox="1"/>
          <p:nvPr/>
        </p:nvSpPr>
        <p:spPr>
          <a:xfrm>
            <a:off x="347472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3E8"/>
                </a:solidFill>
              </a:rPr>
              <a:t>LLM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124"/>
                </a:solidFill>
              </a:rPr>
              <a:t>Procesa con 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4297680"/>
            <a:ext cx="2011680" cy="6400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 txBox="1"/>
          <p:nvPr/>
        </p:nvSpPr>
        <p:spPr>
          <a:xfrm>
            <a:off x="603504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3E8"/>
                </a:solidFill>
              </a:rPr>
              <a:t>TTS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124"/>
                </a:solidFill>
              </a:rPr>
              <a:t>Text to Speech (Síntesis)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4335"/>
                </a:solidFill>
              </a:rPr>
              <a:t>STT: Speech to Text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4335"/>
                </a:solidFill>
              </a:rPr>
              <a:t>Entrada: Audio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🎤 Archivo .ogg, .mp3, .wav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📊 Máx 25 MB (OpenAI Whisper)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🌍 Soporta 99 idiomas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⚡ Latencia &lt;2 segundos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C04"/>
                </a:solidFill>
              </a:rPr>
              <a:t>Salida: Texto Transcrito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828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02124"/>
                </a:solidFill>
              </a:rPr>
              <a:t>"Bueno, necesito una factura con mis datos"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A853"/>
                </a:solidFill>
              </a:rPr>
              <a:t>100% legible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A853"/>
                </a:solidFill>
              </a:rPr>
              <a:t>Sin errores críticos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640080" y="4800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Tecnología: OpenAI Whisper (Groq) | Modelo: whisper-large-v3-turbo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BBC04"/>
                </a:solidFill>
              </a:rPr>
              <a:t>TTS: Text to Speech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1FA2"/>
                </a:solidFill>
              </a:rPr>
              <a:t>Entrada: Texto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02124"/>
                </a:solidFill>
              </a:rPr>
              <a:t>"Su factura está lista. Se envió a su email."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1FA2"/>
                </a:solidFill>
              </a:rPr>
              <a:t>Max 200 caracteres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4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1FA2"/>
                </a:solidFill>
              </a:rPr>
              <a:t>Para respuestas breves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A853"/>
                </a:solidFill>
              </a:rPr>
              <a:t>Salida: Audio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🔊 Archivo .mp3 de 15-20 seg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👥 6 voces diferentes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⚙️ Velocidad ajustable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🎵 Tono natural y fluido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BBC0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640080" y="4800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</a:rPr>
              <a:t>🔧 Tecnología: OpenAI Text-to-Speech | Voces: nova, alloy, echo, fable, onyx, shimmer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73E8"/>
                </a:solidFill>
              </a:rPr>
              <a:t>Procesamiento en TIEMPO REAL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73152"/>
          </a:xfrm>
          <a:prstGeom prst="line">
            <a:avLst/>
          </a:prstGeom>
          <a:noFill/>
          <a:ln w="38100">
            <a:solidFill>
              <a:srgbClr val="20212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28600" cy="22860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4335"/>
                </a:solidFill>
              </a:rPr>
              <a:t>0ms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3200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124"/>
                </a:solidFill>
              </a:rPr>
              <a:t>Usuario envía audio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2468880"/>
            <a:ext cx="228600" cy="22860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3017520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C04"/>
                </a:solidFill>
              </a:rPr>
              <a:t>500ms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200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124"/>
                </a:solidFill>
              </a:rPr>
              <a:t>STT procesa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2468880"/>
            <a:ext cx="228600" cy="22860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5577840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A853"/>
                </a:solidFill>
              </a:rPr>
              <a:t>1000ms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3200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124"/>
                </a:solidFill>
              </a:rPr>
              <a:t>LLM responde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21040" y="2468880"/>
            <a:ext cx="228600" cy="22860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8138160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1FA2"/>
                </a:solidFill>
              </a:rPr>
              <a:t>1500ms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3200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124"/>
                </a:solidFill>
              </a:rPr>
              <a:t>TTS genera audio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8229600" cy="1280160"/>
          </a:xfrm>
          <a:prstGeom prst="roundRect">
            <a:avLst>
              <a:gd name="adj" fmla="val 1071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914400" y="37536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</a:rPr>
              <a:t>⚡ Latencia Total: &lt;2 segundos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A853"/>
                </a:solidFill>
              </a:rPr>
              <a:t>📊 Precisión STT: &gt;95%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C04"/>
                </a:solidFill>
              </a:rPr>
              <a:t>🎤 Voz Natural: Imperceptible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02124"/>
                </a:solidFill>
              </a:rPr>
              <a:t>El usuario experimenta una conversación fluida sin interrupciones perceptibles entre STT, procesamiento e TTS.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El Flujo Completo en n8n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Telegram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9FA"/>
                </a:solidFill>
              </a:rPr>
              <a:t>Recibe audio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6002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11680" y="13716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EA433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201168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Whisper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9FA"/>
                </a:solidFill>
              </a:rPr>
              <a:t>Transcribe STT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002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356616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Groq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9FA"/>
                </a:solidFill>
              </a:rPr>
              <a:t>LLM procesador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6002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20640" y="13716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FBBC0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512064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OpenAI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9FA"/>
                </a:solidFill>
              </a:rPr>
              <a:t>Genera TTS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16002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75120" y="13716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667512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Telegram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9FA"/>
                </a:solidFill>
              </a:rPr>
              <a:t>Envía audio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731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Usuario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🎧 Usuario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8229600" cy="1645920"/>
          </a:xfrm>
          <a:prstGeom prst="roundRect">
            <a:avLst>
              <a:gd name="adj" fmla="val 8333"/>
            </a:avLst>
          </a:prstGeom>
          <a:solidFill>
            <a:srgbClr val="1A1A2E"/>
          </a:solidFill>
          <a:ln w="254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731520" y="3017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</a:rPr>
              <a:t>Integraciones Técnicas Clave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📍 HTTP Bearer Auth para APIs de Groq y OpenAI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🔄 Form-Data para envío de binarios (audio .ogg)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⚡ Latencia optimizada con keep-alive y timeout cortos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73E8"/>
                </a:solidFill>
              </a:rPr>
              <a:t>Casos de Uso en Producción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377440" cy="2011680"/>
          </a:xfrm>
          <a:prstGeom prst="roundRect">
            <a:avLst>
              <a:gd name="adj" fmla="val 681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🏦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3E8"/>
                </a:solidFill>
              </a:rPr>
              <a:t>Banca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124"/>
                </a:solidFill>
              </a:rPr>
              <a:t>Consultas de saldo, transferencias, reclamos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188720"/>
            <a:ext cx="2377440" cy="2011680"/>
          </a:xfrm>
          <a:prstGeom prst="roundRect">
            <a:avLst>
              <a:gd name="adj" fmla="val 681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301752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🏥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3E8"/>
                </a:solidFill>
              </a:rPr>
              <a:t>Salud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148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124"/>
                </a:solidFill>
              </a:rPr>
              <a:t>Triaje de pacientes, citas, recetas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188720"/>
            <a:ext cx="2377440" cy="2011680"/>
          </a:xfrm>
          <a:prstGeom prst="roundRect">
            <a:avLst>
              <a:gd name="adj" fmla="val 681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557784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📦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3E8"/>
                </a:solidFill>
              </a:rPr>
              <a:t>Logística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148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124"/>
                </a:solidFill>
              </a:rPr>
              <a:t>Seguimiento de paquetes, entregas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731520" y="3520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A853"/>
                </a:solidFill>
              </a:rPr>
              <a:t>✨ Beneficios Clave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86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</a:rPr>
              <a:t>🚀 Experiencia UX 10x mejor: conversación natural sin escribir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60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</a:rPr>
              <a:t>📱 Accesible: funciona en WhatsApp, Telegram, y canales futuros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434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</a:rPr>
              <a:t>💰 ROI: reducción de llamadas, conversión más rápida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Resumen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371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9FA"/>
                </a:solidFill>
              </a:rPr>
              <a:t>Audio → Texto (Whisper)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LLM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9FA"/>
                </a:solidFill>
              </a:rPr>
              <a:t>Procesamiento inteligente (Groq)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9FA"/>
                </a:solidFill>
              </a:rPr>
              <a:t>Texto → Audio (OpenAI)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Real-Time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9FA"/>
                </a:solidFill>
              </a:rPr>
              <a:t>&lt;2 segundos de latencia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A433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🎤 El futuro de la interacción humano-máquina está aquí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503</Words>
  <Application>Microsoft Office PowerPoint</Application>
  <PresentationFormat>Presentación en pantalla (16:9)</PresentationFormat>
  <Paragraphs>118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Google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Carolina Lemes</cp:lastModifiedBy>
  <cp:revision>2</cp:revision>
  <dcterms:created xsi:type="dcterms:W3CDTF">2026-08-26T21:30:20Z</dcterms:created>
  <dcterms:modified xsi:type="dcterms:W3CDTF">2026-08-27T00:23:14Z</dcterms:modified>
</cp:coreProperties>
</file>