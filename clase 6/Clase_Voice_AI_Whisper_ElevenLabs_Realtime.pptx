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66" r:id="rId16"/>
    <p:sldId id="267" r:id="rId17"/>
    <p:sldId id="270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8ACED-4782-4BB6-9EDE-B62D4A6E9962}" v="3" dt="2026-09-29T22:09:26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86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1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Lemes" userId="5ff4adf7-3f42-47aa-9bbb-c804149ba722" providerId="ADAL" clId="{038C700E-1A2C-4CED-B6FD-C04E68F3B4BE}"/>
    <pc:docChg chg="undo custSel addSld delSld modSld sldOrd">
      <pc:chgData name="Carolina Lemes" userId="5ff4adf7-3f42-47aa-9bbb-c804149ba722" providerId="ADAL" clId="{038C700E-1A2C-4CED-B6FD-C04E68F3B4BE}" dt="2026-09-29T22:09:26.102" v="85"/>
      <pc:docMkLst>
        <pc:docMk/>
      </pc:docMkLst>
      <pc:sldChg chg="modSp mod">
        <pc:chgData name="Carolina Lemes" userId="5ff4adf7-3f42-47aa-9bbb-c804149ba722" providerId="ADAL" clId="{038C700E-1A2C-4CED-B6FD-C04E68F3B4BE}" dt="2026-09-29T21:51:47.119" v="14" actId="1076"/>
        <pc:sldMkLst>
          <pc:docMk/>
          <pc:sldMk cId="0" sldId="256"/>
        </pc:sldMkLst>
        <pc:spChg chg="mod">
          <ac:chgData name="Carolina Lemes" userId="5ff4adf7-3f42-47aa-9bbb-c804149ba722" providerId="ADAL" clId="{038C700E-1A2C-4CED-B6FD-C04E68F3B4BE}" dt="2026-09-29T21:51:47.119" v="1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1:47.119" v="1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1:47.119" v="14" actId="107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9T21:52:19.465" v="54" actId="1037"/>
        <pc:sldMkLst>
          <pc:docMk/>
          <pc:sldMk cId="0" sldId="257"/>
        </pc:sldMkLst>
        <pc:spChg chg="mod">
          <ac:chgData name="Carolina Lemes" userId="5ff4adf7-3f42-47aa-9bbb-c804149ba722" providerId="ADAL" clId="{038C700E-1A2C-4CED-B6FD-C04E68F3B4BE}" dt="2026-09-29T21:52:19.465" v="54" actId="1037"/>
          <ac:spMkLst>
            <pc:docMk/>
            <pc:sldMk cId="0" sldId="257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19.465" v="54" actId="1037"/>
          <ac:spMkLst>
            <pc:docMk/>
            <pc:sldMk cId="0" sldId="257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19.465" v="54" actId="103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19.465" v="54" actId="103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9T21:52:37.776" v="55" actId="403"/>
        <pc:sldMkLst>
          <pc:docMk/>
          <pc:sldMk cId="0" sldId="260"/>
        </pc:sldMkLst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37.776" v="55" actId="403"/>
          <ac:spMkLst>
            <pc:docMk/>
            <pc:sldMk cId="0" sldId="260"/>
            <ac:spMk id="14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9T21:52:46.277" v="56" actId="403"/>
        <pc:sldMkLst>
          <pc:docMk/>
          <pc:sldMk cId="0" sldId="261"/>
        </pc:sldMkLst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46.277" v="56" actId="403"/>
          <ac:spMkLst>
            <pc:docMk/>
            <pc:sldMk cId="0" sldId="261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9T21:52:52.530" v="57" actId="403"/>
        <pc:sldMkLst>
          <pc:docMk/>
          <pc:sldMk cId="0" sldId="262"/>
        </pc:sldMkLst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2.530" v="57" actId="403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9T21:52:58.939" v="58" actId="403"/>
        <pc:sldMkLst>
          <pc:docMk/>
          <pc:sldMk cId="0" sldId="263"/>
        </pc:sldMkLst>
        <pc:spChg chg="mod">
          <ac:chgData name="Carolina Lemes" userId="5ff4adf7-3f42-47aa-9bbb-c804149ba722" providerId="ADAL" clId="{038C700E-1A2C-4CED-B6FD-C04E68F3B4BE}" dt="2026-09-29T21:52:58.939" v="58" actId="403"/>
          <ac:spMkLst>
            <pc:docMk/>
            <pc:sldMk cId="0" sldId="263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8.939" v="58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8.939" v="58" actId="40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8.939" v="58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8.939" v="58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2:58.939" v="58" actId="403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29T21:53:16.046" v="61"/>
        <pc:sldMkLst>
          <pc:docMk/>
          <pc:sldMk cId="0" sldId="264"/>
        </pc:sldMkLst>
        <pc:graphicFrameChg chg="mod modGraphic">
          <ac:chgData name="Carolina Lemes" userId="5ff4adf7-3f42-47aa-9bbb-c804149ba722" providerId="ADAL" clId="{038C700E-1A2C-4CED-B6FD-C04E68F3B4BE}" dt="2026-09-29T21:53:16.046" v="61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  <pc:sldChg chg="modSp mod">
        <pc:chgData name="Carolina Lemes" userId="5ff4adf7-3f42-47aa-9bbb-c804149ba722" providerId="ADAL" clId="{038C700E-1A2C-4CED-B6FD-C04E68F3B4BE}" dt="2026-09-29T21:53:44.188" v="69"/>
        <pc:sldMkLst>
          <pc:docMk/>
          <pc:sldMk cId="0" sldId="265"/>
        </pc:sldMkLst>
        <pc:graphicFrameChg chg="mod modGraphic">
          <ac:chgData name="Carolina Lemes" userId="5ff4adf7-3f42-47aa-9bbb-c804149ba722" providerId="ADAL" clId="{038C700E-1A2C-4CED-B6FD-C04E68F3B4BE}" dt="2026-09-29T21:53:44.188" v="69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modSp mod ord">
        <pc:chgData name="Carolina Lemes" userId="5ff4adf7-3f42-47aa-9bbb-c804149ba722" providerId="ADAL" clId="{038C700E-1A2C-4CED-B6FD-C04E68F3B4BE}" dt="2026-09-29T21:54:36.927" v="73"/>
        <pc:sldMkLst>
          <pc:docMk/>
          <pc:sldMk cId="0" sldId="266"/>
        </pc:sldMkLst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1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2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2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2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3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3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14.878" v="71" actId="403"/>
          <ac:spMkLst>
            <pc:docMk/>
            <pc:sldMk cId="0" sldId="266"/>
            <ac:spMk id="37" creationId="{00000000-0000-0000-0000-000000000000}"/>
          </ac:spMkLst>
        </pc:spChg>
      </pc:sldChg>
      <pc:sldChg chg="ord">
        <pc:chgData name="Carolina Lemes" userId="5ff4adf7-3f42-47aa-9bbb-c804149ba722" providerId="ADAL" clId="{038C700E-1A2C-4CED-B6FD-C04E68F3B4BE}" dt="2026-09-29T21:54:56.578" v="78"/>
        <pc:sldMkLst>
          <pc:docMk/>
          <pc:sldMk cId="0" sldId="267"/>
        </pc:sldMkLst>
      </pc:sldChg>
      <pc:sldChg chg="modSp mod">
        <pc:chgData name="Carolina Lemes" userId="5ff4adf7-3f42-47aa-9bbb-c804149ba722" providerId="ADAL" clId="{038C700E-1A2C-4CED-B6FD-C04E68F3B4BE}" dt="2026-09-29T21:54:49.194" v="74" actId="403"/>
        <pc:sldMkLst>
          <pc:docMk/>
          <pc:sldMk cId="0" sldId="268"/>
        </pc:sldMkLst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29T21:54:49.194" v="74" actId="403"/>
          <ac:spMkLst>
            <pc:docMk/>
            <pc:sldMk cId="0" sldId="268"/>
            <ac:spMk id="15" creationId="{00000000-0000-0000-0000-000000000000}"/>
          </ac:spMkLst>
        </pc:spChg>
      </pc:sldChg>
      <pc:sldChg chg="del mod modShow">
        <pc:chgData name="Carolina Lemes" userId="5ff4adf7-3f42-47aa-9bbb-c804149ba722" providerId="ADAL" clId="{038C700E-1A2C-4CED-B6FD-C04E68F3B4BE}" dt="2026-09-29T21:55:34.692" v="83" actId="47"/>
        <pc:sldMkLst>
          <pc:docMk/>
          <pc:sldMk cId="0" sldId="271"/>
        </pc:sldMkLst>
      </pc:sldChg>
      <pc:sldChg chg="del mod modShow">
        <pc:chgData name="Carolina Lemes" userId="5ff4adf7-3f42-47aa-9bbb-c804149ba722" providerId="ADAL" clId="{038C700E-1A2C-4CED-B6FD-C04E68F3B4BE}" dt="2026-09-29T21:55:36.440" v="84" actId="47"/>
        <pc:sldMkLst>
          <pc:docMk/>
          <pc:sldMk cId="0" sldId="272"/>
        </pc:sldMkLst>
      </pc:sldChg>
      <pc:sldChg chg="ord">
        <pc:chgData name="Carolina Lemes" userId="5ff4adf7-3f42-47aa-9bbb-c804149ba722" providerId="ADAL" clId="{038C700E-1A2C-4CED-B6FD-C04E68F3B4BE}" dt="2026-09-29T21:55:32.387" v="82"/>
        <pc:sldMkLst>
          <pc:docMk/>
          <pc:sldMk cId="0" sldId="273"/>
        </pc:sldMkLst>
      </pc:sldChg>
      <pc:sldChg chg="add">
        <pc:chgData name="Carolina Lemes" userId="5ff4adf7-3f42-47aa-9bbb-c804149ba722" providerId="ADAL" clId="{038C700E-1A2C-4CED-B6FD-C04E68F3B4BE}" dt="2026-09-29T22:09:26.102" v="85"/>
        <pc:sldMkLst>
          <pc:docMk/>
          <pc:sldMk cId="1294028803" sldId="274"/>
        </pc:sldMkLst>
      </pc:sldChg>
      <pc:sldChg chg="add">
        <pc:chgData name="Carolina Lemes" userId="5ff4adf7-3f42-47aa-9bbb-c804149ba722" providerId="ADAL" clId="{038C700E-1A2C-4CED-B6FD-C04E68F3B4BE}" dt="2026-09-29T22:09:26.102" v="85"/>
        <pc:sldMkLst>
          <pc:docMk/>
          <pc:sldMk cId="2748175662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5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0204A09-FA6B-3096-B329-731BF69EF037}"/>
              </a:ext>
            </a:extLst>
          </p:cNvPr>
          <p:cNvSpPr txBox="1"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5867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FE25D1-E768-3124-6E72-456D0747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50" y="324082"/>
            <a:ext cx="5609695" cy="560969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7CBB7BA-37EF-2D8A-E4BE-D12B7E34D5BB}"/>
              </a:ext>
            </a:extLst>
          </p:cNvPr>
          <p:cNvSpPr txBox="1"/>
          <p:nvPr/>
        </p:nvSpPr>
        <p:spPr>
          <a:xfrm>
            <a:off x="5845051" y="1559563"/>
            <a:ext cx="6096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  <a:spcAft>
                <a:spcPts val="1200"/>
              </a:spcAft>
            </a:pPr>
            <a:r>
              <a:rPr lang="es-AR" sz="2000" b="1" dirty="0">
                <a:latin typeface="Google Sans"/>
              </a:rPr>
              <a:t>La jerarquía de la Inteligencia Artificial</a:t>
            </a:r>
          </a:p>
          <a:p>
            <a:pPr marL="457189" indent="-457189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latin typeface="Google Sans"/>
              </a:rPr>
              <a:t>IA:</a:t>
            </a:r>
            <a:r>
              <a:rPr lang="es-AR" sz="1600" dirty="0">
                <a:latin typeface="Google Sans"/>
              </a:rPr>
              <a:t> El concepto general de crear máquinas inteligentes.</a:t>
            </a:r>
          </a:p>
          <a:p>
            <a:pPr marL="457189" indent="-457189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latin typeface="Google Sans"/>
              </a:rPr>
              <a:t>Machine </a:t>
            </a:r>
            <a:r>
              <a:rPr lang="es-AR" sz="1600" b="1" dirty="0" err="1">
                <a:latin typeface="Google Sans"/>
              </a:rPr>
              <a:t>Learning</a:t>
            </a:r>
            <a:r>
              <a:rPr lang="es-AR" sz="1600" b="1" dirty="0">
                <a:latin typeface="Google Sans"/>
              </a:rPr>
              <a:t>:</a:t>
            </a:r>
            <a:r>
              <a:rPr lang="es-AR" sz="1600" dirty="0">
                <a:latin typeface="Google Sans"/>
              </a:rPr>
              <a:t> Una rama de la IA donde la máquina aprende sola analizando datos.</a:t>
            </a:r>
          </a:p>
          <a:p>
            <a:pPr marL="457189" indent="-457189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latin typeface="Google Sans"/>
              </a:rPr>
              <a:t>Deep </a:t>
            </a:r>
            <a:r>
              <a:rPr lang="es-AR" sz="1600" b="1" dirty="0" err="1">
                <a:latin typeface="Google Sans"/>
              </a:rPr>
              <a:t>Learning</a:t>
            </a:r>
            <a:r>
              <a:rPr lang="es-AR" sz="1600" b="1" dirty="0">
                <a:latin typeface="Google Sans"/>
              </a:rPr>
              <a:t>:</a:t>
            </a:r>
            <a:r>
              <a:rPr lang="es-AR" sz="1600" dirty="0">
                <a:latin typeface="Google Sans"/>
              </a:rPr>
              <a:t> Machine </a:t>
            </a:r>
            <a:r>
              <a:rPr lang="es-AR" sz="1600" dirty="0" err="1">
                <a:latin typeface="Google Sans"/>
              </a:rPr>
              <a:t>Learning</a:t>
            </a:r>
            <a:r>
              <a:rPr lang="es-AR" sz="1600" dirty="0">
                <a:latin typeface="Google Sans"/>
              </a:rPr>
              <a:t> avanzado que usa "neuronas artificiales" para procesar datos complejos.</a:t>
            </a:r>
          </a:p>
          <a:p>
            <a:pPr marL="457189" indent="-457189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latin typeface="Google Sans"/>
              </a:rPr>
              <a:t>IA Generativa:</a:t>
            </a:r>
            <a:r>
              <a:rPr lang="es-AR" sz="1600" dirty="0">
                <a:latin typeface="Google Sans"/>
              </a:rPr>
              <a:t> Un tipo de Deep </a:t>
            </a:r>
            <a:r>
              <a:rPr lang="es-AR" sz="1600" dirty="0" err="1">
                <a:latin typeface="Google Sans"/>
              </a:rPr>
              <a:t>Learning</a:t>
            </a:r>
            <a:r>
              <a:rPr lang="es-AR" sz="1600" dirty="0">
                <a:latin typeface="Google Sans"/>
              </a:rPr>
              <a:t> que crea contenido nuevo desde cero (textos, imágenes, audio).</a:t>
            </a:r>
          </a:p>
        </p:txBody>
      </p:sp>
    </p:spTree>
    <p:extLst>
      <p:ext uri="{BB962C8B-B14F-4D97-AF65-F5344CB8AC3E}">
        <p14:creationId xmlns:p14="http://schemas.microsoft.com/office/powerpoint/2010/main" val="129402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CF1C4-C1E8-0C30-E4EC-F9F58BB7B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82D83CF-DD93-CDCC-53F1-FC4E9CD05C4B}"/>
              </a:ext>
            </a:extLst>
          </p:cNvPr>
          <p:cNvSpPr txBox="1"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5867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D428922-3419-AFB5-1E74-3B41D2CF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71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7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B7FF"/>
                </a:solidFill>
              </a:defRPr>
            </a:pPr>
            <a:r>
              <a:t>MÓDULO 6 · AGENTES CONVERSACIONALES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07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Voice AI</a:t>
            </a:r>
          </a:p>
          <a:p>
            <a:pPr>
              <a:defRPr sz="2700">
                <a:solidFill>
                  <a:srgbClr val="DCE3F2"/>
                </a:solidFill>
              </a:defRPr>
            </a:pPr>
            <a:r>
              <a:t>Whisper · LLM · ElevenLabs · Realtime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0690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De una nota de voz a un agente que escucha, entiende y responde hablando.</a:t>
            </a:r>
          </a:p>
          <a:p>
            <a:pPr>
              <a:defRPr sz="1400">
                <a:solidFill>
                  <a:srgbClr val="AFBBD3"/>
                </a:solidFill>
              </a:defRPr>
            </a:pPr>
            <a:r>
              <a:t>Demo práctica con n8n + Groq Whisper + agente + ElevenLabs</a:t>
            </a:r>
          </a:p>
        </p:txBody>
      </p:sp>
      <p:sp>
        <p:nvSpPr>
          <p:cNvPr id="5" name="Oval 4"/>
          <p:cNvSpPr/>
          <p:nvPr/>
        </p:nvSpPr>
        <p:spPr>
          <a:xfrm>
            <a:off x="7680960" y="5257800"/>
            <a:ext cx="777240" cy="777240"/>
          </a:xfrm>
          <a:prstGeom prst="ellipse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27110" y="5504688"/>
            <a:ext cx="4849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/>
              <a:t>STT</a:t>
            </a:r>
          </a:p>
        </p:txBody>
      </p:sp>
      <p:sp>
        <p:nvSpPr>
          <p:cNvPr id="7" name="Oval 6"/>
          <p:cNvSpPr/>
          <p:nvPr/>
        </p:nvSpPr>
        <p:spPr>
          <a:xfrm>
            <a:off x="8915400" y="5257800"/>
            <a:ext cx="777240" cy="777240"/>
          </a:xfrm>
          <a:prstGeom prst="ellipse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35357" y="5504688"/>
            <a:ext cx="5373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/>
              <a:t>LLM</a:t>
            </a:r>
          </a:p>
        </p:txBody>
      </p:sp>
      <p:sp>
        <p:nvSpPr>
          <p:cNvPr id="9" name="Oval 8"/>
          <p:cNvSpPr/>
          <p:nvPr/>
        </p:nvSpPr>
        <p:spPr>
          <a:xfrm>
            <a:off x="10149840" y="5257800"/>
            <a:ext cx="777240" cy="777240"/>
          </a:xfrm>
          <a:prstGeom prst="ellipse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95509" y="5504688"/>
            <a:ext cx="4859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00"/>
              <a:t>TTS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¿Qué vamos a aprender hoy?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Objetivo: entender la arquitectura y construir un flujo de voz completo.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560320" cy="3337560"/>
          </a:xfrm>
          <a:prstGeom prst="roundRect">
            <a:avLst/>
          </a:prstGeom>
          <a:solidFill>
            <a:srgbClr val="E8F8F1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4944" y="1755648"/>
            <a:ext cx="64008" cy="3132000"/>
          </a:xfrm>
          <a:prstGeom prst="rect">
            <a:avLst/>
          </a:prstGeom>
          <a:solidFill>
            <a:srgbClr val="37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t>1. Escuchar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2148839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t>Convertir audio del usuario en texto.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t>Speech-to-Text (STT).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00200"/>
            <a:ext cx="2560320" cy="3337560"/>
          </a:xfrm>
          <a:prstGeom prst="roundRect">
            <a:avLst/>
          </a:prstGeom>
          <a:solidFill>
            <a:srgbClr val="FFF7D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9584" y="1755648"/>
            <a:ext cx="64008" cy="3132000"/>
          </a:xfrm>
          <a:prstGeom prst="rect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76479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t>2. Pensar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21992"/>
            <a:ext cx="2148839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t>Enviar la transcripción al agente para interpretar, razonar y responder.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00200"/>
            <a:ext cx="2560320" cy="3337560"/>
          </a:xfrm>
          <a:prstGeom prst="roundRect">
            <a:avLst/>
          </a:prstGeom>
          <a:solidFill>
            <a:srgbClr val="F3EC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64224" y="1755648"/>
            <a:ext cx="64008" cy="313200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76479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t>3. Hablar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21992"/>
            <a:ext cx="2148839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t>Convertir la respuesta textual del agente nuevamente en audio.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00200"/>
            <a:ext cx="2560320" cy="3337560"/>
          </a:xfrm>
          <a:prstGeom prst="roundRect">
            <a:avLst/>
          </a:prstGeom>
          <a:solidFill>
            <a:srgbClr val="E8F1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98864" y="1755648"/>
            <a:ext cx="64008" cy="3132000"/>
          </a:xfrm>
          <a:prstGeom prst="rect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176479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t>4. Diseñar bien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21992"/>
            <a:ext cx="2148839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t>Controlar longitud, costos, errores, privacidad y experiencia conversacional.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La arquitectura mínima de Voice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No es una sola tecnología: es un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8288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423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3E82F6"/>
                </a:solidFill>
              </a:defRPr>
            </a:pPr>
            <a:r>
              <a:t>🎙️ AUDIO</a:t>
            </a:r>
          </a:p>
          <a:p>
            <a:pPr algn="ctr">
              <a:defRPr sz="1200">
                <a:solidFill>
                  <a:srgbClr val="5C677D"/>
                </a:solidFill>
              </a:defRPr>
            </a:pPr>
            <a:r>
              <a:t>Entrada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79" y="2587752"/>
            <a:ext cx="411480" cy="411480"/>
          </a:xfrm>
          <a:prstGeom prst="rightArrow">
            <a:avLst/>
          </a:prstGeom>
          <a:solidFill>
            <a:srgbClr val="B4B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79" y="2148840"/>
            <a:ext cx="18288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A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423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37AA78"/>
                </a:solidFill>
              </a:defRPr>
            </a:pPr>
            <a:r>
              <a:t>STT</a:t>
            </a:r>
          </a:p>
          <a:p>
            <a:pPr algn="ctr">
              <a:defRPr sz="1200">
                <a:solidFill>
                  <a:srgbClr val="5C677D"/>
                </a:solidFill>
              </a:defRPr>
            </a:pPr>
            <a:r>
              <a:t>Whisper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0600" y="2587752"/>
            <a:ext cx="411480" cy="411480"/>
          </a:xfrm>
          <a:prstGeom prst="rightArrow">
            <a:avLst/>
          </a:prstGeom>
          <a:solidFill>
            <a:srgbClr val="B4B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7800" y="2148840"/>
            <a:ext cx="18288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B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2423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EBB434"/>
                </a:solidFill>
              </a:defRPr>
            </a:pPr>
            <a:r>
              <a:t>LLM</a:t>
            </a:r>
          </a:p>
          <a:p>
            <a:pPr algn="ctr">
              <a:defRPr sz="1200">
                <a:solidFill>
                  <a:srgbClr val="5C677D"/>
                </a:solidFill>
              </a:defRPr>
            </a:pPr>
            <a:r>
              <a:t>Agente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2587752"/>
            <a:ext cx="411480" cy="411480"/>
          </a:xfrm>
          <a:prstGeom prst="rightArrow">
            <a:avLst/>
          </a:prstGeom>
          <a:solidFill>
            <a:srgbClr val="B4B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89519" y="2148840"/>
            <a:ext cx="18288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59" y="2423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845CDC"/>
                </a:solidFill>
              </a:defRPr>
            </a:pPr>
            <a:r>
              <a:t>TTS</a:t>
            </a:r>
          </a:p>
          <a:p>
            <a:pPr algn="ctr">
              <a:defRPr sz="1200">
                <a:solidFill>
                  <a:srgbClr val="5C677D"/>
                </a:solidFill>
              </a:defRPr>
            </a:pPr>
            <a:r>
              <a:t>ElevenLabs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64039" y="2587752"/>
            <a:ext cx="411480" cy="411480"/>
          </a:xfrm>
          <a:prstGeom prst="rightArrow">
            <a:avLst/>
          </a:prstGeom>
          <a:solidFill>
            <a:srgbClr val="B4B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21240" y="2148840"/>
            <a:ext cx="18288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12680" y="242316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3E82F6"/>
                </a:solidFill>
              </a:defRPr>
            </a:pPr>
            <a:r>
              <a:t>🔊 AUDIO</a:t>
            </a:r>
          </a:p>
          <a:p>
            <a:pPr algn="ctr">
              <a:defRPr sz="1200">
                <a:solidFill>
                  <a:srgbClr val="5C677D"/>
                </a:solidFill>
              </a:defRPr>
            </a:pPr>
            <a:r>
              <a:t>Respuesta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5196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51D30"/>
                </a:solidFill>
              </a:defRPr>
            </a:pPr>
            <a:r>
              <a:t>Whisper escucha  →  el LLM piensa  →  ElevenLabs habla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Flujo completo: de voz a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La aplicación orquesta cada etapa y devuelve una respuesta hablada.</a:t>
            </a:r>
          </a:p>
        </p:txBody>
      </p:sp>
      <p:pic>
        <p:nvPicPr>
          <p:cNvPr id="4" name="Picture 3" descr="Imagen de ChatGPT 29 sept 2026, 18_47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201400" cy="5600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Whisper: el oído del 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Speech-to-Text / Automatic Speech Recognition (ASR)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4160520"/>
          </a:xfrm>
          <a:prstGeom prst="roundRect">
            <a:avLst/>
          </a:prstGeom>
          <a:solidFill>
            <a:srgbClr val="E8F8F1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160520"/>
          </a:xfrm>
          <a:prstGeom prst="rect">
            <a:avLst/>
          </a:prstGeom>
          <a:solidFill>
            <a:srgbClr val="37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3869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rPr sz="2400"/>
              <a:t>Qué hace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9204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Recibe audio.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Reconoce el habla.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Devuelve una transcripción en texto.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En nuestra demo: Groq ejecuta Whisper para evitar depender de crédito de OpenAI.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1874519"/>
          </a:xfrm>
          <a:prstGeom prst="rect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10102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rPr sz="2000"/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4846320" cy="64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🎙️ nota_de_voz.ogg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Idioma: 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2044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6217920" y="3520440"/>
            <a:ext cx="64008" cy="2057400"/>
          </a:xfrm>
          <a:prstGeom prst="rect">
            <a:avLst/>
          </a:prstGeom>
          <a:solidFill>
            <a:srgbClr val="37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446520" y="3685032"/>
            <a:ext cx="822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rPr sz="2000"/>
              <a:t>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142232"/>
            <a:ext cx="48463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📝 { "text": "Necesito una cotización..." }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Whisper no razona la respuesta: transcribe.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El LLM / Agente: el cerebro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La transcripción se transforma en intención, razonamiento y respuesta.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4206240"/>
          </a:xfrm>
          <a:prstGeom prst="roundRect">
            <a:avLst/>
          </a:prstGeom>
          <a:solidFill>
            <a:srgbClr val="E8F1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64008" cy="4206240"/>
          </a:xfrm>
          <a:prstGeom prst="rect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8926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51D30"/>
                </a:solidFill>
              </a:defRPr>
            </a:pPr>
            <a:r>
              <a:rPr sz="2000"/>
              <a:t>Recibe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29718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Texto del usuario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+ instrucciones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+ memoria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+ herramientas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+ RAG (si aplica)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4206240"/>
          </a:xfrm>
          <a:prstGeom prst="roundRect">
            <a:avLst/>
          </a:prstGeom>
          <a:solidFill>
            <a:srgbClr val="FFF7D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64008" cy="4206240"/>
          </a:xfrm>
          <a:prstGeom prst="rect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636008" y="1581912"/>
            <a:ext cx="7104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51D30"/>
                </a:solidFill>
              </a:defRPr>
            </a:pPr>
            <a:r>
              <a:rPr sz="2000"/>
              <a:t>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039112"/>
            <a:ext cx="29718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Entiende la intención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Razonamiento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Consulta conocimiento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Usa herramientas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Genera respuesta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417320"/>
            <a:ext cx="3383280" cy="4206240"/>
          </a:xfrm>
          <a:prstGeom prst="roundRect">
            <a:avLst/>
          </a:prstGeom>
          <a:solidFill>
            <a:srgbClr val="F3EC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8083296" y="1417320"/>
            <a:ext cx="64008" cy="420624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8311896" y="1581912"/>
            <a:ext cx="11764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51D30"/>
                </a:solidFill>
              </a:defRPr>
            </a:pPr>
            <a:r>
              <a:rPr sz="2000"/>
              <a:t>Devuelve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039112"/>
            <a:ext cx="29718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 dirty="0" err="1"/>
              <a:t>Texto</a:t>
            </a:r>
            <a:r>
              <a:rPr sz="1600" dirty="0"/>
              <a:t> breve y natural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 dirty="0" err="1"/>
              <a:t>listo</a:t>
            </a:r>
            <a:r>
              <a:rPr sz="1600" dirty="0"/>
              <a:t> para TTS.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endParaRPr sz="1600" dirty="0"/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 dirty="0"/>
              <a:t>Regla de </a:t>
            </a:r>
            <a:r>
              <a:rPr sz="1600" dirty="0" err="1"/>
              <a:t>clase</a:t>
            </a:r>
            <a:r>
              <a:rPr sz="1600" dirty="0"/>
              <a:t>: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 dirty="0"/>
              <a:t>≤ 200 </a:t>
            </a:r>
            <a:r>
              <a:rPr sz="1600" dirty="0" err="1"/>
              <a:t>caracteres</a:t>
            </a:r>
            <a:endParaRPr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ElevenLabs: la voz del 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Text-to-Speech (TTS): convierte la respuesta del LLM en audio.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4251960"/>
          </a:xfrm>
          <a:prstGeom prst="roundRect">
            <a:avLst/>
          </a:prstGeom>
          <a:solidFill>
            <a:srgbClr val="F3EC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6339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rPr sz="2400"/>
              <a:t>Qué aporta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463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Voces sintéticas naturales.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Text-to-Speech.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Diseño y clonación de voz.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Productos de agentes de voz.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Control de estilo y características de la voz.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1828800"/>
          </a:xfrm>
          <a:prstGeom prst="rect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10102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rPr sz="2000"/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📝 “¿Qué producto o servicio te interesa?”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64008" cy="219456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446520" y="3639312"/>
            <a:ext cx="822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rPr sz="2000"/>
              <a:t>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96511"/>
            <a:ext cx="484632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🔊 Audio generado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En n8n: API Key → xi-api-key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+ Voice ID + texto del agente.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¿Qué cambia con Voice / Realtime?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En lugar de encadenar solo archivos y textos, la conversación se vuelve continua.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389120"/>
          </a:xfrm>
          <a:prstGeom prst="roundRect">
            <a:avLst/>
          </a:prstGeom>
          <a:solidFill>
            <a:srgbClr val="E8F1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389120"/>
          </a:xfrm>
          <a:prstGeom prst="rect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80850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51D30"/>
                </a:solidFill>
              </a:defRPr>
            </a:pPr>
            <a:r>
              <a:rPr sz="2000"/>
              <a:t>Pipeline clásico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301752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Audio completo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STT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LLM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TTS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Audio completo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FFF7D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4389120"/>
          </a:xfrm>
          <a:prstGeom prst="rect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11368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51D30"/>
                </a:solidFill>
              </a:defRPr>
            </a:pPr>
            <a:r>
              <a:rPr sz="2000"/>
              <a:t>Realtime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39112"/>
            <a:ext cx="301752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Audio en streaming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Sesión conversacional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↓</a:t>
            </a:r>
          </a:p>
          <a:p>
            <a:pPr>
              <a:spcAft>
                <a:spcPts val="500"/>
              </a:spcAft>
              <a:defRPr sz="1600">
                <a:solidFill>
                  <a:srgbClr val="5C677D"/>
                </a:solidFill>
              </a:defRPr>
            </a:pPr>
            <a:r>
              <a:t>Respuesta mientras la interacción continúa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4389120"/>
          </a:xfrm>
          <a:prstGeom prst="roundRect">
            <a:avLst/>
          </a:prstGeom>
          <a:solidFill>
            <a:srgbClr val="F3EC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64008" cy="438912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81912"/>
            <a:ext cx="14141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51D30"/>
                </a:solidFill>
              </a:defRPr>
            </a:pPr>
            <a:r>
              <a:rPr sz="2000"/>
              <a:t>Experiencia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39112"/>
            <a:ext cx="30175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Menor latencia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Turn-taking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Interrupciones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Conversación más natural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rPr sz="1600"/>
              <a:t>Contexto de sesión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Whisper vs ElevenLabs vs Voice / Realtime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No compiten exactamente entre sí: resuelven capas distintas.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214339"/>
              </p:ext>
            </p:extLst>
          </p:nvPr>
        </p:nvGraphicFramePr>
        <p:xfrm>
          <a:off x="502920" y="1325880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Comparación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Whisper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A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ElevenLabs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Voice / Realtime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51D30"/>
                          </a:solidFill>
                        </a:defRPr>
                      </a:pPr>
                      <a:r>
                        <a:rPr sz="1400"/>
                        <a:t>Idea principal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Reconocimiento de voz (ASR)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Plataforma de IA de voz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IA conversacional por voz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51D30"/>
                          </a:solidFill>
                        </a:defRPr>
                      </a:pPr>
                      <a:r>
                        <a:rPr sz="1400"/>
                        <a:t>Entrada típica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Audio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Texto o audio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Audio en tiempo real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51D30"/>
                          </a:solidFill>
                        </a:defRPr>
                      </a:pPr>
                      <a:r>
                        <a:rPr sz="1400"/>
                        <a:t>Salida típica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Audio / 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Audio y/o 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51D30"/>
                          </a:solidFill>
                        </a:defRPr>
                      </a:pPr>
                      <a:r>
                        <a:rPr sz="1400"/>
                        <a:t>Speech-to-Text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Función principal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Scribe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Puede transcribir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51D30"/>
                          </a:solidFill>
                        </a:defRPr>
                      </a:pPr>
                      <a:r>
                        <a:rPr sz="1400"/>
                        <a:t>Text-to-Speech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Función destacada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Sí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51D30"/>
                          </a:solidFill>
                        </a:defRPr>
                      </a:pPr>
                      <a:r>
                        <a:rPr sz="1400"/>
                        <a:t>Razonamiento / LLM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Se integra con LLMs/agentes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>
                          <a:solidFill>
                            <a:srgbClr val="5C677D"/>
                          </a:solidFill>
                        </a:defRPr>
                      </a:pPr>
                      <a:r>
                        <a:rPr sz="1400" dirty="0" err="1"/>
                        <a:t>Integrado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en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modelo</a:t>
                      </a:r>
                      <a:r>
                        <a:rPr sz="1400" dirty="0"/>
                        <a:t>/</a:t>
                      </a:r>
                      <a:r>
                        <a:rPr sz="1400" dirty="0" err="1"/>
                        <a:t>sesión</a:t>
                      </a:r>
                      <a:endParaRPr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Comparación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La diferencia clave aparece en tiempo real, turn-taking y especialización de voz.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461758"/>
              </p:ext>
            </p:extLst>
          </p:nvPr>
        </p:nvGraphicFramePr>
        <p:xfrm>
          <a:off x="502920" y="1325880"/>
          <a:ext cx="112014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Comparación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Whisper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A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ElevenLabs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5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Voice / Realtime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674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51D30"/>
                          </a:solidFill>
                        </a:defRPr>
                      </a:pPr>
                      <a:r>
                        <a:rPr sz="1200"/>
                        <a:t>Conversación en tiempo real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No por sí solo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ElevenAgents / Speech Engine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Función central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674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51D30"/>
                          </a:solidFill>
                        </a:defRPr>
                      </a:pPr>
                      <a:r>
                        <a:rPr sz="1200"/>
                        <a:t>Interrupciones / turn-taking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En productos de agentes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Nativo en Realtime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674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51D30"/>
                          </a:solidFill>
                        </a:defRPr>
                      </a:pPr>
                      <a:r>
                        <a:rPr sz="1200"/>
                        <a:t>Clonación de voz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Una de sus fortalezas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No es el objetivo principal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674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51D30"/>
                          </a:solidFill>
                        </a:defRPr>
                      </a:pPr>
                      <a:r>
                        <a:rPr sz="1200"/>
                        <a:t>Tono/entonación para razonar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Salida principal: texto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Depende del producto/pipeline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Speech-to-speech trabaja con audio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674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51D30"/>
                          </a:solidFill>
                        </a:defRPr>
                      </a:pPr>
                      <a:r>
                        <a:rPr sz="1200"/>
                        <a:t>Caso típico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Reuniones, audios, subtítulos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Voiceovers, voces y agentes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400"/>
                        <a:t>Soporte y asistentes conversacionales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676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151D30"/>
                          </a:solidFill>
                        </a:defRPr>
                      </a:pPr>
                      <a:r>
                        <a:rPr sz="1200"/>
                        <a:t>Cómo pensarlo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“Oído → texto”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200"/>
                        <a:t>“Infraestructura especializada en voz”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5C677D"/>
                          </a:solidFill>
                        </a:defRPr>
                      </a:pPr>
                      <a:r>
                        <a:rPr sz="1400" dirty="0"/>
                        <a:t>“</a:t>
                      </a:r>
                      <a:r>
                        <a:rPr sz="1400" dirty="0" err="1"/>
                        <a:t>Escucha</a:t>
                      </a:r>
                      <a:r>
                        <a:rPr sz="1400" dirty="0"/>
                        <a:t> + </a:t>
                      </a:r>
                      <a:r>
                        <a:rPr sz="1400" dirty="0" err="1"/>
                        <a:t>entiende</a:t>
                      </a:r>
                      <a:r>
                        <a:rPr sz="1400" dirty="0"/>
                        <a:t> + </a:t>
                      </a:r>
                      <a:r>
                        <a:rPr sz="1400" dirty="0" err="1"/>
                        <a:t>responde</a:t>
                      </a:r>
                      <a:r>
                        <a:rPr sz="1400" dirty="0"/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Diseño defensivo: ¿qué puede fallar?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Voice AI necesita contingencias claras.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251960"/>
          </a:xfrm>
          <a:prstGeom prst="roundRect">
            <a:avLst/>
          </a:prstGeom>
          <a:solidFill>
            <a:srgbClr val="E8F8F1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251960"/>
          </a:xfrm>
          <a:prstGeom prst="rect">
            <a:avLst/>
          </a:prstGeom>
          <a:solidFill>
            <a:srgbClr val="37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740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rPr sz="2000"/>
              <a:t>STT falla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2971800" cy="189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Audio vacío o corrupto.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Ruido excesivo.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Transcripción vacía.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→ IF de validación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→ Pedir reintento.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4251960"/>
          </a:xfrm>
          <a:prstGeom prst="roundRect">
            <a:avLst/>
          </a:prstGeom>
          <a:solidFill>
            <a:srgbClr val="FFF7DE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64008" cy="4251960"/>
          </a:xfrm>
          <a:prstGeom prst="rect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636008" y="1581912"/>
            <a:ext cx="190545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rPr sz="2000"/>
              <a:t>LLM se extiende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039112"/>
            <a:ext cx="29718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Respuesta demasiado larga.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Costos y mala UX.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→ Prompt ≤ 200 caracteres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→ Truncado defensivo.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417320"/>
            <a:ext cx="3383280" cy="4251960"/>
          </a:xfrm>
          <a:prstGeom prst="roundRect">
            <a:avLst/>
          </a:prstGeom>
          <a:solidFill>
            <a:srgbClr val="F3EC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8129016" y="1417320"/>
            <a:ext cx="64008" cy="425196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8357616" y="1581912"/>
            <a:ext cx="11483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51D30"/>
                </a:solidFill>
              </a:defRPr>
            </a:pPr>
            <a:r>
              <a:rPr sz="2000"/>
              <a:t>TTS /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039112"/>
            <a:ext cx="297180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Credencial inválida.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Voice ID no permitido.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Cuota / plan.</a:t>
            </a:r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endParaRPr sz="1600"/>
          </a:p>
          <a:p>
            <a:pPr>
              <a:spcAft>
                <a:spcPts val="500"/>
              </a:spcAft>
              <a:defRPr sz="1400">
                <a:solidFill>
                  <a:srgbClr val="5C677D"/>
                </a:solidFill>
              </a:defRPr>
            </a:pPr>
            <a:r>
              <a:rPr sz="1600"/>
              <a:t>→ Validar API y tener fallback a texto.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Costos y UX: por qué las respuestas deben ser cortas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Cada interacción puede sumar consumo en varias capas.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" cy="2240280"/>
          </a:xfrm>
          <a:prstGeom prst="rect">
            <a:avLst/>
          </a:prstGeom>
          <a:solidFill>
            <a:srgbClr val="37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t>STT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97180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Duración / procesamiento del audio.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64008" cy="2240280"/>
          </a:xfrm>
          <a:prstGeom prst="rect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76272"/>
            <a:ext cx="297180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Tokens de entrada + salida.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64008" cy="224028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71907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t>TTS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76272"/>
            <a:ext cx="297180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Texto convertido a voz / uso del servicio.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51960"/>
            <a:ext cx="10149840" cy="1051560"/>
          </a:xfrm>
          <a:prstGeom prst="roundRect">
            <a:avLst/>
          </a:prstGeom>
          <a:solidFill>
            <a:srgbClr val="E8F1FF"/>
          </a:solidFill>
          <a:ln>
            <a:solidFill>
              <a:srgbClr val="3E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45079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51D30"/>
                </a:solidFill>
              </a:defRPr>
            </a:pPr>
            <a:r>
              <a:t>Regla práctica: en voz, menos suele ser más. Menor latencia + menor costo + menor fatiga cognitiva.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Nuestra demo en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Construimos el pipeline por etapas y validamos cada nodo.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65960"/>
            <a:ext cx="1417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8" y="1627632"/>
            <a:ext cx="457200" cy="457200"/>
          </a:xfrm>
          <a:prstGeom prst="ellipse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719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947" y="2304288"/>
            <a:ext cx="95750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1D30"/>
                </a:solidFill>
              </a:defRPr>
            </a:pPr>
            <a:r>
              <a:rPr sz="1600" dirty="0"/>
              <a:t>Telegram</a:t>
            </a:r>
          </a:p>
          <a:p>
            <a:pPr algn="ctr">
              <a:defRPr sz="1000">
                <a:solidFill>
                  <a:srgbClr val="5C677D"/>
                </a:solidFill>
              </a:defRPr>
            </a:pPr>
            <a:r>
              <a:rPr sz="1100" dirty="0"/>
              <a:t>Nota de </a:t>
            </a:r>
            <a:r>
              <a:rPr sz="1100" dirty="0" err="1"/>
              <a:t>voz</a:t>
            </a:r>
            <a:endParaRPr sz="1100" dirty="0"/>
          </a:p>
        </p:txBody>
      </p:sp>
      <p:sp>
        <p:nvSpPr>
          <p:cNvPr id="8" name="Right Arrow 7"/>
          <p:cNvSpPr/>
          <p:nvPr/>
        </p:nvSpPr>
        <p:spPr>
          <a:xfrm>
            <a:off x="1737360" y="2624328"/>
            <a:ext cx="256032" cy="320040"/>
          </a:xfrm>
          <a:prstGeom prst="rightArrow">
            <a:avLst/>
          </a:prstGeom>
          <a:solidFill>
            <a:srgbClr val="B9C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2002536" y="1965960"/>
            <a:ext cx="1417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478024" y="1627632"/>
            <a:ext cx="457200" cy="457200"/>
          </a:xfrm>
          <a:prstGeom prst="ellipse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78024" y="1719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1435" y="2304288"/>
            <a:ext cx="105952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1D30"/>
                </a:solidFill>
              </a:defRPr>
            </a:pPr>
            <a:r>
              <a:rPr sz="1600"/>
              <a:t>Download</a:t>
            </a:r>
          </a:p>
          <a:p>
            <a:pPr algn="ctr">
              <a:defRPr sz="1000">
                <a:solidFill>
                  <a:srgbClr val="5C677D"/>
                </a:solidFill>
              </a:defRPr>
            </a:pPr>
            <a:r>
              <a:rPr sz="1100"/>
              <a:t>Audio .ogg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9856" y="2624328"/>
            <a:ext cx="256032" cy="320040"/>
          </a:xfrm>
          <a:prstGeom prst="rightArrow">
            <a:avLst/>
          </a:prstGeom>
          <a:solidFill>
            <a:srgbClr val="B9C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ounded Rectangle 13"/>
          <p:cNvSpPr/>
          <p:nvPr/>
        </p:nvSpPr>
        <p:spPr>
          <a:xfrm>
            <a:off x="3685032" y="1965960"/>
            <a:ext cx="1417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A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60520" y="1627632"/>
            <a:ext cx="457200" cy="457200"/>
          </a:xfrm>
          <a:prstGeom prst="ellipse">
            <a:avLst/>
          </a:prstGeom>
          <a:solidFill>
            <a:srgbClr val="37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1719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8697" y="2304288"/>
            <a:ext cx="136999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1D30"/>
                </a:solidFill>
              </a:defRPr>
            </a:pPr>
            <a:r>
              <a:rPr sz="1600"/>
              <a:t>Groq Whisper</a:t>
            </a:r>
          </a:p>
          <a:p>
            <a:pPr algn="ctr">
              <a:defRPr sz="1000">
                <a:solidFill>
                  <a:srgbClr val="5C677D"/>
                </a:solidFill>
              </a:defRPr>
            </a:pPr>
            <a:r>
              <a:rPr sz="1100"/>
              <a:t>STT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102352" y="2624328"/>
            <a:ext cx="256032" cy="320040"/>
          </a:xfrm>
          <a:prstGeom prst="rightArrow">
            <a:avLst/>
          </a:prstGeom>
          <a:solidFill>
            <a:srgbClr val="B9C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5367528" y="1965960"/>
            <a:ext cx="1417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2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43016" y="1627632"/>
            <a:ext cx="457200" cy="457200"/>
          </a:xfrm>
          <a:prstGeom prst="ellipse">
            <a:avLst/>
          </a:prstGeom>
          <a:solidFill>
            <a:srgbClr val="D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43016" y="1719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867" y="2304288"/>
            <a:ext cx="145264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1D30"/>
                </a:solidFill>
              </a:defRPr>
            </a:pPr>
            <a:r>
              <a:rPr sz="1600"/>
              <a:t>IF</a:t>
            </a:r>
          </a:p>
          <a:p>
            <a:pPr algn="ctr">
              <a:defRPr sz="1000">
                <a:solidFill>
                  <a:srgbClr val="5C677D"/>
                </a:solidFill>
              </a:defRPr>
            </a:pPr>
            <a:r>
              <a:rPr sz="1100"/>
              <a:t>¿Transcripción válida?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784848" y="2624328"/>
            <a:ext cx="256032" cy="320040"/>
          </a:xfrm>
          <a:prstGeom prst="rightArrow">
            <a:avLst/>
          </a:prstGeom>
          <a:solidFill>
            <a:srgbClr val="B9C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Rounded Rectangle 23"/>
          <p:cNvSpPr/>
          <p:nvPr/>
        </p:nvSpPr>
        <p:spPr>
          <a:xfrm>
            <a:off x="7050024" y="1965960"/>
            <a:ext cx="1417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B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25512" y="1627632"/>
            <a:ext cx="457200" cy="457200"/>
          </a:xfrm>
          <a:prstGeom prst="ellipse">
            <a:avLst/>
          </a:prstGeom>
          <a:solidFill>
            <a:srgbClr val="EBB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2" y="1719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73" y="2304288"/>
            <a:ext cx="101502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1D30"/>
                </a:solidFill>
              </a:defRPr>
            </a:pPr>
            <a:r>
              <a:rPr sz="1600"/>
              <a:t>AI Agent</a:t>
            </a:r>
          </a:p>
          <a:p>
            <a:pPr algn="ctr">
              <a:defRPr sz="1000">
                <a:solidFill>
                  <a:srgbClr val="5C677D"/>
                </a:solidFill>
              </a:defRPr>
            </a:pPr>
            <a:r>
              <a:rPr sz="1100"/>
              <a:t>Cerebro / RAG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67344" y="2624328"/>
            <a:ext cx="256032" cy="320040"/>
          </a:xfrm>
          <a:prstGeom prst="rightArrow">
            <a:avLst/>
          </a:prstGeom>
          <a:solidFill>
            <a:srgbClr val="B9C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28"/>
          <p:cNvSpPr/>
          <p:nvPr/>
        </p:nvSpPr>
        <p:spPr>
          <a:xfrm>
            <a:off x="8732520" y="1965960"/>
            <a:ext cx="1417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45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08008" y="1627632"/>
            <a:ext cx="457200" cy="457200"/>
          </a:xfrm>
          <a:prstGeom prst="ellipse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08008" y="1719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9552" y="2304288"/>
            <a:ext cx="112325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1D30"/>
                </a:solidFill>
              </a:defRPr>
            </a:pPr>
            <a:r>
              <a:rPr sz="1600"/>
              <a:t>ElevenLabs</a:t>
            </a:r>
          </a:p>
          <a:p>
            <a:pPr algn="ctr">
              <a:defRPr sz="1000">
                <a:solidFill>
                  <a:srgbClr val="5C677D"/>
                </a:solidFill>
              </a:defRPr>
            </a:pPr>
            <a:r>
              <a:rPr sz="1100"/>
              <a:t>TTS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149840" y="2624328"/>
            <a:ext cx="256032" cy="320040"/>
          </a:xfrm>
          <a:prstGeom prst="rightArrow">
            <a:avLst/>
          </a:prstGeom>
          <a:solidFill>
            <a:srgbClr val="B9C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4" name="Rounded Rectangle 33"/>
          <p:cNvSpPr/>
          <p:nvPr/>
        </p:nvSpPr>
        <p:spPr>
          <a:xfrm>
            <a:off x="10415016" y="1965960"/>
            <a:ext cx="14173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890504" y="1627632"/>
            <a:ext cx="457200" cy="457200"/>
          </a:xfrm>
          <a:prstGeom prst="ellipse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90504" y="17190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44923" y="2304288"/>
            <a:ext cx="95750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51D30"/>
                </a:solidFill>
              </a:defRPr>
            </a:pPr>
            <a:r>
              <a:rPr sz="1600"/>
              <a:t>Telegram</a:t>
            </a:r>
          </a:p>
          <a:p>
            <a:pPr algn="ctr">
              <a:defRPr sz="1000">
                <a:solidFill>
                  <a:srgbClr val="5C677D"/>
                </a:solidFill>
              </a:defRPr>
            </a:pPr>
            <a:r>
              <a:rPr sz="1100"/>
              <a:t>Send Voice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617720"/>
            <a:ext cx="10149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51D30"/>
                </a:solidFill>
              </a:defRPr>
            </a:pPr>
            <a:r>
              <a:t>Para esta clase: Groq Whisper reemplaza el STT de OpenAI; el concepto sigue siendo exactamente STT → Agente → TTS.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Prompting para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Una buena respuesta escrita no siempre es una buena respuesta hablada.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4526280"/>
          </a:xfrm>
          <a:prstGeom prst="roundRect">
            <a:avLst/>
          </a:prstGeom>
          <a:solidFill>
            <a:srgbClr val="F3EC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452628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t>Reglas recomendadas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475488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• Máximo 200 caracteres.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• Frases cortas y naturales.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• Sin Markdown.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• Sin URLs.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• Sin emojis.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• Evitar listas largas.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• Si no entiende, pedir aclaración brevemente.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349240" cy="4526280"/>
          </a:xfrm>
          <a:prstGeom prst="round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091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Sos un asistente conversacional.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Respondé en español de forma clara y natural.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Tu respuesta será convertida a audio.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endParaRPr/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REGLAS: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- Máximo 200 caracteres.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- Usá frases cortas.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- No uses markdown ni URLs.</a:t>
            </a:r>
          </a:p>
          <a:p>
            <a:pPr>
              <a:spcAft>
                <a:spcPts val="500"/>
              </a:spcAft>
              <a:defRPr sz="1300">
                <a:solidFill>
                  <a:srgbClr val="FFFFFF"/>
                </a:solidFill>
                <a:latin typeface="Aptos Mono"/>
              </a:defRPr>
            </a:pPr>
            <a:r>
              <a:t>- No inventes información.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51D30"/>
                </a:solidFill>
                <a:latin typeface="Aptos Display"/>
              </a:rPr>
              <a:t>Privacidad 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D"/>
                </a:solidFill>
                <a:latin typeface="Aptos"/>
              </a:defRPr>
            </a:pPr>
            <a:r>
              <a:t>El audio puede contener información sensible: tratémoslo como dato transaccional.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212080" cy="4297680"/>
          </a:xfrm>
          <a:prstGeom prst="roundRect">
            <a:avLst/>
          </a:prstGeom>
          <a:solidFill>
            <a:srgbClr val="E8F1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64008" cy="4297680"/>
          </a:xfrm>
          <a:prstGeom prst="rect">
            <a:avLst/>
          </a:prstGeom>
          <a:solidFill>
            <a:srgbClr val="3E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t>Buenas prácticas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39112"/>
            <a:ext cx="48006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Procesar el binario y descartarlo cuando ya no sea necesario.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Evitar persistir audios sin motivo.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No hardcodear API keys.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Usar Credentials / Secrets.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Limitar permisos de las API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64008" cy="4297680"/>
          </a:xfrm>
          <a:prstGeom prst="rect">
            <a:avLst/>
          </a:prstGeom>
          <a:solidFill>
            <a:srgbClr val="84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1D30"/>
                </a:solidFill>
              </a:defRPr>
            </a:pPr>
            <a:r>
              <a:t>Para la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4800600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Audio → procesamiento → respuesta.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No necesitamos construir un repositorio permanente de notas de voz.</a:t>
            </a:r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>
                <a:solidFill>
                  <a:srgbClr val="5C677D"/>
                </a:solidFill>
              </a:defRPr>
            </a:pPr>
            <a:r>
              <a:t>Separar logs técnicos de contenido sensible.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Voice AI = escuchar + entender + responder</a:t>
            </a:r>
          </a:p>
          <a:p>
            <a:pPr algn="ctr">
              <a:defRPr sz="2800">
                <a:solidFill>
                  <a:srgbClr val="A8C3FF"/>
                </a:solidFill>
              </a:defRPr>
            </a:pPr>
            <a:r>
              <a:t>STT  →  LLM / Agent  → 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FFFFF"/>
                </a:solidFill>
              </a:defRPr>
            </a:pPr>
            <a:r>
              <a:t>La tecnología importa. La experiencia conversacional también.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1151</Words>
  <Application>Microsoft Office PowerPoint</Application>
  <PresentationFormat>Panorámica</PresentationFormat>
  <Paragraphs>277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Aptos Display</vt:lpstr>
      <vt:lpstr>Arial</vt:lpstr>
      <vt:lpstr>Calibri</vt:lpstr>
      <vt:lpstr>Google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Carolina Lemes</cp:lastModifiedBy>
  <cp:revision>1</cp:revision>
  <dcterms:created xsi:type="dcterms:W3CDTF">2013-01-27T09:14:16Z</dcterms:created>
  <dcterms:modified xsi:type="dcterms:W3CDTF">2026-09-29T23:57:20Z</dcterms:modified>
  <cp:category/>
</cp:coreProperties>
</file>