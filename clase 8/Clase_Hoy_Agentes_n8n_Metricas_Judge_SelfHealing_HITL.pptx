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97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1430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5F7FA"/>
                </a:solidFill>
                <a:latin typeface="Aptos"/>
              </a:defRPr>
            </a:pPr>
            <a:r>
              <a:t>Agentes de IA en producción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FF6F00"/>
                </a:solidFill>
                <a:latin typeface="Aptos"/>
              </a:defRPr>
            </a:pPr>
            <a:r>
              <a:t>Métricas · AI-as-a-Judge · Self-Healing · HITL · Testing A/B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60520"/>
            <a:ext cx="7309630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5F7FA"/>
                </a:solidFill>
                <a:latin typeface="Aptos"/>
              </a:defRPr>
            </a:pPr>
            <a:r>
              <a:rPr dirty="0" err="1"/>
              <a:t>Objetivo</a:t>
            </a:r>
            <a:r>
              <a:rPr dirty="0"/>
              <a:t> de hoy: </a:t>
            </a:r>
            <a:r>
              <a:rPr dirty="0" err="1"/>
              <a:t>construir</a:t>
            </a:r>
            <a:r>
              <a:rPr dirty="0"/>
              <a:t> un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detecte</a:t>
            </a:r>
            <a:r>
              <a:rPr dirty="0"/>
              <a:t> </a:t>
            </a:r>
            <a:r>
              <a:rPr dirty="0" err="1"/>
              <a:t>errores</a:t>
            </a:r>
            <a:r>
              <a:rPr dirty="0"/>
              <a:t>, </a:t>
            </a:r>
            <a:endParaRPr lang="es-ES" dirty="0"/>
          </a:p>
          <a:p>
            <a:pPr algn="l">
              <a:defRPr sz="2100" b="1">
                <a:solidFill>
                  <a:srgbClr val="F5F7FA"/>
                </a:solidFill>
                <a:latin typeface="Aptos"/>
              </a:defRPr>
            </a:pPr>
            <a:r>
              <a:rPr dirty="0"/>
              <a:t>se </a:t>
            </a:r>
            <a:r>
              <a:rPr dirty="0" err="1"/>
              <a:t>corrija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y </a:t>
            </a:r>
            <a:r>
              <a:rPr dirty="0" err="1"/>
              <a:t>pida</a:t>
            </a:r>
            <a:r>
              <a:rPr dirty="0"/>
              <a:t> </a:t>
            </a:r>
            <a:r>
              <a:rPr dirty="0" err="1"/>
              <a:t>ayuda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AFB8C6"/>
                </a:solidFill>
                <a:latin typeface="Aptos"/>
              </a:defRPr>
            </a:pPr>
            <a:r>
              <a:t>n8n · Clase práctica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7FA"/>
                </a:solidFill>
                <a:latin typeface="Aptos"/>
              </a:defRPr>
            </a:pPr>
            <a:r>
              <a:t>Pregunta de apertura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6012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747239" y="1828800"/>
            <a:ext cx="8667053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F7FA"/>
                </a:solidFill>
                <a:latin typeface="Aptos"/>
              </a:defRPr>
            </a:pPr>
            <a:r>
              <a:rPr dirty="0"/>
              <a:t>“Nuestro </a:t>
            </a:r>
            <a:r>
              <a:rPr dirty="0" err="1"/>
              <a:t>agente</a:t>
            </a:r>
            <a:r>
              <a:rPr dirty="0"/>
              <a:t> </a:t>
            </a:r>
            <a:r>
              <a:rPr dirty="0" err="1"/>
              <a:t>procesó</a:t>
            </a:r>
            <a:r>
              <a:rPr dirty="0"/>
              <a:t> 5.000 </a:t>
            </a:r>
            <a:r>
              <a:rPr dirty="0" err="1"/>
              <a:t>consultas</a:t>
            </a:r>
            <a:r>
              <a:rPr dirty="0"/>
              <a:t> </a:t>
            </a:r>
            <a:r>
              <a:rPr dirty="0" err="1"/>
              <a:t>este</a:t>
            </a:r>
            <a:r>
              <a:rPr dirty="0"/>
              <a:t> </a:t>
            </a:r>
            <a:r>
              <a:rPr dirty="0" err="1"/>
              <a:t>mes</a:t>
            </a:r>
            <a:r>
              <a:rPr dirty="0"/>
              <a:t>. </a:t>
            </a:r>
            <a:endParaRPr lang="es-ES" dirty="0"/>
          </a:p>
          <a:p>
            <a:pPr algn="ctr">
              <a:defRPr sz="2800" b="1">
                <a:solidFill>
                  <a:srgbClr val="F5F7FA"/>
                </a:solidFill>
                <a:latin typeface="Aptos"/>
              </a:defRPr>
            </a:pPr>
            <a:r>
              <a:rPr dirty="0"/>
              <a:t>¿</a:t>
            </a:r>
            <a:r>
              <a:rPr lang="es-ES" dirty="0"/>
              <a:t>Cuál es su % de </a:t>
            </a:r>
            <a:r>
              <a:rPr lang="es-ES" dirty="0" err="1"/>
              <a:t>acertividad</a:t>
            </a:r>
            <a:r>
              <a:rPr dirty="0"/>
              <a:t>?”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971800"/>
            <a:ext cx="2286000" cy="1371600"/>
          </a:xfrm>
          <a:prstGeom prst="roundRect">
            <a:avLst/>
          </a:prstGeom>
          <a:solidFill>
            <a:srgbClr val="1B202A"/>
          </a:solidFill>
          <a:ln>
            <a:solidFill>
              <a:srgbClr val="37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440" y="3154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38BE78"/>
                </a:solidFill>
                <a:latin typeface="Aptos"/>
              </a:defRPr>
            </a:pPr>
            <a:r>
              <a:t>¿Calidad?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630168"/>
            <a:ext cx="2057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rPr dirty="0"/>
              <a:t>¿</a:t>
            </a:r>
            <a:r>
              <a:rPr dirty="0" err="1"/>
              <a:t>Cuántas</a:t>
            </a:r>
            <a:r>
              <a:rPr dirty="0"/>
              <a:t> </a:t>
            </a:r>
            <a:r>
              <a:rPr dirty="0" err="1"/>
              <a:t>respuestas</a:t>
            </a:r>
            <a:r>
              <a:rPr dirty="0"/>
              <a:t> </a:t>
            </a:r>
            <a:r>
              <a:rPr dirty="0" err="1"/>
              <a:t>fueron</a:t>
            </a:r>
            <a:r>
              <a:rPr dirty="0"/>
              <a:t> </a:t>
            </a:r>
            <a:r>
              <a:rPr dirty="0" err="1"/>
              <a:t>correctas</a:t>
            </a:r>
            <a:r>
              <a:rPr dirty="0"/>
              <a:t>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971800"/>
            <a:ext cx="2286000" cy="1371600"/>
          </a:xfrm>
          <a:prstGeom prst="roundRect">
            <a:avLst/>
          </a:prstGeom>
          <a:solidFill>
            <a:srgbClr val="1B202A"/>
          </a:solidFill>
          <a:ln>
            <a:solidFill>
              <a:srgbClr val="37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94760" y="3154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E64B4B"/>
                </a:solidFill>
                <a:latin typeface="Aptos"/>
              </a:defRPr>
            </a:pPr>
            <a:r>
              <a:t>¿Errores?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3512073"/>
            <a:ext cx="20574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rPr dirty="0"/>
              <a:t>¿</a:t>
            </a:r>
            <a:r>
              <a:rPr dirty="0" err="1"/>
              <a:t>Cuántas</a:t>
            </a:r>
            <a:r>
              <a:rPr dirty="0"/>
              <a:t> </a:t>
            </a:r>
            <a:r>
              <a:rPr dirty="0" err="1"/>
              <a:t>alucinaciones</a:t>
            </a:r>
            <a:r>
              <a:rPr dirty="0"/>
              <a:t> o </a:t>
            </a:r>
            <a:r>
              <a:rPr dirty="0" err="1"/>
              <a:t>fallos</a:t>
            </a:r>
            <a:r>
              <a:rPr dirty="0"/>
              <a:t>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971800"/>
            <a:ext cx="2286000" cy="1371600"/>
          </a:xfrm>
          <a:prstGeom prst="roundRect">
            <a:avLst/>
          </a:prstGeom>
          <a:solidFill>
            <a:srgbClr val="1B202A"/>
          </a:solidFill>
          <a:ln>
            <a:solidFill>
              <a:srgbClr val="37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3154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5BE3C"/>
                </a:solidFill>
                <a:latin typeface="Aptos"/>
              </a:defRPr>
            </a:pPr>
            <a:r>
              <a:t>¿Costo?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630168"/>
            <a:ext cx="1828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rPr dirty="0"/>
              <a:t>¿</a:t>
            </a:r>
            <a:r>
              <a:rPr dirty="0" err="1"/>
              <a:t>Cuánto</a:t>
            </a:r>
            <a:r>
              <a:rPr dirty="0"/>
              <a:t> </a:t>
            </a:r>
            <a:r>
              <a:rPr dirty="0" err="1"/>
              <a:t>costó</a:t>
            </a:r>
            <a:r>
              <a:rPr dirty="0"/>
              <a:t> </a:t>
            </a:r>
            <a:r>
              <a:rPr dirty="0" err="1"/>
              <a:t>operar</a:t>
            </a:r>
            <a:r>
              <a:rPr dirty="0"/>
              <a:t> el </a:t>
            </a:r>
            <a:r>
              <a:rPr dirty="0" err="1"/>
              <a:t>sistema</a:t>
            </a:r>
            <a:r>
              <a:rPr dirty="0"/>
              <a:t>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2971800"/>
            <a:ext cx="2286000" cy="1371600"/>
          </a:xfrm>
          <a:prstGeom prst="roundRect">
            <a:avLst/>
          </a:prstGeom>
          <a:solidFill>
            <a:srgbClr val="1B202A"/>
          </a:solidFill>
          <a:ln>
            <a:solidFill>
              <a:srgbClr val="37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15400" y="3154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5591FF"/>
                </a:solidFill>
                <a:latin typeface="Aptos"/>
              </a:defRPr>
            </a:pPr>
            <a:r>
              <a:t>¿Humano?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3630168"/>
            <a:ext cx="1828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rPr dirty="0"/>
              <a:t>¿</a:t>
            </a:r>
            <a:r>
              <a:rPr dirty="0" err="1"/>
              <a:t>Cuántos</a:t>
            </a:r>
            <a:r>
              <a:rPr dirty="0"/>
              <a:t> </a:t>
            </a:r>
            <a:r>
              <a:rPr dirty="0" err="1"/>
              <a:t>casos</a:t>
            </a:r>
            <a:r>
              <a:rPr dirty="0"/>
              <a:t> </a:t>
            </a:r>
            <a:r>
              <a:rPr dirty="0" err="1"/>
              <a:t>necesitaron</a:t>
            </a:r>
            <a:r>
              <a:rPr dirty="0"/>
              <a:t> HITL?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94007" y="4983480"/>
            <a:ext cx="437350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6F00"/>
                </a:solidFill>
                <a:latin typeface="Aptos"/>
              </a:defRPr>
            </a:pPr>
            <a:r>
              <a:rPr dirty="0"/>
              <a:t>5.000 </a:t>
            </a:r>
            <a:r>
              <a:rPr dirty="0" err="1"/>
              <a:t>ejecuciones</a:t>
            </a:r>
            <a:r>
              <a:rPr dirty="0"/>
              <a:t> = </a:t>
            </a:r>
            <a:r>
              <a:rPr dirty="0" err="1"/>
              <a:t>volumen</a:t>
            </a:r>
            <a:r>
              <a:rPr dirty="0"/>
              <a:t>. </a:t>
            </a:r>
            <a:endParaRPr lang="es-ES" dirty="0"/>
          </a:p>
          <a:p>
            <a:pPr algn="ctr">
              <a:defRPr sz="2400" b="1">
                <a:solidFill>
                  <a:srgbClr val="FF6F00"/>
                </a:solidFill>
                <a:latin typeface="Aptos"/>
              </a:defRPr>
            </a:pPr>
            <a:r>
              <a:rPr dirty="0"/>
              <a:t>No </a:t>
            </a:r>
            <a:r>
              <a:rPr dirty="0" err="1"/>
              <a:t>necesariamente</a:t>
            </a:r>
            <a:r>
              <a:rPr dirty="0"/>
              <a:t> </a:t>
            </a:r>
            <a:r>
              <a:rPr dirty="0" err="1"/>
              <a:t>éxito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7FA"/>
                </a:solidFill>
                <a:latin typeface="Aptos"/>
              </a:defRPr>
            </a:pPr>
            <a:r>
              <a:t>¿Qué significa “un buen agente”?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6012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74720" cy="1325880"/>
          </a:xfrm>
          <a:prstGeom prst="roundRect">
            <a:avLst/>
          </a:prstGeom>
          <a:solidFill>
            <a:srgbClr val="1B202A"/>
          </a:solidFill>
          <a:ln>
            <a:solidFill>
              <a:srgbClr val="37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38BE78"/>
                </a:solidFill>
                <a:latin typeface="Aptos"/>
              </a:defRPr>
            </a:pPr>
            <a:r>
              <a:t>Negocio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12848"/>
            <a:ext cx="301752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t>¿Me conviene económicamente?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54480"/>
            <a:ext cx="3474720" cy="1325880"/>
          </a:xfrm>
          <a:prstGeom prst="roundRect">
            <a:avLst/>
          </a:prstGeom>
          <a:solidFill>
            <a:srgbClr val="1B202A"/>
          </a:solidFill>
          <a:ln>
            <a:solidFill>
              <a:srgbClr val="37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5591FF"/>
                </a:solidFill>
                <a:latin typeface="Aptos"/>
              </a:defRPr>
            </a:pPr>
            <a:r>
              <a:t>Operación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12848"/>
            <a:ext cx="301752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t>¿Reduce trabajo o fricción humana?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554480"/>
            <a:ext cx="3474720" cy="1325880"/>
          </a:xfrm>
          <a:prstGeom prst="roundRect">
            <a:avLst/>
          </a:prstGeom>
          <a:solidFill>
            <a:srgbClr val="1B202A"/>
          </a:solidFill>
          <a:ln>
            <a:solidFill>
              <a:srgbClr val="37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83879" y="17373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5BE3C"/>
                </a:solidFill>
                <a:latin typeface="Aptos"/>
              </a:defRPr>
            </a:pPr>
            <a:r>
              <a:t>Técnica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212848"/>
            <a:ext cx="301752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t>¿Hace correctamente lo que debería?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947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FB8C6"/>
                </a:solidFill>
                <a:latin typeface="Aptos"/>
              </a:defRPr>
            </a:pPr>
            <a:r>
              <a:t>AGENTE BUENO =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5F7FA"/>
                </a:solidFill>
                <a:latin typeface="Aptos"/>
              </a:defRPr>
            </a:pPr>
            <a:r>
              <a:t>Calidad + Autonomía + Costo razonable + Impacto + Seguridad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6F00"/>
                </a:solidFill>
                <a:latin typeface="Aptos"/>
              </a:defRPr>
            </a:pPr>
            <a:r>
              <a:t>No existe una única métrica que explique todo.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7FA"/>
                </a:solidFill>
                <a:latin typeface="Aptos"/>
              </a:defRPr>
            </a:pPr>
            <a:r>
              <a:t>ROI y TCO: ¿el agente genera valor?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6012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12080" cy="4297680"/>
          </a:xfrm>
          <a:prstGeom prst="roundRect">
            <a:avLst/>
          </a:prstGeom>
          <a:solidFill>
            <a:srgbClr val="1B202A"/>
          </a:solidFill>
          <a:ln>
            <a:solidFill>
              <a:srgbClr val="37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38BE78"/>
                </a:solidFill>
                <a:latin typeface="Aptos"/>
              </a:defRPr>
            </a:pPr>
            <a:r>
              <a:t>Ejemplo ROI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80" y="1965960"/>
            <a:ext cx="49834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rPr dirty="0"/>
              <a:t>1.000 tickets/</a:t>
            </a:r>
            <a:r>
              <a:rPr dirty="0" err="1"/>
              <a:t>mes</a:t>
            </a:r>
            <a:br>
              <a:rPr dirty="0"/>
            </a:br>
            <a:r>
              <a:rPr dirty="0"/>
              <a:t>15 min </a:t>
            </a:r>
            <a:r>
              <a:rPr dirty="0" err="1"/>
              <a:t>manuales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ticket</a:t>
            </a:r>
            <a:br>
              <a:rPr dirty="0"/>
            </a:br>
            <a:r>
              <a:rPr dirty="0"/>
              <a:t>USD 20/hora</a:t>
            </a:r>
            <a:br>
              <a:rPr dirty="0"/>
            </a:br>
            <a:br>
              <a:rPr dirty="0"/>
            </a:br>
            <a:r>
              <a:rPr dirty="0"/>
              <a:t>250 horas × USD 20 = USD 5.000 manual</a:t>
            </a:r>
            <a:br>
              <a:rPr dirty="0"/>
            </a:br>
            <a:r>
              <a:rPr dirty="0" err="1"/>
              <a:t>Agente</a:t>
            </a:r>
            <a:r>
              <a:rPr dirty="0"/>
              <a:t> = USD 500/</a:t>
            </a:r>
            <a:r>
              <a:rPr dirty="0" err="1"/>
              <a:t>mes</a:t>
            </a:r>
            <a:br>
              <a:rPr dirty="0"/>
            </a:br>
            <a:br>
              <a:rPr dirty="0"/>
            </a:br>
            <a:r>
              <a:rPr dirty="0"/>
              <a:t>Ahorro </a:t>
            </a:r>
            <a:r>
              <a:rPr dirty="0" err="1"/>
              <a:t>operativo</a:t>
            </a:r>
            <a:r>
              <a:rPr dirty="0"/>
              <a:t> = USD 4.500/</a:t>
            </a:r>
            <a:r>
              <a:rPr dirty="0" err="1"/>
              <a:t>mes</a:t>
            </a:r>
            <a:br>
              <a:rPr dirty="0"/>
            </a:br>
            <a:r>
              <a:rPr dirty="0" err="1"/>
              <a:t>Implementación</a:t>
            </a:r>
            <a:r>
              <a:rPr dirty="0"/>
              <a:t> = USD 9.000</a:t>
            </a:r>
            <a:br>
              <a:rPr dirty="0"/>
            </a:br>
            <a:r>
              <a:rPr dirty="0"/>
              <a:t>Payback ≈ 2 meses</a:t>
            </a:r>
            <a:endParaRPr lang="es-ES" dirty="0"/>
          </a:p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endParaRPr lang="es-AR" dirty="0"/>
          </a:p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endParaRPr lang="es-AR" dirty="0"/>
          </a:p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endParaRPr lang="es-AR" dirty="0"/>
          </a:p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rPr lang="es-AR" dirty="0"/>
              <a:t>Retorno sobre la inversión al implementar IA, cuanto </a:t>
            </a:r>
          </a:p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rPr lang="es-AR" dirty="0"/>
              <a:t>Beneficio o valor aporta comparado con el costo de desarrollarla, entrenarla y mantenerla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212080" cy="4297680"/>
          </a:xfrm>
          <a:prstGeom prst="roundRect">
            <a:avLst/>
          </a:prstGeom>
          <a:solidFill>
            <a:srgbClr val="1B202A"/>
          </a:solidFill>
          <a:ln>
            <a:solidFill>
              <a:srgbClr val="37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5BE3C"/>
                </a:solidFill>
                <a:latin typeface="Aptos"/>
              </a:defRPr>
            </a:pPr>
            <a:r>
              <a:t>TCO ≠ solo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7548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rPr dirty="0"/>
              <a:t>LLM / tokens</a:t>
            </a:r>
            <a:br>
              <a:rPr dirty="0"/>
            </a:br>
            <a:r>
              <a:rPr dirty="0"/>
              <a:t>n8n</a:t>
            </a:r>
            <a:br>
              <a:rPr dirty="0"/>
            </a:br>
            <a:r>
              <a:rPr dirty="0"/>
              <a:t>Vector DB</a:t>
            </a:r>
            <a:br>
              <a:rPr dirty="0"/>
            </a:br>
            <a:r>
              <a:rPr dirty="0"/>
              <a:t>Redis / PostgreSQL</a:t>
            </a:r>
            <a:br>
              <a:rPr dirty="0"/>
            </a:br>
            <a:r>
              <a:rPr dirty="0"/>
              <a:t>APIs </a:t>
            </a:r>
            <a:r>
              <a:rPr dirty="0" err="1"/>
              <a:t>externas</a:t>
            </a:r>
            <a:br>
              <a:rPr dirty="0"/>
            </a:br>
            <a:r>
              <a:rPr dirty="0" err="1"/>
              <a:t>Infraestructura</a:t>
            </a:r>
            <a:br>
              <a:rPr dirty="0"/>
            </a:br>
            <a:r>
              <a:rPr dirty="0" err="1"/>
              <a:t>Mantenimiento</a:t>
            </a:r>
            <a:r>
              <a:rPr dirty="0"/>
              <a:t> </a:t>
            </a:r>
            <a:r>
              <a:rPr dirty="0" err="1"/>
              <a:t>humano</a:t>
            </a:r>
            <a:endParaRPr lang="es-ES" dirty="0"/>
          </a:p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endParaRPr lang="es-AR" dirty="0"/>
          </a:p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endParaRPr lang="es-AR" dirty="0"/>
          </a:p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endParaRPr lang="es-AR" dirty="0"/>
          </a:p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endParaRPr lang="es-AR" dirty="0"/>
          </a:p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endParaRPr lang="es-AR" dirty="0"/>
          </a:p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rPr lang="es-AR" dirty="0"/>
              <a:t>Costo total de propiedad de una solución de IA, incluyendo:</a:t>
            </a:r>
          </a:p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rPr lang="es-AR" dirty="0"/>
              <a:t>Infraestructura, licencias, almacenamiento de datos, soporte, mantenimiento y actualizaciones.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2488752" y="5989320"/>
            <a:ext cx="718401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AFB8C6"/>
                </a:solidFill>
                <a:latin typeface="Aptos"/>
              </a:defRPr>
            </a:pPr>
            <a:r>
              <a:rPr dirty="0"/>
              <a:t>Si </a:t>
            </a:r>
            <a:r>
              <a:rPr dirty="0" err="1"/>
              <a:t>alguien</a:t>
            </a:r>
            <a:r>
              <a:rPr dirty="0"/>
              <a:t> </a:t>
            </a:r>
            <a:r>
              <a:rPr dirty="0" err="1"/>
              <a:t>dedica</a:t>
            </a:r>
            <a:r>
              <a:rPr dirty="0"/>
              <a:t> 30 h/</a:t>
            </a:r>
            <a:r>
              <a:rPr dirty="0" err="1"/>
              <a:t>mes</a:t>
            </a:r>
            <a:r>
              <a:rPr dirty="0"/>
              <a:t> a </a:t>
            </a:r>
            <a:r>
              <a:rPr dirty="0" err="1"/>
              <a:t>reparar</a:t>
            </a:r>
            <a:r>
              <a:rPr dirty="0"/>
              <a:t> prompts, ese </a:t>
            </a:r>
            <a:r>
              <a:rPr dirty="0" err="1"/>
              <a:t>trabajo</a:t>
            </a:r>
            <a:r>
              <a:rPr dirty="0"/>
              <a:t> también forma </a:t>
            </a:r>
            <a:r>
              <a:rPr dirty="0" err="1"/>
              <a:t>parte</a:t>
            </a:r>
            <a:r>
              <a:rPr dirty="0"/>
              <a:t> del </a:t>
            </a:r>
            <a:r>
              <a:rPr dirty="0" err="1"/>
              <a:t>costo</a:t>
            </a:r>
            <a:r>
              <a:rPr dirty="0"/>
              <a:t>.</a:t>
            </a:r>
            <a:endParaRPr lang="es-ES" dirty="0"/>
          </a:p>
          <a:p>
            <a:pPr algn="ctr">
              <a:defRPr sz="1400" b="0">
                <a:solidFill>
                  <a:srgbClr val="AFB8C6"/>
                </a:solidFill>
                <a:latin typeface="Aptos"/>
              </a:defRPr>
            </a:pPr>
            <a:endParaRPr lang="es-ES" dirty="0"/>
          </a:p>
          <a:p>
            <a:pPr algn="ctr">
              <a:defRPr sz="1400" b="0">
                <a:solidFill>
                  <a:srgbClr val="AFB8C6"/>
                </a:solidFill>
                <a:latin typeface="Aptos"/>
              </a:defRPr>
            </a:pPr>
            <a:r>
              <a:rPr lang="es-AR" sz="1200" dirty="0">
                <a:solidFill>
                  <a:schemeClr val="bg1">
                    <a:lumMod val="75000"/>
                  </a:schemeClr>
                </a:solidFill>
              </a:rPr>
              <a:t>IMPORTANTE: Evaluar si un proyecto de IA es rentable considerando todos los gastos y el valor que genera</a:t>
            </a:r>
            <a:endParaRPr sz="12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7FA"/>
                </a:solidFill>
                <a:latin typeface="Aptos"/>
              </a:defRPr>
            </a:pPr>
            <a:r>
              <a:t>Métricas operativas: HITL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6012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1">
                <a:solidFill>
                  <a:srgbClr val="FF6F00"/>
                </a:solidFill>
                <a:latin typeface="Aptos"/>
              </a:defRPr>
            </a:pPr>
            <a:r>
              <a:t>HITL Rate 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141732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5F7FA"/>
                </a:solidFill>
                <a:latin typeface="Aptos"/>
              </a:defRPr>
            </a:pPr>
            <a:r>
              <a:t>casos con intervención humana / casos totales × 100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5029200" cy="2286000"/>
          </a:xfrm>
          <a:prstGeom prst="roundRect">
            <a:avLst/>
          </a:prstGeom>
          <a:solidFill>
            <a:srgbClr val="1B202A"/>
          </a:solidFill>
          <a:ln>
            <a:solidFill>
              <a:srgbClr val="37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514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5591FF"/>
                </a:solidFill>
                <a:latin typeface="Aptos"/>
              </a:defRPr>
            </a:pPr>
            <a:r>
              <a:t>Ejemplo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990087"/>
            <a:ext cx="45720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t>1.000 ejecuciones</a:t>
            </a:r>
            <a:br/>
            <a:r>
              <a:t>200 requieren humano</a:t>
            </a:r>
            <a:br/>
            <a:br/>
            <a:r>
              <a:t>HITL = 20%</a:t>
            </a:r>
            <a:br/>
            <a:r>
              <a:t>Autonomía aproximada = 80%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331720"/>
            <a:ext cx="5029200" cy="2286000"/>
          </a:xfrm>
          <a:prstGeom prst="roundRect">
            <a:avLst/>
          </a:prstGeom>
          <a:solidFill>
            <a:srgbClr val="1B202A"/>
          </a:solidFill>
          <a:ln>
            <a:solidFill>
              <a:srgbClr val="37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514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5BE3C"/>
                </a:solidFill>
                <a:latin typeface="Aptos"/>
              </a:defRPr>
            </a:pPr>
            <a:r>
              <a:t>Cuidado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990087"/>
            <a:ext cx="4572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rPr dirty="0"/>
              <a:t>HITL bajo no </a:t>
            </a:r>
            <a:r>
              <a:rPr dirty="0" err="1"/>
              <a:t>siempre</a:t>
            </a:r>
            <a:r>
              <a:rPr dirty="0"/>
              <a:t> es </a:t>
            </a:r>
            <a:r>
              <a:rPr dirty="0" err="1"/>
              <a:t>mejor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/>
              <a:t>En </a:t>
            </a:r>
            <a:r>
              <a:rPr dirty="0" err="1"/>
              <a:t>tareas</a:t>
            </a:r>
            <a:r>
              <a:rPr dirty="0"/>
              <a:t> de alto </a:t>
            </a:r>
            <a:r>
              <a:rPr dirty="0" err="1"/>
              <a:t>riesgo</a:t>
            </a:r>
            <a:r>
              <a:rPr dirty="0"/>
              <a:t>,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revisión</a:t>
            </a:r>
            <a:r>
              <a:rPr dirty="0"/>
              <a:t> humana breve </a:t>
            </a:r>
            <a:r>
              <a:rPr dirty="0" err="1"/>
              <a:t>puede</a:t>
            </a:r>
            <a:r>
              <a:rPr dirty="0"/>
              <a:t> ser </a:t>
            </a:r>
            <a:r>
              <a:rPr dirty="0" err="1"/>
              <a:t>parte</a:t>
            </a:r>
            <a:r>
              <a:rPr dirty="0"/>
              <a:t> del </a:t>
            </a:r>
            <a:r>
              <a:rPr dirty="0" err="1"/>
              <a:t>diseño</a:t>
            </a:r>
            <a:r>
              <a:rPr dirty="0"/>
              <a:t> </a:t>
            </a:r>
            <a:r>
              <a:rPr dirty="0" err="1"/>
              <a:t>correcto</a:t>
            </a:r>
            <a:r>
              <a:rPr dirty="0"/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166360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5F7FA"/>
                </a:solidFill>
                <a:latin typeface="Aptos"/>
              </a:defRPr>
            </a:pPr>
            <a:r>
              <a:t>Pregunta correcta: ¿cuánto trabajo cognitivo humano eliminamos?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7FA"/>
                </a:solidFill>
                <a:latin typeface="Aptos"/>
              </a:defRPr>
            </a:pPr>
            <a:r>
              <a:t>4 métricas técnicas para recordar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6012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2651760" cy="1828800"/>
          </a:xfrm>
          <a:prstGeom prst="roundRect">
            <a:avLst/>
          </a:prstGeom>
          <a:solidFill>
            <a:srgbClr val="1B202A"/>
          </a:solidFill>
          <a:ln>
            <a:solidFill>
              <a:srgbClr val="37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38BE78"/>
                </a:solidFill>
                <a:latin typeface="Aptos"/>
              </a:defRPr>
            </a:pPr>
            <a:r>
              <a:t>Tool-call success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75688"/>
            <a:ext cx="226771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rPr dirty="0" err="1"/>
              <a:t>Llamadas</a:t>
            </a:r>
            <a:r>
              <a:rPr dirty="0"/>
              <a:t> </a:t>
            </a:r>
            <a:r>
              <a:rPr dirty="0" err="1"/>
              <a:t>correctas</a:t>
            </a:r>
            <a:r>
              <a:rPr dirty="0"/>
              <a:t> / </a:t>
            </a:r>
            <a:r>
              <a:rPr dirty="0" err="1"/>
              <a:t>llamadas</a:t>
            </a:r>
            <a:r>
              <a:rPr dirty="0"/>
              <a:t> </a:t>
            </a:r>
            <a:r>
              <a:rPr dirty="0" err="1"/>
              <a:t>totales</a:t>
            </a:r>
            <a:r>
              <a:rPr dirty="0"/>
              <a:t>.</a:t>
            </a:r>
            <a:br>
              <a:rPr dirty="0"/>
            </a:br>
            <a:r>
              <a:rPr dirty="0" err="1"/>
              <a:t>Ej</a:t>
            </a:r>
            <a:r>
              <a:rPr dirty="0"/>
              <a:t>.: 92/100 = 92%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417320"/>
            <a:ext cx="2651760" cy="1828800"/>
          </a:xfrm>
          <a:prstGeom prst="roundRect">
            <a:avLst/>
          </a:prstGeom>
          <a:solidFill>
            <a:srgbClr val="1B202A"/>
          </a:solidFill>
          <a:ln>
            <a:solidFill>
              <a:srgbClr val="37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49039" y="16002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E64B4B"/>
                </a:solidFill>
                <a:latin typeface="Aptos"/>
              </a:defRPr>
            </a:pPr>
            <a:r>
              <a:t>Hallucination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075688"/>
            <a:ext cx="219456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rPr dirty="0" err="1"/>
              <a:t>Respuestas</a:t>
            </a:r>
            <a:r>
              <a:rPr dirty="0"/>
              <a:t> no </a:t>
            </a:r>
            <a:r>
              <a:rPr dirty="0" err="1"/>
              <a:t>sustentadas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el </a:t>
            </a:r>
            <a:r>
              <a:rPr dirty="0" err="1"/>
              <a:t>contexto</a:t>
            </a:r>
            <a:r>
              <a:rPr dirty="0"/>
              <a:t> disponible.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17320"/>
            <a:ext cx="2651760" cy="1828800"/>
          </a:xfrm>
          <a:prstGeom prst="roundRect">
            <a:avLst/>
          </a:prstGeom>
          <a:solidFill>
            <a:srgbClr val="1B202A"/>
          </a:solidFill>
          <a:ln>
            <a:solidFill>
              <a:srgbClr val="37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6002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5BE3C"/>
                </a:solidFill>
                <a:latin typeface="Aptos"/>
              </a:defRPr>
            </a:pPr>
            <a:r>
              <a:t>Fallback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75688"/>
            <a:ext cx="219456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rPr dirty="0" err="1"/>
              <a:t>Cuántas</a:t>
            </a:r>
            <a:r>
              <a:rPr dirty="0"/>
              <a:t> </a:t>
            </a:r>
            <a:r>
              <a:rPr dirty="0" err="1"/>
              <a:t>veces</a:t>
            </a:r>
            <a:r>
              <a:rPr dirty="0"/>
              <a:t> el </a:t>
            </a:r>
            <a:r>
              <a:rPr dirty="0" err="1"/>
              <a:t>agente</a:t>
            </a:r>
            <a:r>
              <a:rPr dirty="0"/>
              <a:t> no </a:t>
            </a:r>
            <a:r>
              <a:rPr dirty="0" err="1"/>
              <a:t>puede</a:t>
            </a:r>
            <a:r>
              <a:rPr dirty="0"/>
              <a:t> resolver y </a:t>
            </a:r>
            <a:r>
              <a:rPr dirty="0" err="1"/>
              <a:t>deriva</a:t>
            </a:r>
            <a:r>
              <a:rPr dirty="0"/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1417320"/>
            <a:ext cx="2331720" cy="1828800"/>
          </a:xfrm>
          <a:prstGeom prst="roundRect">
            <a:avLst/>
          </a:prstGeom>
          <a:solidFill>
            <a:srgbClr val="1B202A"/>
          </a:solidFill>
          <a:ln>
            <a:solidFill>
              <a:srgbClr val="37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0" y="1600200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5591FF"/>
                </a:solidFill>
                <a:latin typeface="Aptos"/>
              </a:defRPr>
            </a:pPr>
            <a:r>
              <a:t>Planning depth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075688"/>
            <a:ext cx="192023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rPr dirty="0" err="1"/>
              <a:t>Cantidad</a:t>
            </a:r>
            <a:r>
              <a:rPr dirty="0"/>
              <a:t> de pasos para resolver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tarea</a:t>
            </a:r>
            <a:r>
              <a:rPr dirty="0"/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977639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FF6F00"/>
                </a:solidFill>
                <a:latin typeface="Aptos"/>
              </a:defRPr>
            </a:pPr>
            <a:r>
              <a:t>Una métrica aislada puede engañar.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709160"/>
            <a:ext cx="9875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0">
                <a:solidFill>
                  <a:srgbClr val="F5F7FA"/>
                </a:solidFill>
                <a:latin typeface="Aptos"/>
              </a:defRPr>
            </a:pPr>
            <a:r>
              <a:t>Accuracy 98% + HITL 70% → quizá el agente parece preciso porque deriva casi todos los casos difíciles.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7FA"/>
                </a:solidFill>
                <a:latin typeface="Aptos"/>
              </a:defRPr>
            </a:pPr>
            <a:r>
              <a:t>AI-as-a-Judge = QA automatizado para outputs de 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6012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1920240" cy="914400"/>
          </a:xfrm>
          <a:prstGeom prst="roundRect">
            <a:avLst/>
          </a:prstGeom>
          <a:solidFill>
            <a:srgbClr val="1B202A"/>
          </a:solidFill>
          <a:ln w="25400">
            <a:solidFill>
              <a:srgbClr val="55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359152"/>
            <a:ext cx="1737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USUARIO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2194560"/>
            <a:ext cx="1920240" cy="914400"/>
          </a:xfrm>
          <a:prstGeom prst="roundRect">
            <a:avLst/>
          </a:prstGeom>
          <a:solidFill>
            <a:srgbClr val="1B202A"/>
          </a:solidFill>
          <a:ln w="25400">
            <a:solidFill>
              <a:srgbClr val="38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08960" y="2359152"/>
            <a:ext cx="1737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AGENTE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2194560"/>
            <a:ext cx="2103120" cy="914400"/>
          </a:xfrm>
          <a:prstGeom prst="roundRect">
            <a:avLst/>
          </a:prstGeom>
          <a:solidFill>
            <a:srgbClr val="1B202A"/>
          </a:solidFill>
          <a:ln w="25400">
            <a:solidFill>
              <a:srgbClr val="F5B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94959" y="2359152"/>
            <a:ext cx="192023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RESPUESTA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194560"/>
            <a:ext cx="1920240" cy="914400"/>
          </a:xfrm>
          <a:prstGeom prst="roundRect">
            <a:avLst/>
          </a:prstGeom>
          <a:solidFill>
            <a:srgbClr val="1B202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0" y="2359152"/>
            <a:ext cx="1737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JUEZ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2194560"/>
            <a:ext cx="1463040" cy="914400"/>
          </a:xfrm>
          <a:prstGeom prst="roundRect">
            <a:avLst/>
          </a:prstGeom>
          <a:solidFill>
            <a:srgbClr val="1B202A"/>
          </a:solidFill>
          <a:ln w="25400">
            <a:solidFill>
              <a:srgbClr val="E6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149840" y="2359152"/>
            <a:ext cx="1280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¿PASA?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51760" y="2651760"/>
            <a:ext cx="365760" cy="0"/>
          </a:xfrm>
          <a:prstGeom prst="line">
            <a:avLst/>
          </a:prstGeom>
          <a:ln w="25400">
            <a:solidFill>
              <a:srgbClr val="AF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2651760"/>
            <a:ext cx="365760" cy="0"/>
          </a:xfrm>
          <a:prstGeom prst="line">
            <a:avLst/>
          </a:prstGeom>
          <a:ln w="25400">
            <a:solidFill>
              <a:srgbClr val="AF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06640" y="2651760"/>
            <a:ext cx="365760" cy="0"/>
          </a:xfrm>
          <a:prstGeom prst="line">
            <a:avLst/>
          </a:prstGeom>
          <a:ln w="25400">
            <a:solidFill>
              <a:srgbClr val="AF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692640" y="2651760"/>
            <a:ext cx="365760" cy="0"/>
          </a:xfrm>
          <a:prstGeom prst="line">
            <a:avLst/>
          </a:prstGeom>
          <a:ln w="25400">
            <a:solidFill>
              <a:srgbClr val="AF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400" y="402336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F5F7FA"/>
                </a:solidFill>
                <a:latin typeface="Aptos"/>
              </a:defRPr>
            </a:pPr>
            <a:r>
              <a:t>El agente genera. El juez evalúa. n8n aplica la política.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834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FF6F00"/>
                </a:solidFill>
                <a:latin typeface="Aptos"/>
              </a:defRPr>
            </a:pPr>
            <a:r>
              <a:t>La IA interpreta; n8n controla.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7FA"/>
                </a:solidFill>
                <a:latin typeface="Aptos"/>
              </a:defRPr>
            </a:pPr>
            <a:r>
              <a:t>¿Qué necesita ver el Juez?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6012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77240" y="1463040"/>
            <a:ext cx="2468880" cy="1371600"/>
          </a:xfrm>
          <a:prstGeom prst="roundRect">
            <a:avLst/>
          </a:prstGeom>
          <a:solidFill>
            <a:srgbClr val="1B202A"/>
          </a:solidFill>
          <a:ln>
            <a:solidFill>
              <a:srgbClr val="37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5591FF"/>
                </a:solidFill>
                <a:latin typeface="Aptos"/>
              </a:defRPr>
            </a:pPr>
            <a:r>
              <a:t>1. 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21408"/>
            <a:ext cx="2240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rPr dirty="0"/>
              <a:t>¿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pidió</a:t>
            </a:r>
            <a:r>
              <a:rPr dirty="0"/>
              <a:t> </a:t>
            </a:r>
            <a:r>
              <a:rPr dirty="0" err="1"/>
              <a:t>originalmente</a:t>
            </a:r>
            <a:r>
              <a:rPr dirty="0"/>
              <a:t> el </a:t>
            </a:r>
            <a:r>
              <a:rPr dirty="0" err="1"/>
              <a:t>usuario</a:t>
            </a:r>
            <a:r>
              <a:rPr dirty="0"/>
              <a:t>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468880" cy="1371600"/>
          </a:xfrm>
          <a:prstGeom prst="roundRect">
            <a:avLst/>
          </a:prstGeom>
          <a:solidFill>
            <a:srgbClr val="1B202A"/>
          </a:solidFill>
          <a:ln>
            <a:solidFill>
              <a:srgbClr val="37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03320" y="16459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38BE78"/>
                </a:solidFill>
                <a:latin typeface="Aptos"/>
              </a:defRPr>
            </a:pPr>
            <a:r>
              <a:t>2. Contexto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12140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rPr dirty="0"/>
              <a:t>¿Cuál es la </a:t>
            </a:r>
            <a:r>
              <a:rPr dirty="0" err="1"/>
              <a:t>evidencia</a:t>
            </a:r>
            <a:r>
              <a:rPr dirty="0"/>
              <a:t> </a:t>
            </a:r>
            <a:r>
              <a:rPr dirty="0" err="1"/>
              <a:t>autorizada</a:t>
            </a:r>
            <a:r>
              <a:rPr dirty="0"/>
              <a:t>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63040"/>
            <a:ext cx="2468880" cy="1371600"/>
          </a:xfrm>
          <a:prstGeom prst="roundRect">
            <a:avLst/>
          </a:prstGeom>
          <a:solidFill>
            <a:srgbClr val="1B202A"/>
          </a:solidFill>
          <a:ln>
            <a:solidFill>
              <a:srgbClr val="37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5BE3C"/>
                </a:solidFill>
                <a:latin typeface="Aptos"/>
              </a:defRPr>
            </a:pPr>
            <a:r>
              <a:t>3. Respuesta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21408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t>¿Qué produjo el agente?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1463040"/>
            <a:ext cx="2468880" cy="1371600"/>
          </a:xfrm>
          <a:prstGeom prst="roundRect">
            <a:avLst/>
          </a:prstGeom>
          <a:solidFill>
            <a:srgbClr val="1B202A"/>
          </a:solidFill>
          <a:ln>
            <a:solidFill>
              <a:srgbClr val="37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98280" y="16459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6F00"/>
                </a:solidFill>
                <a:latin typeface="Aptos"/>
              </a:defRPr>
            </a:pPr>
            <a:r>
              <a:t>4. Trazas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121408"/>
            <a:ext cx="2093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rPr dirty="0" err="1"/>
              <a:t>Herramientas</a:t>
            </a:r>
            <a:r>
              <a:rPr dirty="0"/>
              <a:t> / metadata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aplica</a:t>
            </a:r>
            <a:r>
              <a:rPr dirty="0"/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E64B4B"/>
                </a:solidFill>
                <a:latin typeface="Aptos"/>
              </a:defRPr>
            </a:pPr>
            <a:r>
              <a:t>No queremos: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069080"/>
            <a:ext cx="9875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0">
                <a:solidFill>
                  <a:srgbClr val="AFB8C6"/>
                </a:solidFill>
                <a:latin typeface="Aptos"/>
              </a:defRPr>
            </a:pPr>
            <a:r>
              <a:t>“La respuesta está bastante bien, aunque podría mejorar…”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749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F5F7FA"/>
                </a:solidFill>
                <a:latin typeface="Aptos"/>
              </a:defRPr>
            </a:pPr>
            <a:r>
              <a:t>Queremos una salida que el workflow pueda consumir.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7FA"/>
                </a:solidFill>
                <a:latin typeface="Aptos"/>
              </a:defRPr>
            </a:pPr>
            <a:r>
              <a:t>Structured Output: de opinión a contrato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6012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4846320" cy="4206240"/>
          </a:xfrm>
          <a:prstGeom prst="roundRect">
            <a:avLst/>
          </a:prstGeom>
          <a:solidFill>
            <a:srgbClr val="1B202A"/>
          </a:solidFill>
          <a:ln>
            <a:solidFill>
              <a:srgbClr val="37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5591FF"/>
                </a:solidFill>
                <a:latin typeface="Aptos"/>
              </a:defRPr>
            </a:pPr>
            <a:r>
              <a:t>Rúbrica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75688"/>
            <a:ext cx="4389120" cy="3383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t>5 = completamente respaldada</a:t>
            </a:r>
            <a:br/>
            <a:r>
              <a:t>4 = correcta; omisión menor</a:t>
            </a:r>
            <a:br/>
            <a:r>
              <a:t>3 = parcialmente correcta</a:t>
            </a:r>
            <a:br/>
            <a:r>
              <a:t>2 = errores importantes</a:t>
            </a:r>
            <a:br/>
            <a:r>
              <a:t>1 = contradice / inventa</a:t>
            </a:r>
            <a:br/>
            <a:br/>
            <a:r>
              <a:t>4–5 → ACEPTADO</a:t>
            </a:r>
            <a:br/>
            <a:r>
              <a:t>3 → CORREGIR</a:t>
            </a:r>
            <a:br/>
            <a:r>
              <a:t>1–2 → RECHAZADO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417320"/>
            <a:ext cx="5486400" cy="4206240"/>
          </a:xfrm>
          <a:prstGeom prst="roundRect">
            <a:avLst/>
          </a:prstGeom>
          <a:solidFill>
            <a:srgbClr val="1B202A"/>
          </a:solidFill>
          <a:ln>
            <a:solidFill>
              <a:srgbClr val="37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0" y="16002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38BE78"/>
                </a:solidFill>
                <a:latin typeface="Aptos"/>
              </a:defRPr>
            </a:pPr>
            <a:r>
              <a:t>Salida esperada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075688"/>
            <a:ext cx="4855464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rPr dirty="0"/>
              <a:t>{"</a:t>
            </a:r>
            <a:r>
              <a:rPr dirty="0" err="1"/>
              <a:t>exactitud_factual</a:t>
            </a:r>
            <a:r>
              <a:rPr dirty="0"/>
              <a:t>": 5,</a:t>
            </a:r>
            <a:br>
              <a:rPr dirty="0"/>
            </a:br>
            <a:r>
              <a:rPr dirty="0"/>
              <a:t> "</a:t>
            </a:r>
            <a:r>
              <a:rPr dirty="0" err="1"/>
              <a:t>estado_veredicto</a:t>
            </a:r>
            <a:r>
              <a:rPr dirty="0"/>
              <a:t>": "ACEPTADO"}</a:t>
            </a:r>
            <a:br>
              <a:rPr dirty="0"/>
            </a:br>
            <a:br>
              <a:rPr dirty="0"/>
            </a:br>
            <a:r>
              <a:rPr dirty="0"/>
              <a:t>El Structured Output Parser </a:t>
            </a:r>
            <a:r>
              <a:rPr dirty="0" err="1"/>
              <a:t>obliga</a:t>
            </a:r>
            <a:r>
              <a:rPr dirty="0"/>
              <a:t> al </a:t>
            </a:r>
            <a:r>
              <a:rPr dirty="0" err="1"/>
              <a:t>modelo</a:t>
            </a:r>
            <a:r>
              <a:rPr dirty="0"/>
              <a:t> a </a:t>
            </a:r>
            <a:r>
              <a:rPr dirty="0" err="1"/>
              <a:t>devolver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estructura</a:t>
            </a:r>
            <a:r>
              <a:rPr dirty="0"/>
              <a:t> </a:t>
            </a:r>
            <a:r>
              <a:rPr dirty="0" err="1"/>
              <a:t>predecible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/>
              <a:t>El Switch </a:t>
            </a:r>
            <a:r>
              <a:rPr dirty="0" err="1"/>
              <a:t>ya</a:t>
            </a:r>
            <a:r>
              <a:rPr dirty="0"/>
              <a:t> no </a:t>
            </a:r>
            <a:r>
              <a:rPr dirty="0" err="1"/>
              <a:t>interpreta</a:t>
            </a:r>
            <a:r>
              <a:rPr dirty="0"/>
              <a:t> </a:t>
            </a:r>
            <a:r>
              <a:rPr dirty="0" err="1"/>
              <a:t>lenguaje</a:t>
            </a:r>
            <a:r>
              <a:rPr dirty="0"/>
              <a:t> natural.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7FA"/>
                </a:solidFill>
                <a:latin typeface="Aptos"/>
              </a:defRPr>
            </a:pPr>
            <a:r>
              <a:t>Las 3 rutas del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6012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754880" y="1234440"/>
            <a:ext cx="2560320" cy="731520"/>
          </a:xfrm>
          <a:prstGeom prst="roundRect">
            <a:avLst/>
          </a:prstGeom>
          <a:solidFill>
            <a:srgbClr val="1B202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46320" y="1399032"/>
            <a:ext cx="23774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AI-as-a-Judge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2331720"/>
            <a:ext cx="1920240" cy="685800"/>
          </a:xfrm>
          <a:prstGeom prst="roundRect">
            <a:avLst/>
          </a:prstGeom>
          <a:solidFill>
            <a:srgbClr val="1B202A"/>
          </a:solidFill>
          <a:ln w="25400">
            <a:solidFill>
              <a:srgbClr val="55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66359" y="249631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SWITCH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35040" y="1965960"/>
            <a:ext cx="0" cy="365760"/>
          </a:xfrm>
          <a:prstGeom prst="line">
            <a:avLst/>
          </a:prstGeom>
          <a:ln w="25400">
            <a:solidFill>
              <a:srgbClr val="AF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22960" y="3794760"/>
            <a:ext cx="2926080" cy="822960"/>
          </a:xfrm>
          <a:prstGeom prst="roundRect">
            <a:avLst/>
          </a:prstGeom>
          <a:solidFill>
            <a:srgbClr val="1B202A"/>
          </a:solidFill>
          <a:ln w="25400">
            <a:solidFill>
              <a:srgbClr val="38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959352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ACEPTADO · 4–5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3794760"/>
            <a:ext cx="2926080" cy="822960"/>
          </a:xfrm>
          <a:prstGeom prst="roundRect">
            <a:avLst/>
          </a:prstGeom>
          <a:solidFill>
            <a:srgbClr val="1B202A"/>
          </a:solidFill>
          <a:ln w="25400">
            <a:solidFill>
              <a:srgbClr val="F5B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59" y="3959352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CORREGIR ·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3794760"/>
            <a:ext cx="2926080" cy="822960"/>
          </a:xfrm>
          <a:prstGeom prst="roundRect">
            <a:avLst/>
          </a:prstGeom>
          <a:solidFill>
            <a:srgbClr val="1B202A"/>
          </a:solidFill>
          <a:ln w="25400">
            <a:solidFill>
              <a:srgbClr val="E6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19" y="3959352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RECHAZADO · 1–2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2286000" y="3017520"/>
            <a:ext cx="3291840" cy="777240"/>
          </a:xfrm>
          <a:prstGeom prst="line">
            <a:avLst/>
          </a:prstGeom>
          <a:ln w="25400">
            <a:solidFill>
              <a:srgbClr val="AF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35040" y="3017520"/>
            <a:ext cx="45720" cy="777240"/>
          </a:xfrm>
          <a:prstGeom prst="line">
            <a:avLst/>
          </a:prstGeom>
          <a:ln w="25400">
            <a:solidFill>
              <a:srgbClr val="AF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492240" y="3017520"/>
            <a:ext cx="3383280" cy="777240"/>
          </a:xfrm>
          <a:prstGeom prst="line">
            <a:avLst/>
          </a:prstGeom>
          <a:ln w="25400">
            <a:solidFill>
              <a:srgbClr val="AF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498348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0">
                <a:solidFill>
                  <a:srgbClr val="F5F7FA"/>
                </a:solidFill>
                <a:latin typeface="Aptos"/>
              </a:defRPr>
            </a:pPr>
            <a:r>
              <a:t>Salida / Telegram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98348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0">
                <a:solidFill>
                  <a:srgbClr val="F5F7FA"/>
                </a:solidFill>
                <a:latin typeface="Aptos"/>
              </a:defRPr>
            </a:pPr>
            <a:r>
              <a:t>Self-Healing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98348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0">
                <a:solidFill>
                  <a:srgbClr val="F5F7FA"/>
                </a:solidFill>
                <a:latin typeface="Aptos"/>
              </a:defRPr>
            </a:pPr>
            <a:r>
              <a:t>HITL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7FA"/>
                </a:solidFill>
                <a:latin typeface="Aptos"/>
              </a:defRPr>
            </a:pPr>
            <a:r>
              <a:t>Self-Healing: corregir antes de escalar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6012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2286000"/>
            <a:ext cx="1828800" cy="731520"/>
          </a:xfrm>
          <a:prstGeom prst="roundRect">
            <a:avLst/>
          </a:prstGeom>
          <a:solidFill>
            <a:srgbClr val="1B202A"/>
          </a:solidFill>
          <a:ln w="25400">
            <a:solidFill>
              <a:srgbClr val="F5B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19" y="2450592"/>
            <a:ext cx="1645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JUEZ =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2286000"/>
            <a:ext cx="2011680" cy="731520"/>
          </a:xfrm>
          <a:prstGeom prst="roundRect">
            <a:avLst/>
          </a:prstGeom>
          <a:solidFill>
            <a:srgbClr val="1B202A"/>
          </a:solidFill>
          <a:ln w="25400">
            <a:solidFill>
              <a:srgbClr val="55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26080" y="2450592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FEEDBACK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2286000"/>
            <a:ext cx="1828800" cy="731520"/>
          </a:xfrm>
          <a:prstGeom prst="roundRect">
            <a:avLst/>
          </a:prstGeom>
          <a:solidFill>
            <a:srgbClr val="1B202A"/>
          </a:solidFill>
          <a:ln w="25400">
            <a:solidFill>
              <a:srgbClr val="38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0" y="2450592"/>
            <a:ext cx="1645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AGENTE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2286000"/>
            <a:ext cx="1828800" cy="731520"/>
          </a:xfrm>
          <a:prstGeom prst="roundRect">
            <a:avLst/>
          </a:prstGeom>
          <a:solidFill>
            <a:srgbClr val="1B202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79" y="2450592"/>
            <a:ext cx="1645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JUEZ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2286000"/>
            <a:ext cx="1828800" cy="731520"/>
          </a:xfrm>
          <a:prstGeom prst="roundRect">
            <a:avLst/>
          </a:prstGeom>
          <a:solidFill>
            <a:srgbClr val="1B202A"/>
          </a:solidFill>
          <a:ln w="25400">
            <a:solidFill>
              <a:srgbClr val="E6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92640" y="2450592"/>
            <a:ext cx="1645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DECISIÓN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68880" y="2651760"/>
            <a:ext cx="365760" cy="0"/>
          </a:xfrm>
          <a:prstGeom prst="line">
            <a:avLst/>
          </a:prstGeom>
          <a:ln w="25400">
            <a:solidFill>
              <a:srgbClr val="AF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46320" y="2651760"/>
            <a:ext cx="365760" cy="0"/>
          </a:xfrm>
          <a:prstGeom prst="line">
            <a:avLst/>
          </a:prstGeom>
          <a:ln w="25400">
            <a:solidFill>
              <a:srgbClr val="AF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40880" y="2651760"/>
            <a:ext cx="365760" cy="0"/>
          </a:xfrm>
          <a:prstGeom prst="line">
            <a:avLst/>
          </a:prstGeom>
          <a:ln w="25400">
            <a:solidFill>
              <a:srgbClr val="AF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235440" y="2651760"/>
            <a:ext cx="365760" cy="0"/>
          </a:xfrm>
          <a:prstGeom prst="line">
            <a:avLst/>
          </a:prstGeom>
          <a:ln w="25400">
            <a:solidFill>
              <a:srgbClr val="AF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3977639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F00"/>
                </a:solidFill>
                <a:latin typeface="Aptos"/>
              </a:defRPr>
            </a:pPr>
            <a:r>
              <a:t>retry_count &lt;=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709160"/>
            <a:ext cx="101498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5F7FA"/>
                </a:solidFill>
                <a:latin typeface="Aptos"/>
              </a:defRPr>
            </a:pPr>
            <a:r>
              <a:t>Sin límite: Agent → Judge → Agent → Judge → … = tokens, latencia y loops.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7FA"/>
                </a:solidFill>
                <a:latin typeface="Aptos"/>
              </a:defRPr>
            </a:pPr>
            <a:r>
              <a:t>HITL: cuando la IA debe pedir ayuda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6012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2011680" cy="822960"/>
          </a:xfrm>
          <a:prstGeom prst="roundRect">
            <a:avLst/>
          </a:prstGeom>
          <a:solidFill>
            <a:srgbClr val="1B202A"/>
          </a:solidFill>
          <a:ln w="25400">
            <a:solidFill>
              <a:srgbClr val="E6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267712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RECHAZADO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103120"/>
            <a:ext cx="2194560" cy="822960"/>
          </a:xfrm>
          <a:prstGeom prst="roundRect">
            <a:avLst/>
          </a:prstGeom>
          <a:solidFill>
            <a:srgbClr val="1B202A"/>
          </a:solidFill>
          <a:ln w="25400">
            <a:solidFill>
              <a:srgbClr val="55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74720" y="2267712"/>
            <a:ext cx="20116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TELEGRAM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103120"/>
            <a:ext cx="2286000" cy="822960"/>
          </a:xfrm>
          <a:prstGeom prst="roundRect">
            <a:avLst/>
          </a:prstGeom>
          <a:solidFill>
            <a:srgbClr val="1B202A"/>
          </a:solidFill>
          <a:ln w="25400">
            <a:solidFill>
              <a:srgbClr val="F5B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79" y="2267712"/>
            <a:ext cx="2103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HUMANO REVISA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2103120"/>
            <a:ext cx="2377440" cy="822960"/>
          </a:xfrm>
          <a:prstGeom prst="roundRect">
            <a:avLst/>
          </a:prstGeom>
          <a:solidFill>
            <a:srgbClr val="1B202A"/>
          </a:solidFill>
          <a:ln w="25400">
            <a:solidFill>
              <a:srgbClr val="38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0" y="2267712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APROBAR / NO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26080" y="2514600"/>
            <a:ext cx="457200" cy="0"/>
          </a:xfrm>
          <a:prstGeom prst="line">
            <a:avLst/>
          </a:prstGeom>
          <a:ln w="25400">
            <a:solidFill>
              <a:srgbClr val="AF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77840" y="2514600"/>
            <a:ext cx="457200" cy="0"/>
          </a:xfrm>
          <a:prstGeom prst="line">
            <a:avLst/>
          </a:prstGeom>
          <a:ln w="25400">
            <a:solidFill>
              <a:srgbClr val="AF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321040" y="2514600"/>
            <a:ext cx="457200" cy="0"/>
          </a:xfrm>
          <a:prstGeom prst="line">
            <a:avLst/>
          </a:prstGeom>
          <a:ln w="25400">
            <a:solidFill>
              <a:srgbClr val="AF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3794760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F5F7FA"/>
                </a:solidFill>
                <a:latin typeface="Aptos"/>
              </a:defRPr>
            </a:pPr>
            <a:r>
              <a:t>El humano necesita evidencia para decidir: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AFB8C6"/>
                </a:solidFill>
                <a:latin typeface="Aptos"/>
              </a:defRPr>
            </a:pPr>
            <a:r>
              <a:t>consulta + respuesta propuesta + score + motivo / contexto relevante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6F00"/>
                </a:solidFill>
                <a:latin typeface="Aptos"/>
              </a:defRPr>
            </a:pPr>
            <a:r>
              <a:t>HITL ≠ revisar todo. HITL = intervenir donde el riesgo lo justifica.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7FA"/>
                </a:solidFill>
                <a:latin typeface="Aptos"/>
              </a:defRPr>
            </a:pPr>
            <a:r>
              <a:t>Fuera de dominio ≠ error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6012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5F7FA"/>
                </a:solidFill>
                <a:latin typeface="Aptos"/>
              </a:defRPr>
            </a:pPr>
            <a:r>
              <a:t>Usuario: “Quiero una pizza.”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1498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FB8C6"/>
                </a:solidFill>
                <a:latin typeface="Aptos"/>
              </a:defRPr>
            </a:pPr>
            <a:r>
              <a:t>“Lo siento, no dispongo de información sobre pizzas. Solo puedo brindarte información sobre la política interna de vacaciones que aplica a todos los empleados.”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977639"/>
            <a:ext cx="4480560" cy="1280160"/>
          </a:xfrm>
          <a:prstGeom prst="roundRect">
            <a:avLst/>
          </a:prstGeom>
          <a:solidFill>
            <a:srgbClr val="1B202A"/>
          </a:solidFill>
          <a:ln>
            <a:solidFill>
              <a:srgbClr val="37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25880" y="4160520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38BE78"/>
                </a:solidFill>
                <a:latin typeface="Aptos"/>
              </a:defRPr>
            </a:pPr>
            <a:r>
              <a:t>Buen comportamiento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4636007"/>
            <a:ext cx="4023360" cy="457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t>Reconocer que no existe evidencia suficiente.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3977639"/>
            <a:ext cx="4480560" cy="1280160"/>
          </a:xfrm>
          <a:prstGeom prst="roundRect">
            <a:avLst/>
          </a:prstGeom>
          <a:solidFill>
            <a:srgbClr val="1B202A"/>
          </a:solidFill>
          <a:ln>
            <a:solidFill>
              <a:srgbClr val="37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0" y="4160520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E64B4B"/>
                </a:solidFill>
                <a:latin typeface="Aptos"/>
              </a:defRPr>
            </a:pPr>
            <a:r>
              <a:t>Mal comportamiento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4636007"/>
            <a:ext cx="4023360" cy="457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t>Inventar una respuesta para “ser útil”.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7FA"/>
                </a:solidFill>
                <a:latin typeface="Aptos"/>
              </a:defRPr>
            </a:pPr>
            <a:r>
              <a:t>¿Cómo probamos las 3 ramas?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6012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6F00"/>
                </a:solidFill>
                <a:latin typeface="Aptos"/>
              </a:defRPr>
            </a:pPr>
            <a:r>
              <a:t>No esperamos que el LLM falle de casualidad.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3291840" cy="2011680"/>
          </a:xfrm>
          <a:prstGeom prst="roundRect">
            <a:avLst/>
          </a:prstGeom>
          <a:solidFill>
            <a:srgbClr val="1B202A"/>
          </a:solidFill>
          <a:ln>
            <a:solidFill>
              <a:srgbClr val="37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42316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38BE78"/>
                </a:solidFill>
                <a:latin typeface="Aptos"/>
              </a:defRPr>
            </a:pPr>
            <a:r>
              <a:t>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898648"/>
            <a:ext cx="2834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t>Respuesta completa y correcta</a:t>
            </a:r>
            <a:br/>
            <a:r>
              <a:t>→ Judge 4–5</a:t>
            </a:r>
            <a:br/>
            <a:r>
              <a:t>→ ACEPTADO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240280"/>
            <a:ext cx="3291840" cy="2011680"/>
          </a:xfrm>
          <a:prstGeom prst="roundRect">
            <a:avLst/>
          </a:prstGeom>
          <a:solidFill>
            <a:srgbClr val="1B202A"/>
          </a:solidFill>
          <a:ln>
            <a:solidFill>
              <a:srgbClr val="37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242316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5BE3C"/>
                </a:solidFill>
                <a:latin typeface="Aptos"/>
              </a:defRPr>
            </a:pPr>
            <a:r>
              <a:t>CORREGIR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898648"/>
            <a:ext cx="2834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t>Omisión relevante controlada</a:t>
            </a:r>
            <a:br/>
            <a:r>
              <a:t>→ Judge 3</a:t>
            </a:r>
            <a:br/>
            <a:r>
              <a:t>→ Self-Healing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240280"/>
            <a:ext cx="3291840" cy="2011680"/>
          </a:xfrm>
          <a:prstGeom prst="roundRect">
            <a:avLst/>
          </a:prstGeom>
          <a:solidFill>
            <a:srgbClr val="1B202A"/>
          </a:solidFill>
          <a:ln>
            <a:solidFill>
              <a:srgbClr val="37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242316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E64B4B"/>
                </a:solidFill>
                <a:latin typeface="Aptos"/>
              </a:defRPr>
            </a:pPr>
            <a:r>
              <a:t>RECHAZAR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898648"/>
            <a:ext cx="2834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t>Contradicciones controladas</a:t>
            </a:r>
            <a:br/>
            <a:r>
              <a:t>→ Judge 1–2</a:t>
            </a:r>
            <a:br/>
            <a:r>
              <a:t>→ HITL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834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AFB8C6"/>
                </a:solidFill>
                <a:latin typeface="Aptos"/>
              </a:defRPr>
            </a:pPr>
            <a:r>
              <a:t>modo_prueba es infraestructura de testing, no comportamiento productivo.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7FA"/>
                </a:solidFill>
                <a:latin typeface="Aptos"/>
              </a:defRPr>
            </a:pPr>
            <a:r>
              <a:t>Mejora continua: no optimizar con n = 1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6012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5F7FA"/>
                </a:solidFill>
                <a:latin typeface="Aptos"/>
              </a:defRPr>
            </a:pPr>
            <a:r>
              <a:t>Un usuario encuentra un error. ¿Cambiamos el prompt inmediatamente?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743200"/>
            <a:ext cx="1554480" cy="685800"/>
          </a:xfrm>
          <a:prstGeom prst="roundRect">
            <a:avLst/>
          </a:prstGeom>
          <a:solidFill>
            <a:srgbClr val="1B202A"/>
          </a:solidFill>
          <a:ln w="25400">
            <a:solidFill>
              <a:srgbClr val="55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907792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OBSERVAR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2743200"/>
            <a:ext cx="1554480" cy="685800"/>
          </a:xfrm>
          <a:prstGeom prst="roundRect">
            <a:avLst/>
          </a:prstGeom>
          <a:solidFill>
            <a:srgbClr val="1B202A"/>
          </a:solidFill>
          <a:ln w="25400">
            <a:solidFill>
              <a:srgbClr val="38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14600" y="2907792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PATRÓN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743200"/>
            <a:ext cx="1554480" cy="685800"/>
          </a:xfrm>
          <a:prstGeom prst="roundRect">
            <a:avLst/>
          </a:prstGeom>
          <a:solidFill>
            <a:srgbClr val="1B202A"/>
          </a:solidFill>
          <a:ln w="25400">
            <a:solidFill>
              <a:srgbClr val="F5B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43400" y="2907792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CLASIFICAR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2743200"/>
            <a:ext cx="1554480" cy="685800"/>
          </a:xfrm>
          <a:prstGeom prst="roundRect">
            <a:avLst/>
          </a:prstGeom>
          <a:solidFill>
            <a:srgbClr val="1B202A"/>
          </a:solidFill>
          <a:ln w="254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2200" y="2907792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PROPONER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2743200"/>
            <a:ext cx="1554480" cy="685800"/>
          </a:xfrm>
          <a:prstGeom prst="roundRect">
            <a:avLst/>
          </a:prstGeom>
          <a:solidFill>
            <a:srgbClr val="1B202A"/>
          </a:solidFill>
          <a:ln w="25400">
            <a:solidFill>
              <a:srgbClr val="E6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01000" y="2907792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TESTEAR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38360" y="2743200"/>
            <a:ext cx="1554480" cy="685800"/>
          </a:xfrm>
          <a:prstGeom prst="roundRect">
            <a:avLst/>
          </a:prstGeom>
          <a:solidFill>
            <a:srgbClr val="1B202A"/>
          </a:solidFill>
          <a:ln w="25400">
            <a:solidFill>
              <a:srgbClr val="38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29800" y="2907792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PROMOVER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48840" y="3090672"/>
            <a:ext cx="274320" cy="0"/>
          </a:xfrm>
          <a:prstGeom prst="line">
            <a:avLst/>
          </a:prstGeom>
          <a:ln w="25400">
            <a:solidFill>
              <a:srgbClr val="AF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977639" y="3090672"/>
            <a:ext cx="274321" cy="0"/>
          </a:xfrm>
          <a:prstGeom prst="line">
            <a:avLst/>
          </a:prstGeom>
          <a:ln w="25400">
            <a:solidFill>
              <a:srgbClr val="AF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806440" y="3090672"/>
            <a:ext cx="274320" cy="0"/>
          </a:xfrm>
          <a:prstGeom prst="line">
            <a:avLst/>
          </a:prstGeom>
          <a:ln w="25400">
            <a:solidFill>
              <a:srgbClr val="AF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635240" y="3090672"/>
            <a:ext cx="274320" cy="0"/>
          </a:xfrm>
          <a:prstGeom prst="line">
            <a:avLst/>
          </a:prstGeom>
          <a:ln w="25400">
            <a:solidFill>
              <a:srgbClr val="AF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464040" y="3090672"/>
            <a:ext cx="274320" cy="0"/>
          </a:xfrm>
          <a:prstGeom prst="line">
            <a:avLst/>
          </a:prstGeom>
          <a:ln w="25400">
            <a:solidFill>
              <a:srgbClr val="AF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434340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AFB8C6"/>
                </a:solidFill>
                <a:latin typeface="Aptos"/>
              </a:defRPr>
            </a:pPr>
            <a:r>
              <a:t>Arreglar un caso aislado puede romper otros 15: sobreajuste del prompt.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7FA"/>
                </a:solidFill>
                <a:latin typeface="Aptos"/>
              </a:defRPr>
            </a:pPr>
            <a:r>
              <a:t>Golden Dataset = suite de regresión para 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6012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297680"/>
          </a:xfrm>
          <a:prstGeom prst="roundRect">
            <a:avLst/>
          </a:prstGeom>
          <a:solidFill>
            <a:srgbClr val="1B202A"/>
          </a:solidFill>
          <a:ln>
            <a:solidFill>
              <a:srgbClr val="37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5591FF"/>
                </a:solidFill>
                <a:latin typeface="Aptos"/>
              </a:defRPr>
            </a:pPr>
            <a:r>
              <a:t>Casos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29967"/>
            <a:ext cx="47548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t>TC01 · Consulta simple</a:t>
            </a:r>
            <a:br/>
            <a:r>
              <a:t>TC02 · Usuario inexistente</a:t>
            </a:r>
            <a:br/>
            <a:r>
              <a:t>TC03 · Caso ambiguo</a:t>
            </a:r>
            <a:br/>
            <a:r>
              <a:t>TC04 · Falta de contexto</a:t>
            </a:r>
            <a:br/>
            <a:r>
              <a:t>TC05 · Prompt injection</a:t>
            </a:r>
            <a:br/>
            <a:br/>
            <a:r>
              <a:t>Cada caso:</a:t>
            </a:r>
            <a:br/>
            <a:r>
              <a:t>input · expected behavior · ground truth · categoría · criticidad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71600"/>
            <a:ext cx="5212080" cy="4297680"/>
          </a:xfrm>
          <a:prstGeom prst="roundRect">
            <a:avLst/>
          </a:prstGeom>
          <a:solidFill>
            <a:srgbClr val="1B202A"/>
          </a:solidFill>
          <a:ln>
            <a:solidFill>
              <a:srgbClr val="37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38BE78"/>
                </a:solidFill>
                <a:latin typeface="Aptos"/>
              </a:defRPr>
            </a:pPr>
            <a:r>
              <a:t>¿Cuándo correrlo?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29967"/>
            <a:ext cx="47548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t>Cuando cambiamos:</a:t>
            </a:r>
            <a:br/>
            <a:br/>
            <a:r>
              <a:t>Prompt</a:t>
            </a:r>
            <a:br/>
            <a:r>
              <a:t>Modelo</a:t>
            </a:r>
            <a:br/>
            <a:r>
              <a:t>RAG</a:t>
            </a:r>
            <a:br/>
            <a:r>
              <a:t>Arquitectura</a:t>
            </a:r>
            <a:br/>
            <a:r>
              <a:t>Herramientas</a:t>
            </a:r>
            <a:br/>
            <a:r>
              <a:t>Guardrails</a:t>
            </a:r>
            <a:br/>
            <a:br/>
            <a:r>
              <a:t>Mismos casos → comparación válida.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7FA"/>
                </a:solidFill>
                <a:latin typeface="Aptos"/>
              </a:defRPr>
            </a:pPr>
            <a:r>
              <a:t>A/B Testing: mismas preguntas, dos arquitecturas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6012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108960" cy="1828800"/>
          </a:xfrm>
          <a:prstGeom prst="roundRect">
            <a:avLst/>
          </a:prstGeom>
          <a:solidFill>
            <a:srgbClr val="1B202A"/>
          </a:solidFill>
          <a:ln>
            <a:solidFill>
              <a:srgbClr val="37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5591FF"/>
                </a:solidFill>
                <a:latin typeface="Aptos"/>
              </a:defRPr>
            </a:pPr>
            <a:r>
              <a:t>Arquitectura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84248"/>
            <a:ext cx="26517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t>Single Agent</a:t>
            </a:r>
            <a:br/>
            <a:r>
              <a:t>+</a:t>
            </a:r>
            <a:br/>
            <a:r>
              <a:t>RAG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325880"/>
            <a:ext cx="3108960" cy="1828800"/>
          </a:xfrm>
          <a:prstGeom prst="roundRect">
            <a:avLst/>
          </a:prstGeom>
          <a:solidFill>
            <a:srgbClr val="1B202A"/>
          </a:solidFill>
          <a:ln>
            <a:solidFill>
              <a:srgbClr val="37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0" y="150876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38BE78"/>
                </a:solidFill>
                <a:latin typeface="Aptos"/>
              </a:defRPr>
            </a:pPr>
            <a:r>
              <a:t>Arquitectura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865376"/>
            <a:ext cx="26517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t>Planner</a:t>
            </a:r>
            <a:br/>
            <a:r>
              <a:t>+</a:t>
            </a:r>
            <a:br/>
            <a:r>
              <a:t>Executor</a:t>
            </a:r>
            <a:br/>
            <a:r>
              <a:t>+</a:t>
            </a:r>
            <a:br/>
            <a:r>
              <a:t>RAG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325880"/>
            <a:ext cx="3108960" cy="1828800"/>
          </a:xfrm>
          <a:prstGeom prst="roundRect">
            <a:avLst/>
          </a:prstGeom>
          <a:solidFill>
            <a:srgbClr val="1B202A"/>
          </a:solidFill>
          <a:ln>
            <a:solidFill>
              <a:srgbClr val="37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0" y="150876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5BE3C"/>
                </a:solidFill>
                <a:latin typeface="Aptos"/>
              </a:defRPr>
            </a:pPr>
            <a:r>
              <a:t>Condición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984248"/>
            <a:ext cx="27706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7FA"/>
                </a:solidFill>
                <a:latin typeface="Aptos"/>
              </a:defRPr>
            </a:pPr>
            <a:r>
              <a:rPr dirty="0" err="1"/>
              <a:t>Exactamente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mismos</a:t>
            </a:r>
            <a:r>
              <a:rPr dirty="0"/>
              <a:t> </a:t>
            </a:r>
            <a:r>
              <a:rPr dirty="0" err="1"/>
              <a:t>casos</a:t>
            </a:r>
            <a:r>
              <a:rPr dirty="0"/>
              <a:t> y </a:t>
            </a:r>
            <a:r>
              <a:rPr dirty="0" err="1"/>
              <a:t>criterios</a:t>
            </a:r>
            <a:r>
              <a:rPr dirty="0"/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03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6F00"/>
                </a:solidFill>
                <a:latin typeface="Aptos"/>
              </a:defRPr>
            </a:pPr>
            <a:r>
              <a:t>Medimos: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5196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F5F7FA"/>
                </a:solidFill>
                <a:latin typeface="Aptos"/>
              </a:defRPr>
            </a:pPr>
            <a:r>
              <a:t>Precisión · HITL · tokens · costo · latencia · errores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3035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0">
                <a:solidFill>
                  <a:srgbClr val="AFB8C6"/>
                </a:solidFill>
                <a:latin typeface="Aptos"/>
              </a:defRPr>
            </a:pPr>
            <a:r>
              <a:t>“Más inteligente” no significa automáticamente “mejor para negocio”.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7FA"/>
                </a:solidFill>
                <a:latin typeface="Aptos"/>
              </a:defRPr>
            </a:pPr>
            <a:r>
              <a:t>Shadow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6012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1920240" cy="731520"/>
          </a:xfrm>
          <a:prstGeom prst="roundRect">
            <a:avLst/>
          </a:prstGeom>
          <a:solidFill>
            <a:srgbClr val="1B202A"/>
          </a:solidFill>
          <a:ln w="25400">
            <a:solidFill>
              <a:srgbClr val="55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542032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INPUT REAL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600200"/>
            <a:ext cx="2103120" cy="731520"/>
          </a:xfrm>
          <a:prstGeom prst="roundRect">
            <a:avLst/>
          </a:prstGeom>
          <a:solidFill>
            <a:srgbClr val="1B202A"/>
          </a:solidFill>
          <a:ln w="25400">
            <a:solidFill>
              <a:srgbClr val="38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49039" y="1764792"/>
            <a:ext cx="19202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A · PRODUCCIÓN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3154680"/>
            <a:ext cx="2103120" cy="731520"/>
          </a:xfrm>
          <a:prstGeom prst="roundRect">
            <a:avLst/>
          </a:prstGeom>
          <a:solidFill>
            <a:srgbClr val="1B202A"/>
          </a:solidFill>
          <a:ln w="25400">
            <a:solidFill>
              <a:srgbClr val="F5B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49039" y="3319272"/>
            <a:ext cx="19202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B · SHADOW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600200"/>
            <a:ext cx="2103120" cy="731520"/>
          </a:xfrm>
          <a:prstGeom prst="roundRect">
            <a:avLst/>
          </a:prstGeom>
          <a:solidFill>
            <a:srgbClr val="1B202A"/>
          </a:solidFill>
          <a:ln w="25400">
            <a:solidFill>
              <a:srgbClr val="38B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0" y="1764792"/>
            <a:ext cx="19202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USUARIO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154680"/>
            <a:ext cx="2103120" cy="731520"/>
          </a:xfrm>
          <a:prstGeom prst="roundRect">
            <a:avLst/>
          </a:prstGeom>
          <a:solidFill>
            <a:srgbClr val="1B202A"/>
          </a:solidFill>
          <a:ln w="25400">
            <a:solidFill>
              <a:srgbClr val="AFB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0" y="3319272"/>
            <a:ext cx="19202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F7FA"/>
                </a:solidFill>
                <a:latin typeface="Aptos"/>
              </a:defRPr>
            </a:pPr>
            <a:r>
              <a:t>SOLO LOG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651760" y="1965960"/>
            <a:ext cx="1005840" cy="777240"/>
          </a:xfrm>
          <a:prstGeom prst="line">
            <a:avLst/>
          </a:prstGeom>
          <a:ln w="25400">
            <a:solidFill>
              <a:srgbClr val="AF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651760" y="2743200"/>
            <a:ext cx="1005840" cy="777240"/>
          </a:xfrm>
          <a:prstGeom prst="line">
            <a:avLst/>
          </a:prstGeom>
          <a:ln w="25400">
            <a:solidFill>
              <a:srgbClr val="AF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60720" y="1965960"/>
            <a:ext cx="1554480" cy="0"/>
          </a:xfrm>
          <a:prstGeom prst="line">
            <a:avLst/>
          </a:prstGeom>
          <a:ln w="25400">
            <a:solidFill>
              <a:srgbClr val="AF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3520440"/>
            <a:ext cx="1554480" cy="0"/>
          </a:xfrm>
          <a:prstGeom prst="line">
            <a:avLst/>
          </a:prstGeom>
          <a:ln w="25400">
            <a:solidFill>
              <a:srgbClr val="AFB8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48006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F5F7FA"/>
                </a:solidFill>
                <a:latin typeface="Aptos"/>
              </a:defRPr>
            </a:pPr>
            <a:r>
              <a:t>B procesa tráfico real, pero su respuesta no afecta al usuario.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7FA"/>
                </a:solidFill>
                <a:latin typeface="Aptos"/>
              </a:defRPr>
            </a:pPr>
            <a:r>
              <a:rPr dirty="0"/>
              <a:t>Dashboard: </a:t>
            </a:r>
            <a:r>
              <a:rPr dirty="0" err="1"/>
              <a:t>decidir</a:t>
            </a:r>
            <a:r>
              <a:rPr dirty="0"/>
              <a:t> con </a:t>
            </a:r>
            <a:r>
              <a:rPr dirty="0" err="1"/>
              <a:t>métricas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6012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6F00"/>
                </a:solidFill>
                <a:latin typeface="Aptos"/>
              </a:defRPr>
            </a:pPr>
            <a:r>
              <a:t>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554480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6F00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83480" y="1554480"/>
            <a:ext cx="1508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6F00"/>
                </a:solidFill>
                <a:latin typeface="Aptos"/>
              </a:defRPr>
            </a:pPr>
            <a:r>
              <a:t>HITL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1874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6F00"/>
                </a:solidFill>
                <a:latin typeface="Aptos"/>
              </a:defRPr>
            </a:pPr>
            <a:r>
              <a:t>Tokens prom.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155448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6F00"/>
                </a:solidFill>
                <a:latin typeface="Aptos"/>
              </a:defRPr>
            </a:pPr>
            <a:r>
              <a:t>Costo/ejec.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04120" y="155448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6F00"/>
                </a:solidFill>
                <a:latin typeface="Aptos"/>
              </a:defRPr>
            </a:pPr>
            <a:r>
              <a:t>Costo ×1000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5F7FA"/>
                </a:solidFill>
                <a:latin typeface="Aptos"/>
              </a:defRPr>
            </a:pPr>
            <a:r>
              <a:rPr dirty="0"/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331720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0">
                <a:solidFill>
                  <a:srgbClr val="F5F7FA"/>
                </a:solidFill>
                <a:latin typeface="Aptos"/>
              </a:defRPr>
            </a:pPr>
            <a:r>
              <a:t>88%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331720"/>
            <a:ext cx="1508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0">
                <a:solidFill>
                  <a:srgbClr val="F5F7FA"/>
                </a:solidFill>
                <a:latin typeface="Aptos"/>
              </a:defRPr>
            </a:pPr>
            <a:r>
              <a:t>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31720"/>
            <a:ext cx="1874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0">
                <a:solidFill>
                  <a:srgbClr val="F5F7FA"/>
                </a:solidFill>
                <a:latin typeface="Aptos"/>
              </a:defRPr>
            </a:pPr>
            <a:r>
              <a:t>2.100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33172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0">
                <a:solidFill>
                  <a:srgbClr val="F5F7FA"/>
                </a:solidFill>
                <a:latin typeface="Aptos"/>
              </a:defRPr>
            </a:pPr>
            <a:r>
              <a:t>$0.02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04120" y="2331720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0">
                <a:solidFill>
                  <a:srgbClr val="F5F7FA"/>
                </a:solidFill>
                <a:latin typeface="Aptos"/>
              </a:defRPr>
            </a:pPr>
            <a:r>
              <a:t>$20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54679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5F7FA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154679"/>
            <a:ext cx="1600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0">
                <a:solidFill>
                  <a:srgbClr val="F5F7FA"/>
                </a:solidFill>
                <a:latin typeface="Aptos"/>
              </a:defRPr>
            </a:pPr>
            <a:r>
              <a:t>94%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3154679"/>
            <a:ext cx="1508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0">
                <a:solidFill>
                  <a:srgbClr val="F5F7FA"/>
                </a:solidFill>
                <a:latin typeface="Aptos"/>
              </a:defRPr>
            </a:pPr>
            <a:r>
              <a:t>35%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154679"/>
            <a:ext cx="1874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0">
                <a:solidFill>
                  <a:srgbClr val="F5F7FA"/>
                </a:solidFill>
                <a:latin typeface="Aptos"/>
              </a:defRPr>
            </a:pPr>
            <a:r>
              <a:t>5.800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154679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0">
                <a:solidFill>
                  <a:srgbClr val="F5F7FA"/>
                </a:solidFill>
                <a:latin typeface="Aptos"/>
              </a:defRPr>
            </a:pPr>
            <a:r>
              <a:t>$0.06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04120" y="3154679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0">
                <a:solidFill>
                  <a:srgbClr val="F5F7FA"/>
                </a:solidFill>
                <a:latin typeface="Aptos"/>
              </a:defRPr>
            </a:pPr>
            <a:r>
              <a:t>$60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34340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5F7FA"/>
                </a:solidFill>
                <a:latin typeface="Aptos"/>
              </a:defRPr>
            </a:pPr>
            <a:r>
              <a:t>¿Cuál elegirían?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07492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AFB8C6"/>
                </a:solidFill>
                <a:latin typeface="Aptos"/>
              </a:defRPr>
            </a:pPr>
            <a:r>
              <a:t>Respuesta profesional: depende del riesgo y del objetivo de negocio.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2344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F00"/>
                </a:solidFill>
                <a:latin typeface="Aptos"/>
              </a:defRPr>
            </a:pPr>
            <a:r>
              <a:t>Idea para llevarse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F5F7FA"/>
                </a:solidFill>
                <a:latin typeface="Aptos"/>
              </a:defRPr>
            </a:pPr>
            <a:r>
              <a:t>“No buscamos un agente que nunca se equivoque.</a:t>
            </a:r>
            <a:br/>
            <a:r>
              <a:t>Buscamos un sistema que detecte el error,</a:t>
            </a:r>
            <a:br/>
            <a:r>
              <a:t>se corrija cuando puede y pida ayuda cuando no.”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98348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0">
                <a:solidFill>
                  <a:srgbClr val="AFB8C6"/>
                </a:solidFill>
                <a:latin typeface="Aptos"/>
              </a:defRPr>
            </a:pPr>
            <a:r>
              <a:t>Calidad + observabilidad + control &gt; cantidad de ejecuciones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1209</Words>
  <Application>Microsoft Office PowerPoint</Application>
  <PresentationFormat>Panorámica</PresentationFormat>
  <Paragraphs>188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Carolina Lemes</dc:creator>
  <cp:keywords/>
  <dc:description>generated using python-pptx</dc:description>
  <cp:lastModifiedBy>Carolina Lemes</cp:lastModifiedBy>
  <cp:revision>2</cp:revision>
  <dcterms:created xsi:type="dcterms:W3CDTF">2013-01-27T09:14:16Z</dcterms:created>
  <dcterms:modified xsi:type="dcterms:W3CDTF">2026-09-03T01:47:08Z</dcterms:modified>
  <cp:category/>
</cp:coreProperties>
</file>