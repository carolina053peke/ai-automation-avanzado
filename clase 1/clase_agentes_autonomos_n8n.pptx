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1" r:id="rId3"/>
    <p:sldId id="272" r:id="rId4"/>
    <p:sldId id="273" r:id="rId5"/>
    <p:sldId id="27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73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autónomos vs.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automatización lineal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054096"/>
            <a:ext cx="7132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Diseño experto de workflows en n8n: cuándo usar reglas fijas, cuándo delegar criterio y cómo blindar el sistema.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9808" y="4160520"/>
            <a:ext cx="2331720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 sz="3200"/>
          </a:p>
        </p:txBody>
      </p:sp>
      <p:sp>
        <p:nvSpPr>
          <p:cNvPr id="5" name="Text 3"/>
          <p:cNvSpPr/>
          <p:nvPr/>
        </p:nvSpPr>
        <p:spPr>
          <a:xfrm>
            <a:off x="859536" y="4242816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Clase práctica · Checkpoint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n8n AI Agent Node · ReAct · Tools · System Prompt · Guardrails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26680" y="1640186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</a:rPr>
              <a:t>🤖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9349740" y="21031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8DADC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792603" y="1449247"/>
            <a:ext cx="2042677" cy="1542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🧰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5F7FA"/>
                </a:solidFill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Antes de empezar: ¿qué veníamos automatizando?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B9C2CD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9C2C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Repaso rápido para conectar lo que ya sabemos con el salto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3200400"/>
          </a:xfrm>
          <a:prstGeom prst="roundRect">
            <a:avLst/>
          </a:prstGeom>
          <a:solidFill>
            <a:srgbClr val="1E242C"/>
          </a:solidFill>
          <a:ln>
            <a:solidFill>
              <a:srgbClr val="374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>
                <a:solidFill>
                  <a:srgbClr val="5B9BD5"/>
                </a:solidFill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Automatización lineal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F5F7FA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Llega formulario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→ guardar datos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→ evaluar condición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→ ejecutar acción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Nosotros diseñamos toda la ruta de antemano.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828800"/>
            <a:ext cx="5120640" cy="3200400"/>
          </a:xfrm>
          <a:prstGeom prst="roundRect">
            <a:avLst/>
          </a:prstGeom>
          <a:solidFill>
            <a:srgbClr val="1E242C"/>
          </a:solidFill>
          <a:ln>
            <a:solidFill>
              <a:srgbClr val="374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>
                <a:solidFill>
                  <a:srgbClr val="4AC991"/>
                </a:solidFill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4AC99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Idea clave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F5F7FA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 determinista: ante los mismos datos y reglas, esperamos el mismo recorrido.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Funciona excelente cuando la lógica puede expresarse con IF, Switch y pasos definidos.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607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B9C2CD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B9C2C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Automation · n8n · Agentes Autónomos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5F7FA"/>
                </a:solidFill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El cambio de hoy: ¿quién decide el camino?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B9C2CD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9C2C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Pasamos de programar cada decisión a diseñar una autonomía controlada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74920" cy="3337560"/>
          </a:xfrm>
          <a:prstGeom prst="roundRect">
            <a:avLst/>
          </a:prstGeom>
          <a:solidFill>
            <a:srgbClr val="1E242C"/>
          </a:solidFill>
          <a:ln>
            <a:solidFill>
              <a:srgbClr val="374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>
                <a:solidFill>
                  <a:srgbClr val="5B9BD5"/>
                </a:solidFill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ANTES · Workflow lineal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F5F7FA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Nosotros decidimos: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qué paso sigue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qué condición evaluar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qué acción ejecutar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 IA puede aparecer, pero no controla el flujo.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74920" cy="3337560"/>
          </a:xfrm>
          <a:prstGeom prst="roundRect">
            <a:avLst/>
          </a:prstGeom>
          <a:solidFill>
            <a:srgbClr val="1E242C"/>
          </a:solidFill>
          <a:ln>
            <a:solidFill>
              <a:srgbClr val="374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>
                <a:solidFill>
                  <a:srgbClr val="F67D26"/>
                </a:solidFill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67D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HOY · Agente autónomo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F5F7FA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Nosotros definimos: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objetivo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herramientas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permisos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límites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El agente decide qué acción ejecutar dentro de esos límites.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607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B9C2CD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B9C2C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Automation · n8n · Agentes Autónomos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5F7FA"/>
                </a:solidFill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¿Por qué necesitamos agentes?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B9C2CD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9C2C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Porque el mundo real no siempre entra prolijamente en un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>
                <a:solidFill>
                  <a:srgbClr val="F5F7FA"/>
                </a:solidFill>
              </a:defRPr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“Intenté pagar la factura pero la página me tira un error.”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5029200" cy="2057400"/>
          </a:xfrm>
          <a:prstGeom prst="roundRect">
            <a:avLst/>
          </a:prstGeom>
          <a:solidFill>
            <a:srgbClr val="1E242C"/>
          </a:solidFill>
          <a:ln>
            <a:solidFill>
              <a:srgbClr val="374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>
                <a:solidFill>
                  <a:srgbClr val="E74C3C"/>
                </a:solidFill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 reglas rígidas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F5F7FA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IF contiene "factura" → Contabilidad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IF contiene "error" → Soporte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¿A cuál lo mandamos? ¿Duplicamos acciones?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971800"/>
            <a:ext cx="5029200" cy="2057400"/>
          </a:xfrm>
          <a:prstGeom prst="roundRect">
            <a:avLst/>
          </a:prstGeom>
          <a:solidFill>
            <a:srgbClr val="1E242C"/>
          </a:solidFill>
          <a:ln>
            <a:solidFill>
              <a:srgbClr val="374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>
                <a:solidFill>
                  <a:srgbClr val="4AC991"/>
                </a:solidFill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4AC99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 un agente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F5F7FA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Interpreta la intención completa, puede consultar contexto y decidir qué información falta antes de actuar.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10607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B9C2CD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B9C2C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Automation · n8n · Agentes Autónomos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5F7FA"/>
                </a:solidFill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 idea que guía toda la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B9C2CD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9C2C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 reemplazamos la automatización lineal: la combinamos con IA donde aporta criterio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1">
                <a:solidFill>
                  <a:srgbClr val="F67D26"/>
                </a:solidFill>
              </a:defRPr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F67D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Mantener determinista lo que puede ser determinista.</a:t>
            </a:r>
            <a:b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F67D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F67D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Delegar a la IA lo ambiguo.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246120"/>
            <a:ext cx="3063240" cy="1920240"/>
          </a:xfrm>
          <a:prstGeom prst="roundRect">
            <a:avLst/>
          </a:prstGeom>
          <a:solidFill>
            <a:srgbClr val="1E242C"/>
          </a:solidFill>
          <a:ln>
            <a:solidFill>
              <a:srgbClr val="374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>
                <a:solidFill>
                  <a:srgbClr val="5B9BD5"/>
                </a:solidFill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F5F7FA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Ruta fija.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Eficiente, barata y predecible.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246120"/>
            <a:ext cx="3063240" cy="1920240"/>
          </a:xfrm>
          <a:prstGeom prst="roundRect">
            <a:avLst/>
          </a:prstGeom>
          <a:solidFill>
            <a:srgbClr val="1E242C"/>
          </a:solidFill>
          <a:ln>
            <a:solidFill>
              <a:srgbClr val="374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>
                <a:solidFill>
                  <a:srgbClr val="F67D26"/>
                </a:solidFill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67D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Taxi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F5F7FA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Tiene un destino y decide la ruta.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246120"/>
            <a:ext cx="3063240" cy="1920240"/>
          </a:xfrm>
          <a:prstGeom prst="roundRect">
            <a:avLst/>
          </a:prstGeom>
          <a:solidFill>
            <a:srgbClr val="1E242C"/>
          </a:solidFill>
          <a:ln>
            <a:solidFill>
              <a:srgbClr val="374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>
                <a:solidFill>
                  <a:srgbClr val="4AC991"/>
                </a:solidFill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4AC99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Diseñador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F5F7FA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Define destino, herramientas, permisos y guardrails.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10607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B9C2CD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B9C2C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Automation · n8n · Agentes Autónomos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la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41248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🎯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389888" y="153619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Lo que deben entender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9536" y="194767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59536" y="2112264"/>
            <a:ext cx="308152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Diferenciar una automatización lineal de un sistema agéntico, no por moda tecnológica sino por control del flujo y nivel de ambigüedad.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544568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🧭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093208" y="153619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Lo que deben diseñar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62856" y="194767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562856" y="2112264"/>
            <a:ext cx="308152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Un AI Agent Node en modo Tools Agent con System Prompt modular, una herramienta lateral y límites de autonomía visibles.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247888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📦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796528" y="153619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Lo que deben entregar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66176" y="1947672"/>
            <a:ext cx="822960" cy="50292"/>
          </a:xfrm>
          <a:prstGeom prst="rect">
            <a:avLst/>
          </a:prstGeom>
          <a:solidFill>
            <a:srgbClr val="6D597A"/>
          </a:solidFill>
          <a:ln w="12700">
            <a:solidFill>
              <a:srgbClr val="6D59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8266176" y="2112264"/>
            <a:ext cx="308152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Un workflow exportado en JSON, subido a GitHub, testeado en verde y preparado para crecer en los próximos módulos.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Idea fuerza: mantener determinista lo simple y delegar al agente solo la zona donde hace falta criterio.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cambio de paradigma: de la receta al chef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86968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🚆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435608" y="153619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Automatización lineal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05256" y="194767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05256" y="2112264"/>
            <a:ext cx="472744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Es una vía de tren. El diseñador define cada paso: Trigger → Transformación → IF/Switch → Acción.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Funciona muy bien cuando las reglas son claras, los datos llegan limpios y el resultado debe ser 100% predecible.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510528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🚕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059168" y="153619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Agente autónomo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28816" y="194767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528816" y="2112264"/>
            <a:ext cx="472744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Es un conductor con GPS y herramientas. Recibe un objetivo, interpreta el contexto, decide qué herramienta usar, observa el resultado y corrige el rumbo.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Sirve cuando el proceso tiene ambigüedad, lenguaje humano o decisiones difíciles de codificar con IF.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3474720"/>
            <a:ext cx="8229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ciclo ReAct: Reason + Act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368113" y="1724339"/>
            <a:ext cx="1143000" cy="1143000"/>
          </a:xfrm>
          <a:prstGeom prst="ellipse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368113" y="2140391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246120"/>
            <a:ext cx="2971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96696" y="34564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Thought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96696" y="386791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996696" y="4032504"/>
            <a:ext cx="2532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El agente interpreta el objetivo y decide qué información necesita.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93792" y="1623060"/>
            <a:ext cx="1143000" cy="11430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5193792" y="20391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3246120"/>
            <a:ext cx="2971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562856" y="34564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62856" y="386791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562856" y="4032504"/>
            <a:ext cx="2532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Elige una herramienta configurada en n8n y la ejecuta.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79485" y="1588771"/>
            <a:ext cx="1143000" cy="11430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8979485" y="2004823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98080" y="3246120"/>
            <a:ext cx="2971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7717536" y="34564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Observation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17536" y="4032504"/>
            <a:ext cx="2532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Lee el resultado de la herramienta y evalúa si alcanzó la meta.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740274" y="4697729"/>
            <a:ext cx="1143000" cy="11430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10740274" y="5113781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447666" y="5913881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Repeat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flipV="1">
            <a:off x="2511113" y="2217419"/>
            <a:ext cx="2682678" cy="1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6336791" y="2217420"/>
            <a:ext cx="2642693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10694554" y="5218937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22960" y="629107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Por eso un agente puede consumir más tokens: cada vuelta implica pensar, actuar y observar.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04</a:t>
            </a:r>
            <a:endParaRPr lang="en-US" sz="800" dirty="0"/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07F61991-5427-5B3A-8929-074FF2D692E2}"/>
              </a:ext>
            </a:extLst>
          </p:cNvPr>
          <p:cNvCxnSpPr>
            <a:cxnSpLocks/>
            <a:stCxn id="24" idx="1"/>
            <a:endCxn id="5" idx="2"/>
          </p:cNvCxnSpPr>
          <p:nvPr/>
        </p:nvCxnSpPr>
        <p:spPr>
          <a:xfrm rot="10800000">
            <a:off x="1368114" y="2295839"/>
            <a:ext cx="9372161" cy="2973390"/>
          </a:xfrm>
          <a:prstGeom prst="bentConnector3">
            <a:avLst>
              <a:gd name="adj1" fmla="val 109219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D4B68066-ED42-B1EC-B2D9-3165AE788F17}"/>
              </a:ext>
            </a:extLst>
          </p:cNvPr>
          <p:cNvCxnSpPr>
            <a:cxnSpLocks/>
            <a:stCxn id="17" idx="6"/>
            <a:endCxn id="23" idx="0"/>
          </p:cNvCxnSpPr>
          <p:nvPr/>
        </p:nvCxnSpPr>
        <p:spPr>
          <a:xfrm>
            <a:off x="10122485" y="2160271"/>
            <a:ext cx="1189289" cy="25374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visual del AI Agent Node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60520" y="2692211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4343400" y="3063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AI Agent Node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Tools Agent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2834640" cy="163677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32688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🧠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481328" y="12618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Chat Model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50976" y="167335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950976" y="1837944"/>
            <a:ext cx="2395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OpenAI, Anthropic o Gemini. Aporta razonamiento y function calling.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233672"/>
            <a:ext cx="2834640" cy="14630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32688" y="4526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📜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481328" y="45537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System Message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50976" y="4965192"/>
            <a:ext cx="822960" cy="50292"/>
          </a:xfrm>
          <a:prstGeom prst="rect">
            <a:avLst/>
          </a:prstGeom>
          <a:solidFill>
            <a:srgbClr val="6D597A"/>
          </a:solidFill>
          <a:ln w="12700">
            <a:solidFill>
              <a:srgbClr val="6D59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950976" y="5129784"/>
            <a:ext cx="2395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Rol, alcance, reglas y límites del agente.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41080" y="1051560"/>
            <a:ext cx="2834640" cy="14630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8842248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🧰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390888" y="12618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Tools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60536" y="167335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860536" y="1837944"/>
            <a:ext cx="2395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Gmail, Sheets, Slack, sub-workflows o APIs acotadas.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41080" y="4343399"/>
            <a:ext cx="2834640" cy="1508757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8842248" y="4526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🧷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9390888" y="45537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Memory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860536" y="496519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8860536" y="5129784"/>
            <a:ext cx="2395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Contexto de la conversación o del proceso por sesión.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575304" y="1938520"/>
            <a:ext cx="548640" cy="1417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 flipV="1">
            <a:off x="3602736" y="3429000"/>
            <a:ext cx="512064" cy="1417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 flipV="1">
            <a:off x="8031482" y="1673352"/>
            <a:ext cx="609598" cy="1709926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8001000" y="3383280"/>
            <a:ext cx="640080" cy="1508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914400" y="608076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El agente no “flota”: es una estación central con piezas acopladas lateralmente.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Expresiones en n8n: el puente entre nodos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78408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{}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27048" y="1399032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{{ }} no es adorno: es dato dinámico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6696" y="181051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96696" y="1975104"/>
            <a:ext cx="4681728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Cada campo puede estar en modo Fixed o Expression.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{{ $json.email }} trae un valor del nodo anterior.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{{ $node["Webhook"].json.body.telefono }} trae un valor de un nodo específico.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Recomendación: arrastrar campos desde INPUT para evitar errores de tipeo.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457200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784848" y="1755648"/>
            <a:ext cx="39776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Campo: Contacto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={{ $json.email }}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Campo: Reporte Slack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=🤖 Resultado: {{ $json.output }}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39712" y="5257800"/>
            <a:ext cx="3886200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949440" y="5340096"/>
            <a:ext cx="3666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Ejecutar → mirar OUTPUT → validar valor real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 decisión: ¿riel de tren o conductor de taxi?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7BA0"/>
                </a:solidFill>
              </a:rPr>
              <a:t>Usá automatización lineal cuando…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2628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51"/>
                </a:solidFill>
              </a:rPr>
              <a:t>Usá agente cuando…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8388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</a:rPr>
              <a:t>Diseño híbrido recomendado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05256" y="194767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Reglas claras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05256" y="235915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905256" y="2523744"/>
            <a:ext cx="276148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Campos estructurados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Decisiones tipo IF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SLA rígido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Bajo margen de error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Costo y latencia mínimos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517136" y="194767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Ambigüedad humana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17136" y="235915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517136" y="2523744"/>
            <a:ext cx="276148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Texto libre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Intenciones mixtas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Priorización subjetiva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Búsqueda de contexto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Corrección de rumbo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09560" y="17373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129016" y="194767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Frontera limpia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29016" y="235915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8129016" y="2523744"/>
            <a:ext cx="276148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Lineal para preparar, validar y notificar.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Agente para interpretar y decidir.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Humano para aprobar acciones críticas.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7280" y="59893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Regla de oro: si podés escribir un IF confiable, no gastes tokens jugando al mago.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Prompt: la constitución operativa del agente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658368" cy="658368"/>
          </a:xfrm>
          <a:prstGeom prst="ellipse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22960" y="15910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Rol y ámbito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5448" y="265176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Quién es el agente y qué NO puede hacer.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08760" y="1746504"/>
            <a:ext cx="850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3063240" y="1417320"/>
            <a:ext cx="658368" cy="6583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063240" y="15910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22128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Objetivo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95728" y="265176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Resultado de negocio esperado en la sesión.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49040" y="1746504"/>
            <a:ext cx="850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5303520" y="1417320"/>
            <a:ext cx="658368" cy="6583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303520" y="15910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2128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Uso de herramientas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36008" y="265176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Cuándo activar cada tool y con qué datos mínimos.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0" y="1746504"/>
            <a:ext cx="850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7543800" y="1417320"/>
            <a:ext cx="658368" cy="6583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7543800" y="15910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22128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Escalamiento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76288" y="265176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Cuándo detenerse y pasar a revisión humana.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0" y="1746504"/>
            <a:ext cx="850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9784080" y="1417320"/>
            <a:ext cx="658368" cy="658368"/>
          </a:xfrm>
          <a:prstGeom prst="ellipse">
            <a:avLst/>
          </a:prstGeom>
          <a:solidFill>
            <a:srgbClr val="6D597A"/>
          </a:solidFill>
          <a:ln w="12700">
            <a:solidFill>
              <a:srgbClr val="6D59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9784080" y="15910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0" y="22128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Estilo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16568" y="265176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Tono, idioma, formato y restricciones de respuesta.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" y="3977640"/>
            <a:ext cx="10287000" cy="123444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1234440" y="4325112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Antipatrón a evitar: “Sos un asistente útil, hacé lo mejor posible”.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Eso no es un prompt operativo: es dejarle la llave del depósito a un becario con cafeína.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Guardrails: robustez antes que épica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78408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🔁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27048" y="149047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1. Iteraciones máximas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6696" y="190195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96696" y="2066544"/>
            <a:ext cx="289864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Configurá entre 5 y 10 vueltas para tareas administrativas. Evita loops por APIs caídas, datos incompletos o razonamientos circulares.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28016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636008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🔐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184648" y="149047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2. Mínimo privilegio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54296" y="190195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654296" y="2066544"/>
            <a:ext cx="289864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No conectes herramientas con permisos totales. Mejor crear una tool acotada: Consultar_Stock, Registrar_Lead, Crear_Borrador.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2440" y="128016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293608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🧑‍⚖️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842248" y="149047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3. Human-in-the-loop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311896" y="190195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8311896" y="2066544"/>
            <a:ext cx="289864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Para pagos, envíos a clientes VIP, borrados o decisiones sensibles: el agente prepara, una persona aprueba.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7280" y="6035040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Diseñar agentes no es dar libertad total: es construir autonomía dentro de un corral inteligente.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Patrón recomendado: separar preparación, criterio y control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920240" y="3063240"/>
            <a:ext cx="17373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5212080" y="3063240"/>
            <a:ext cx="18288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8595360" y="3063240"/>
            <a:ext cx="1600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41248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📥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389888" y="235915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Preparar datos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9536" y="277063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59536" y="2935224"/>
            <a:ext cx="198424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Trigger, extracción, normalización y validaciones simples.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03320" y="21488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904488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🤖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453128" y="235915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Delegar criterio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922776" y="277063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3922776" y="2935224"/>
            <a:ext cx="198424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AI Agent interpreta, prioriza y decide la herramienta adecuada.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40880" y="21488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7242048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🧰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790688" y="235915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Ejecutar tool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260336" y="277063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7260336" y="2935224"/>
            <a:ext cx="198424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Herramientas laterales acotadas y bien descriptas.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646920" y="21488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9848088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✅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10396728" y="2359152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Control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866376" y="2770632"/>
            <a:ext cx="822960" cy="50292"/>
          </a:xfrm>
          <a:prstGeom prst="rect">
            <a:avLst/>
          </a:prstGeom>
          <a:solidFill>
            <a:srgbClr val="6D597A"/>
          </a:solidFill>
          <a:ln w="12700">
            <a:solidFill>
              <a:srgbClr val="6D59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9866376" y="2935224"/>
            <a:ext cx="152704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Slack, Gmail o cola de aprobación humana.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97280" y="50749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El mejor workflow agéntico no reemplaza todo el proceso: reemplaza el tramo donde el IF se vuelve una novela rusa.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 1: arquitectura mínima obligatoria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965960" y="3154680"/>
            <a:ext cx="1554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5806440" y="3154680"/>
            <a:ext cx="1554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9646920" y="3154680"/>
            <a:ext cx="7772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86968" y="2423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💬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435608" y="245059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Chat Trigger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05256" y="286207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905256" y="3026664"/>
            <a:ext cx="193852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Recibe el mensaje desestructurado del usuario.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20440" y="201168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72160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🧠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270248" y="222199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AI Agent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739896" y="263347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3739896" y="2798064"/>
            <a:ext cx="207568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Tools Agent + System Prompt + Max Iterations 5–10.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22402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6601968" y="2423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📊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150608" y="245059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Tool lateral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620256" y="286207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620256" y="3026664"/>
            <a:ext cx="193852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Sheets, Gmail, Slack o sub-workflow. No secuencial.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281160" y="22402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9482328" y="2423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10030968" y="245059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Observabilidad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500616" y="2862072"/>
            <a:ext cx="822960" cy="50292"/>
          </a:xfrm>
          <a:prstGeom prst="rect">
            <a:avLst/>
          </a:prstGeom>
          <a:solidFill>
            <a:srgbClr val="6D597A"/>
          </a:solidFill>
          <a:ln w="12700">
            <a:solidFill>
              <a:srgbClr val="6D59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9500616" y="3026664"/>
            <a:ext cx="193852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Reporte final en Slack/Gmail con output o log.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11880" y="4846320"/>
            <a:ext cx="4892040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3794760" y="5074920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Entrega: checkpoint1_nombre_apellido.json + link a GitHub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en vivo: cómo probar y auditar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475488" cy="475488"/>
          </a:xfrm>
          <a:prstGeom prst="ellipse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14538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4081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Open Chat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86200" y="13990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Enviar un mensaje libre con intención ambigua.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68680" y="25968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5511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Execution Log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86200" y="25420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Abrir la ejecución y mirar el recorrido verde.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657600"/>
            <a:ext cx="475488" cy="47548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68680" y="37398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36941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Thought / Tool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86200" y="36850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Ver qué entendió, qué herramienta eligió y con qué datos.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80060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868680" y="48828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48371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Output final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86200" y="48280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Confirmar registro y notificación de observabilidad.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989320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1115568" y="6126480"/>
            <a:ext cx="9692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F172A"/>
                </a:solidFill>
              </a:rPr>
              <a:t>Prompt de prueba: “Hola, soy Ana. Necesito ayuda urgente con una factura que no puedo pagar porque me da error.”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corrección rápida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32688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✅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481328" y="1353312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Debe estar sí o sí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50976" y="176479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50976" y="1929384"/>
            <a:ext cx="4681728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Trigger Chat o Webhook.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AI Agent en modo Tools Agent.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Chat Model conectado lateralmente.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Max Iterations entre 5 y 10.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System Prompt modular con límites explícitos.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Tool lateral con descripción semántica extensa.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Slack/Gmail final para observabilidad.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JSON exportado y subido a GitHub.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1430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556248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⚠️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104888" y="1353312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Errores que bajan calidad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74536" y="176479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574536" y="1929384"/>
            <a:ext cx="4681728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Usar un agente para todo el proceso.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Poner la herramienta como nodo secuencial común.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No explicar cuándo debe activarse la tool.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Dejar permisos demasiado amplios.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No testear el workflow en verde.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Entregar un JSON con nombres genéricos o sin caso de negocio.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· n8n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de hoy: construir el agente base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78408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🧩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27048" y="14904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Paso 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6696" y="190195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96696" y="2066544"/>
            <a:ext cx="2807208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Elegí un caso de negocio simple pero real: leads, soporte, agenda, reclamos, facturas o coordinación interna.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681728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✍️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230368" y="14904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Paso 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00016" y="190195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700016" y="2066544"/>
            <a:ext cx="2807208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Escribí el System Prompt con Rol, Ámbito, Objetivo, Reglas de herramientas, Escalamiento y Estilo.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128016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385048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🧪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933688" y="14904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Paso 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403336" y="190195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8403336" y="2066544"/>
            <a:ext cx="2807208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Probá con un mensaje ambiguo, auditá el Execution Log y ajustá la descripción de la herramienta.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88720" y="60533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La descripción de la tool es donde muchos agentes pasan de “más o menos” a “esto camina”.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Síntesis final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16002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</a:rPr>
              <a:t>La diferencia clave no es la tecnología.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</a:rPr>
              <a:t>Es quién controla el flujo.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97180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78408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🚆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27048" y="318211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Lineal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96696" y="3593592"/>
            <a:ext cx="822960" cy="502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96696" y="3758184"/>
            <a:ext cx="285292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Eficiente, barato y predecible cuando la ruta está clara.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97180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636008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🧭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184648" y="318211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Agente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54296" y="3593592"/>
            <a:ext cx="822960" cy="502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654296" y="3758184"/>
            <a:ext cx="285292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Flexible cuando hay ambigüedad, pero necesita herramientas y límites.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297180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293608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🛡️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842248" y="318211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Experto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311896" y="3593592"/>
            <a:ext cx="82296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8311896" y="3758184"/>
            <a:ext cx="285292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Diseña la frontera: automatiza lo rígido, delega lo ambiguo y supervisa lo crítico.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9893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Próximo paso: evolucionar este mismo JSON. Nada de empezar de cero, que después el backlog llora.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1785</Words>
  <Application>Microsoft Office PowerPoint</Application>
  <PresentationFormat>Panorámica</PresentationFormat>
  <Paragraphs>288</Paragraphs>
  <Slides>19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AI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- Agentes autónomos vs automatización lineal en n8n</dc:title>
  <dc:subject>Agentes autónomos vs automatización lineal en n8n</dc:subject>
  <dc:creator>OpenAI</dc:creator>
  <cp:lastModifiedBy>Carolina Lemes</cp:lastModifiedBy>
  <cp:revision>2</cp:revision>
  <dcterms:created xsi:type="dcterms:W3CDTF">2026-09-10T21:26:14Z</dcterms:created>
  <dcterms:modified xsi:type="dcterms:W3CDTF">2026-09-11T00:30:12Z</dcterms:modified>
</cp:coreProperties>
</file>