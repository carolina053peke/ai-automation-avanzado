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Lemes" userId="5ff4adf7-3f42-47aa-9bbb-c804149ba722" providerId="ADAL" clId="{038C700E-1A2C-4CED-B6FD-C04E68F3B4BE}"/>
    <pc:docChg chg="delSld modSld">
      <pc:chgData name="Carolina Lemes" userId="5ff4adf7-3f42-47aa-9bbb-c804149ba722" providerId="ADAL" clId="{038C700E-1A2C-4CED-B6FD-C04E68F3B4BE}" dt="2026-09-09T23:19:02.979" v="153" actId="47"/>
      <pc:docMkLst>
        <pc:docMk/>
      </pc:docMkLst>
      <pc:sldChg chg="modSp mod">
        <pc:chgData name="Carolina Lemes" userId="5ff4adf7-3f42-47aa-9bbb-c804149ba722" providerId="ADAL" clId="{038C700E-1A2C-4CED-B6FD-C04E68F3B4BE}" dt="2026-09-09T23:15:52.395" v="6" actId="403"/>
        <pc:sldMkLst>
          <pc:docMk/>
          <pc:sldMk cId="0" sldId="256"/>
        </pc:sldMkLst>
        <pc:spChg chg="mod">
          <ac:chgData name="Carolina Lemes" userId="5ff4adf7-3f42-47aa-9bbb-c804149ba722" providerId="ADAL" clId="{038C700E-1A2C-4CED-B6FD-C04E68F3B4BE}" dt="2026-09-09T23:15:52.395" v="6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5:52.395" v="6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5:52.395" v="6" actId="403"/>
          <ac:spMkLst>
            <pc:docMk/>
            <pc:sldMk cId="0" sldId="256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5:52.395" v="6" actId="403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6:16.986" v="34" actId="1036"/>
        <pc:sldMkLst>
          <pc:docMk/>
          <pc:sldMk cId="0" sldId="257"/>
        </pc:sldMkLst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16.986" v="34" actId="1036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6:36.759" v="54" actId="1036"/>
        <pc:sldMkLst>
          <pc:docMk/>
          <pc:sldMk cId="0" sldId="259"/>
        </pc:sldMkLst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36.759" v="54" actId="1036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6:50.732" v="76" actId="1036"/>
        <pc:sldMkLst>
          <pc:docMk/>
          <pc:sldMk cId="0" sldId="260"/>
        </pc:sldMkLst>
        <pc:spChg chg="mod">
          <ac:chgData name="Carolina Lemes" userId="5ff4adf7-3f42-47aa-9bbb-c804149ba722" providerId="ADAL" clId="{038C700E-1A2C-4CED-B6FD-C04E68F3B4BE}" dt="2026-09-09T23:16:50.732" v="76" actId="10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50.732" v="76" actId="10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50.732" v="76" actId="10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50.732" v="76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50.732" v="76" actId="10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6:50.732" v="76" actId="1036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7:08.625" v="105" actId="1036"/>
        <pc:sldMkLst>
          <pc:docMk/>
          <pc:sldMk cId="0" sldId="261"/>
        </pc:sldMkLst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3.747" v="79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08.625" v="105" actId="1036"/>
          <ac:spMkLst>
            <pc:docMk/>
            <pc:sldMk cId="0" sldId="261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7:23.177" v="127" actId="1036"/>
        <pc:sldMkLst>
          <pc:docMk/>
          <pc:sldMk cId="0" sldId="262"/>
        </pc:sldMkLst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3.177" v="127" actId="1036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7:41.470" v="134" actId="255"/>
        <pc:sldMkLst>
          <pc:docMk/>
          <pc:sldMk cId="0" sldId="263"/>
        </pc:sldMkLst>
        <pc:spChg chg="mod">
          <ac:chgData name="Carolina Lemes" userId="5ff4adf7-3f42-47aa-9bbb-c804149ba722" providerId="ADAL" clId="{038C700E-1A2C-4CED-B6FD-C04E68F3B4BE}" dt="2026-09-09T23:17:33.009" v="130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41.470" v="134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7.765" v="129" actId="403"/>
          <ac:spMkLst>
            <pc:docMk/>
            <pc:sldMk cId="0" sldId="263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33.009" v="130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41.470" v="134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27.765" v="129" actId="403"/>
          <ac:spMkLst>
            <pc:docMk/>
            <pc:sldMk cId="0" sldId="263"/>
            <ac:spMk id="9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7:58.295" v="136" actId="403"/>
        <pc:sldMkLst>
          <pc:docMk/>
          <pc:sldMk cId="0" sldId="265"/>
        </pc:sldMkLst>
        <pc:spChg chg="mod">
          <ac:chgData name="Carolina Lemes" userId="5ff4adf7-3f42-47aa-9bbb-c804149ba722" providerId="ADAL" clId="{038C700E-1A2C-4CED-B6FD-C04E68F3B4BE}" dt="2026-09-09T23:17:58.295" v="136" actId="403"/>
          <ac:spMkLst>
            <pc:docMk/>
            <pc:sldMk cId="0" sldId="265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58.295" v="136" actId="403"/>
          <ac:spMkLst>
            <pc:docMk/>
            <pc:sldMk cId="0" sldId="265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7:58.295" v="136" actId="40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8:10.883" v="138" actId="14100"/>
        <pc:sldMkLst>
          <pc:docMk/>
          <pc:sldMk cId="0" sldId="266"/>
        </pc:sldMkLst>
        <pc:picChg chg="mod">
          <ac:chgData name="Carolina Lemes" userId="5ff4adf7-3f42-47aa-9bbb-c804149ba722" providerId="ADAL" clId="{038C700E-1A2C-4CED-B6FD-C04E68F3B4BE}" dt="2026-09-09T23:18:10.883" v="138" actId="14100"/>
          <ac:picMkLst>
            <pc:docMk/>
            <pc:sldMk cId="0" sldId="266"/>
            <ac:picMk id="4" creationId="{00000000-0000-0000-0000-000000000000}"/>
          </ac:picMkLst>
        </pc:picChg>
      </pc:sldChg>
      <pc:sldChg chg="modSp mod">
        <pc:chgData name="Carolina Lemes" userId="5ff4adf7-3f42-47aa-9bbb-c804149ba722" providerId="ADAL" clId="{038C700E-1A2C-4CED-B6FD-C04E68F3B4BE}" dt="2026-09-09T23:18:24.032" v="140" actId="14100"/>
        <pc:sldMkLst>
          <pc:docMk/>
          <pc:sldMk cId="0" sldId="269"/>
        </pc:sldMkLst>
        <pc:picChg chg="mod">
          <ac:chgData name="Carolina Lemes" userId="5ff4adf7-3f42-47aa-9bbb-c804149ba722" providerId="ADAL" clId="{038C700E-1A2C-4CED-B6FD-C04E68F3B4BE}" dt="2026-09-09T23:18:24.032" v="140" actId="14100"/>
          <ac:picMkLst>
            <pc:docMk/>
            <pc:sldMk cId="0" sldId="269"/>
            <ac:picMk id="4" creationId="{00000000-0000-0000-0000-000000000000}"/>
          </ac:picMkLst>
        </pc:picChg>
      </pc:sldChg>
      <pc:sldChg chg="modSp mod">
        <pc:chgData name="Carolina Lemes" userId="5ff4adf7-3f42-47aa-9bbb-c804149ba722" providerId="ADAL" clId="{038C700E-1A2C-4CED-B6FD-C04E68F3B4BE}" dt="2026-09-09T23:18:31.042" v="142" actId="403"/>
        <pc:sldMkLst>
          <pc:docMk/>
          <pc:sldMk cId="0" sldId="270"/>
        </pc:sldMkLst>
        <pc:spChg chg="mod">
          <ac:chgData name="Carolina Lemes" userId="5ff4adf7-3f42-47aa-9bbb-c804149ba722" providerId="ADAL" clId="{038C700E-1A2C-4CED-B6FD-C04E68F3B4BE}" dt="2026-09-09T23:18:31.042" v="142" actId="403"/>
          <ac:spMkLst>
            <pc:docMk/>
            <pc:sldMk cId="0" sldId="270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8:31.042" v="142" actId="403"/>
          <ac:spMkLst>
            <pc:docMk/>
            <pc:sldMk cId="0" sldId="270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8:31.042" v="142" actId="403"/>
          <ac:spMkLst>
            <pc:docMk/>
            <pc:sldMk cId="0" sldId="270"/>
            <ac:spMk id="1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8:31.042" v="142" actId="403"/>
          <ac:spMkLst>
            <pc:docMk/>
            <pc:sldMk cId="0" sldId="270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8:44.461" v="147" actId="403"/>
        <pc:sldMkLst>
          <pc:docMk/>
          <pc:sldMk cId="0" sldId="271"/>
        </pc:sldMkLst>
        <pc:spChg chg="mod">
          <ac:chgData name="Carolina Lemes" userId="5ff4adf7-3f42-47aa-9bbb-c804149ba722" providerId="ADAL" clId="{038C700E-1A2C-4CED-B6FD-C04E68F3B4BE}" dt="2026-09-09T23:18:44.461" v="147" actId="403"/>
          <ac:spMkLst>
            <pc:docMk/>
            <pc:sldMk cId="0" sldId="271"/>
            <ac:spMk id="17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09T23:18:51.014" v="150" actId="403"/>
        <pc:sldMkLst>
          <pc:docMk/>
          <pc:sldMk cId="0" sldId="272"/>
        </pc:sldMkLst>
        <pc:spChg chg="mod">
          <ac:chgData name="Carolina Lemes" userId="5ff4adf7-3f42-47aa-9bbb-c804149ba722" providerId="ADAL" clId="{038C700E-1A2C-4CED-B6FD-C04E68F3B4BE}" dt="2026-09-09T23:18:51.014" v="150" actId="403"/>
          <ac:spMkLst>
            <pc:docMk/>
            <pc:sldMk cId="0" sldId="272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8:51.014" v="150" actId="403"/>
          <ac:spMkLst>
            <pc:docMk/>
            <pc:sldMk cId="0" sldId="272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09T23:18:51.014" v="150" actId="403"/>
          <ac:spMkLst>
            <pc:docMk/>
            <pc:sldMk cId="0" sldId="272"/>
            <ac:spMk id="12" creationId="{00000000-0000-0000-0000-000000000000}"/>
          </ac:spMkLst>
        </pc:spChg>
      </pc:sldChg>
      <pc:sldChg chg="del">
        <pc:chgData name="Carolina Lemes" userId="5ff4adf7-3f42-47aa-9bbb-c804149ba722" providerId="ADAL" clId="{038C700E-1A2C-4CED-B6FD-C04E68F3B4BE}" dt="2026-09-09T23:18:58.395" v="151" actId="47"/>
        <pc:sldMkLst>
          <pc:docMk/>
          <pc:sldMk cId="0" sldId="273"/>
        </pc:sldMkLst>
      </pc:sldChg>
      <pc:sldChg chg="del">
        <pc:chgData name="Carolina Lemes" userId="5ff4adf7-3f42-47aa-9bbb-c804149ba722" providerId="ADAL" clId="{038C700E-1A2C-4CED-B6FD-C04E68F3B4BE}" dt="2026-09-09T23:18:59.777" v="152" actId="47"/>
        <pc:sldMkLst>
          <pc:docMk/>
          <pc:sldMk cId="0" sldId="274"/>
        </pc:sldMkLst>
      </pc:sldChg>
      <pc:sldChg chg="del">
        <pc:chgData name="Carolina Lemes" userId="5ff4adf7-3f42-47aa-9bbb-c804149ba722" providerId="ADAL" clId="{038C700E-1A2C-4CED-B6FD-C04E68F3B4BE}" dt="2026-09-09T23:19:02.979" v="153" actId="47"/>
        <pc:sldMkLst>
          <pc:docMk/>
          <pc:sldMk cId="0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Última clase: de agentes a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74519"/>
            <a:ext cx="10515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0">
                <a:solidFill>
                  <a:srgbClr val="FFCD78"/>
                </a:solidFill>
                <a:latin typeface="Aptos"/>
              </a:defRPr>
            </a:pPr>
            <a:r>
              <a:t>Modelos comerciales · storytelling ejecutivo · despliegue por fases · ROI · brochure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206240"/>
            <a:ext cx="106070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Objetivo: que el sistema agéntico deje de verse como “un flujo en n8n” y se entienda como una propuesta de valor financiable.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6035040"/>
            <a:ext cx="2286000" cy="384048"/>
          </a:xfrm>
          <a:prstGeom prst="round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" name="TextBox 5"/>
          <p:cNvSpPr txBox="1"/>
          <p:nvPr/>
        </p:nvSpPr>
        <p:spPr>
          <a:xfrm>
            <a:off x="685800" y="6126479"/>
            <a:ext cx="215798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rPr sz="1600"/>
              <a:t>n8n + IA agéntica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6035040"/>
            <a:ext cx="2286000" cy="384048"/>
          </a:xfrm>
          <a:prstGeom prst="roundRect">
            <a:avLst/>
          </a:prstGeom>
          <a:solidFill>
            <a:srgbClr val="3A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8" name="TextBox 7"/>
          <p:cNvSpPr txBox="1"/>
          <p:nvPr/>
        </p:nvSpPr>
        <p:spPr>
          <a:xfrm>
            <a:off x="3127248" y="6126479"/>
            <a:ext cx="215798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rPr sz="1600"/>
              <a:t>Clase práctica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El problema de vender “solo desarrollo”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481347"/>
            <a:ext cx="3474720" cy="18412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2645939"/>
            <a:ext cx="307238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Semana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075707"/>
            <a:ext cx="3072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El cliente está feliz: el agente responde leads, consulta CRM, agenda visitas y reporta a Slack.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81347"/>
            <a:ext cx="3474720" cy="18412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2645939"/>
            <a:ext cx="307238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28525"/>
                </a:solidFill>
                <a:latin typeface="Aptos"/>
              </a:defRPr>
            </a:pPr>
            <a:r>
              <a:t>Semana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075707"/>
            <a:ext cx="3072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Cambió una API, el modelo se actualizó, el CRM cambió campos y el prompt empieza a fallar.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481347"/>
            <a:ext cx="3474720" cy="18412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3608" y="2645939"/>
            <a:ext cx="307238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D4441"/>
                </a:solidFill>
                <a:latin typeface="Aptos"/>
              </a:defRPr>
            </a:pPr>
            <a:r>
              <a:t>Pregunta incómoda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3075707"/>
            <a:ext cx="3072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¿Quién paga las horas de ajuste si cobraste solo por “entregar el flujo”?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10332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71F39"/>
                </a:solidFill>
                <a:latin typeface="Aptos"/>
              </a:defRPr>
            </a:pPr>
            <a:r>
              <a:t>Una automatización agéntica no se entrega y se olvida: se opera, se mide y se mejora.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Cambio de paradigma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2011680"/>
            <a:ext cx="2926080" cy="73152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2148840"/>
            <a:ext cx="2779776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Proyecto cerrado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3360" y="2377440"/>
            <a:ext cx="1005840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2011680"/>
            <a:ext cx="2103120" cy="73152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93792" y="2148840"/>
            <a:ext cx="1956815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Entrega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9480" y="2377440"/>
            <a:ext cx="1005840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66760" y="2011680"/>
            <a:ext cx="2743200" cy="73152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2148840"/>
            <a:ext cx="2596896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Soporte reactivo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114800"/>
            <a:ext cx="2926080" cy="73152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251960"/>
            <a:ext cx="2779776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Sistema operado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4480560"/>
            <a:ext cx="1005840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4114800"/>
            <a:ext cx="2103120" cy="73152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A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4251960"/>
            <a:ext cx="1956815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Métricas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4480560"/>
            <a:ext cx="1005840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66760" y="4114800"/>
            <a:ext cx="2743200" cy="73152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4251960"/>
            <a:ext cx="2596896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Mejora continua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071F39"/>
                </a:solidFill>
                <a:latin typeface="Aptos"/>
              </a:defRPr>
            </a:pPr>
            <a:r>
              <a:t>Producto real: continuidad operativa + captura de valor mediante inteligencia autónoma.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Por qué fallan los modelos tradicionales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281841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2446433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D4441"/>
                </a:solidFill>
                <a:latin typeface="Aptos"/>
              </a:defRPr>
            </a:pPr>
            <a:r>
              <a:t>Precio fijo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876201"/>
            <a:ext cx="3072384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/>
              <a:t>Riesgo de </a:t>
            </a:r>
            <a:r>
              <a:rPr sz="1600" dirty="0" err="1"/>
              <a:t>alcance</a:t>
            </a:r>
            <a:r>
              <a:rPr sz="1600" dirty="0"/>
              <a:t> </a:t>
            </a:r>
            <a:r>
              <a:rPr sz="1600" dirty="0" err="1"/>
              <a:t>inflado</a:t>
            </a:r>
            <a:r>
              <a:rPr sz="1600" dirty="0"/>
              <a:t>: edge cases, </a:t>
            </a:r>
            <a:r>
              <a:rPr sz="1600" dirty="0" err="1"/>
              <a:t>cambios</a:t>
            </a:r>
            <a:r>
              <a:rPr sz="1600" dirty="0"/>
              <a:t> de API,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malos</a:t>
            </a:r>
            <a:r>
              <a:rPr sz="1600" dirty="0"/>
              <a:t> y </a:t>
            </a:r>
            <a:r>
              <a:rPr sz="1600" dirty="0" err="1"/>
              <a:t>mantenimiento</a:t>
            </a:r>
            <a:r>
              <a:rPr sz="1600" dirty="0"/>
              <a:t> no </a:t>
            </a:r>
            <a:r>
              <a:rPr sz="1600" dirty="0" err="1"/>
              <a:t>presupuestado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1841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2446433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28525"/>
                </a:solidFill>
                <a:latin typeface="Aptos"/>
              </a:defRPr>
            </a:pPr>
            <a:r>
              <a:t>Por 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876201"/>
            <a:ext cx="3072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Penaliza tu eficiencia: si resolvés rápido porque tenés stack y experiencia, cobrás menos.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281841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3608" y="2446433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D4441"/>
                </a:solidFill>
                <a:latin typeface="Aptos"/>
              </a:defRPr>
            </a:pPr>
            <a:r>
              <a:t>Soporte reactivo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876201"/>
            <a:ext cx="3072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El cliente solo te ve cuando algo falla; la IA se percibe como inestable.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71F39"/>
                </a:solidFill>
                <a:latin typeface="Aptos"/>
              </a:defRPr>
            </a:pPr>
            <a:r>
              <a:t>La propuesta debe alinear incentivos, riesgo y mantenimiento.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Modelo 1: Success Fee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916078"/>
            <a:ext cx="5029200" cy="27390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2080670"/>
            <a:ext cx="462686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Cuándo sirve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510438"/>
            <a:ext cx="4626864" cy="18158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/>
              <a:t>Cuando el KPI es </a:t>
            </a:r>
            <a:r>
              <a:rPr sz="1600" dirty="0" err="1"/>
              <a:t>atribuible</a:t>
            </a:r>
            <a:r>
              <a:rPr sz="1600" dirty="0"/>
              <a:t>, auditable y </a:t>
            </a:r>
            <a:r>
              <a:rPr sz="1600" dirty="0" err="1"/>
              <a:t>escalable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 err="1"/>
              <a:t>Ejemplo</a:t>
            </a:r>
            <a:r>
              <a:rPr sz="1600" dirty="0"/>
              <a:t>: </a:t>
            </a:r>
            <a:r>
              <a:rPr sz="1600" dirty="0" err="1"/>
              <a:t>cobrar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cada</a:t>
            </a:r>
            <a:r>
              <a:rPr sz="1600" dirty="0"/>
              <a:t> visita </a:t>
            </a:r>
            <a:r>
              <a:rPr sz="1600" dirty="0" err="1"/>
              <a:t>calificada</a:t>
            </a:r>
            <a:r>
              <a:rPr sz="1600" dirty="0"/>
              <a:t> </a:t>
            </a:r>
            <a:r>
              <a:rPr sz="1600" dirty="0" err="1"/>
              <a:t>agendada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el </a:t>
            </a:r>
            <a:r>
              <a:rPr sz="1600" dirty="0" err="1"/>
              <a:t>agente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 err="1"/>
              <a:t>Necesitás</a:t>
            </a:r>
            <a:r>
              <a:rPr sz="1600" dirty="0"/>
              <a:t> </a:t>
            </a:r>
            <a:r>
              <a:rPr sz="1600" dirty="0" err="1"/>
              <a:t>metadatos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CRM para </a:t>
            </a:r>
            <a:r>
              <a:rPr sz="1600" dirty="0" err="1"/>
              <a:t>demostrar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la IA </a:t>
            </a:r>
            <a:r>
              <a:rPr sz="1600" dirty="0" err="1"/>
              <a:t>participó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16078"/>
            <a:ext cx="5212080" cy="27390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2080670"/>
            <a:ext cx="480974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28525"/>
                </a:solidFill>
                <a:latin typeface="Aptos"/>
              </a:defRPr>
            </a:pPr>
            <a:r>
              <a:t>Riesgo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2510438"/>
            <a:ext cx="4809744" cy="15696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Atribución discutible.</a:t>
            </a:r>
            <a:br>
              <a:rPr sz="1600"/>
            </a:br>
            <a:br>
              <a:rPr sz="1600"/>
            </a:br>
            <a:r>
              <a:rPr sz="1600"/>
              <a:t>Si el agente interactúa hoy y el cliente compra en 6 meses: ¿corresponde cobrar?</a:t>
            </a:r>
            <a:br>
              <a:rPr sz="1600"/>
            </a:br>
            <a:br>
              <a:rPr sz="1600"/>
            </a:br>
            <a:r>
              <a:rPr sz="1600"/>
              <a:t>Solución: ventana de conversión contractual.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071F39"/>
                </a:solidFill>
                <a:latin typeface="Aptos"/>
              </a:defRPr>
            </a:pPr>
            <a:r>
              <a:t>Nunca dejes el éxito sin definición: KPI + fuente de verdad + ventana temporal.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Modelo 2: Retainer Experto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348340"/>
            <a:ext cx="2651760" cy="177476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2512932"/>
            <a:ext cx="224942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AA2A6"/>
                </a:solidFill>
                <a:latin typeface="Aptos"/>
              </a:defRPr>
            </a:pPr>
            <a:r>
              <a:t>Prompt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942700"/>
            <a:ext cx="224942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 err="1"/>
              <a:t>Ajuste</a:t>
            </a:r>
            <a:r>
              <a:rPr sz="1600" dirty="0"/>
              <a:t> </a:t>
            </a:r>
            <a:r>
              <a:rPr sz="1600" dirty="0" err="1"/>
              <a:t>basado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logs para </a:t>
            </a:r>
            <a:r>
              <a:rPr sz="1600" dirty="0" err="1"/>
              <a:t>reducir</a:t>
            </a:r>
            <a:r>
              <a:rPr sz="1600" dirty="0"/>
              <a:t> </a:t>
            </a:r>
            <a:r>
              <a:rPr sz="1600" dirty="0" err="1"/>
              <a:t>alucinaciones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348340"/>
            <a:ext cx="2651760" cy="177476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21608" y="2512932"/>
            <a:ext cx="224942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Knowledge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608" y="2942700"/>
            <a:ext cx="224942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Actualizar base de conocimiento cuando cambian documentos.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48340"/>
            <a:ext cx="2651760" cy="177476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2512932"/>
            <a:ext cx="224942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76CB4"/>
                </a:solidFill>
                <a:latin typeface="Aptos"/>
              </a:defRPr>
            </a:pPr>
            <a:r>
              <a:t>Model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942700"/>
            <a:ext cx="224942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Testear modelos para optimizar costo, calidad y latencia.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348340"/>
            <a:ext cx="2331720" cy="177476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90888" y="2512932"/>
            <a:ext cx="1929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28525"/>
                </a:solidFill>
                <a:latin typeface="Aptos"/>
              </a:defRPr>
            </a:pPr>
            <a:r>
              <a:t>Observabilidad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942700"/>
            <a:ext cx="1929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Revisar métricas, juez y precisión técnica.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71F39"/>
                </a:solidFill>
                <a:latin typeface="Aptos"/>
              </a:defRPr>
            </a:pPr>
            <a:r>
              <a:t>No vendés “horas de arreglo”: vendés seguridad operativa y evolución mensual.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Modelo 3: Híbrido — el más defendible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144679"/>
            <a:ext cx="3474720" cy="19579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2309271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76CB4"/>
                </a:solidFill>
                <a:latin typeface="Aptos"/>
              </a:defRPr>
            </a:pPr>
            <a:r>
              <a:t>1. Setup 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739039"/>
            <a:ext cx="3072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 err="1"/>
              <a:t>Cubre</a:t>
            </a:r>
            <a:r>
              <a:rPr sz="1600" dirty="0"/>
              <a:t> </a:t>
            </a:r>
            <a:r>
              <a:rPr sz="1600" dirty="0" err="1"/>
              <a:t>descubrimiento</a:t>
            </a:r>
            <a:r>
              <a:rPr sz="1600" dirty="0"/>
              <a:t>, </a:t>
            </a:r>
            <a:r>
              <a:rPr sz="1600" dirty="0" err="1"/>
              <a:t>diseño</a:t>
            </a:r>
            <a:r>
              <a:rPr sz="1600" dirty="0"/>
              <a:t>, </a:t>
            </a:r>
            <a:r>
              <a:rPr sz="1600" dirty="0" err="1"/>
              <a:t>implementación</a:t>
            </a:r>
            <a:r>
              <a:rPr sz="1600" dirty="0"/>
              <a:t> </a:t>
            </a:r>
            <a:r>
              <a:rPr sz="1600" dirty="0" err="1"/>
              <a:t>inicial</a:t>
            </a:r>
            <a:r>
              <a:rPr sz="1600" dirty="0"/>
              <a:t>, </a:t>
            </a:r>
            <a:r>
              <a:rPr sz="1600" dirty="0" err="1"/>
              <a:t>pruebas</a:t>
            </a:r>
            <a:r>
              <a:rPr sz="1600" dirty="0"/>
              <a:t> y </a:t>
            </a:r>
            <a:r>
              <a:rPr sz="1600" dirty="0" err="1"/>
              <a:t>documentación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44679"/>
            <a:ext cx="3474720" cy="19579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7" y="2309271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2. Retainer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739039"/>
            <a:ext cx="3072384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Cubre mantenimiento, observabilidad, tuning, cambios de modelos y base de conocimiento.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144679"/>
            <a:ext cx="3474720" cy="19579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8" y="2309271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28525"/>
                </a:solidFill>
                <a:latin typeface="Aptos"/>
              </a:defRPr>
            </a:pPr>
            <a:r>
              <a:t>3. Success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739039"/>
            <a:ext cx="30723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Captura upside por resultados atribuibles: citas, leads, tickets resueltos,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71F39"/>
                </a:solidFill>
                <a:latin typeface="Aptos"/>
              </a:defRPr>
            </a:pPr>
            <a:r>
              <a:t>Regla sana: el retainer debe cubrir tu costo operativo. El success fee es upside, no supervivencia.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ROI: números que entiende un CFO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29200" cy="31879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62686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76CB4"/>
                </a:solidFill>
                <a:latin typeface="Aptos"/>
              </a:defRPr>
            </a:pPr>
            <a:r>
              <a:rPr dirty="0"/>
              <a:t>Baseline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11680"/>
            <a:ext cx="4626864" cy="15696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/>
              <a:t>1.200 leads/</a:t>
            </a:r>
            <a:r>
              <a:rPr sz="1600" dirty="0" err="1"/>
              <a:t>mes</a:t>
            </a:r>
            <a:br>
              <a:rPr sz="1600" dirty="0"/>
            </a:br>
            <a:r>
              <a:rPr sz="1600" dirty="0"/>
              <a:t>8 min </a:t>
            </a:r>
            <a:r>
              <a:rPr sz="1600" dirty="0" err="1"/>
              <a:t>por</a:t>
            </a:r>
            <a:r>
              <a:rPr sz="1600" dirty="0"/>
              <a:t> lead</a:t>
            </a:r>
            <a:br>
              <a:rPr sz="1600" dirty="0"/>
            </a:br>
            <a:r>
              <a:rPr sz="1600" dirty="0"/>
              <a:t>USD 12/hora</a:t>
            </a:r>
            <a:br>
              <a:rPr sz="1600" dirty="0"/>
            </a:br>
            <a:br>
              <a:rPr sz="1600" dirty="0"/>
            </a:br>
            <a:r>
              <a:rPr sz="1600" dirty="0"/>
              <a:t>1.200 × 8 / 60 = 160 h/</a:t>
            </a:r>
            <a:r>
              <a:rPr sz="1600" dirty="0" err="1"/>
              <a:t>mes</a:t>
            </a:r>
            <a:br>
              <a:rPr sz="1600" dirty="0"/>
            </a:br>
            <a:r>
              <a:rPr sz="1600" dirty="0"/>
              <a:t>160 × USD 12 = USD 1.920 </a:t>
            </a:r>
            <a:r>
              <a:rPr sz="1600" dirty="0" err="1"/>
              <a:t>costo</a:t>
            </a:r>
            <a:r>
              <a:rPr sz="1600" dirty="0"/>
              <a:t>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12080" cy="31879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1581912"/>
            <a:ext cx="480974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TCO + payback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2011680"/>
            <a:ext cx="4809744" cy="23083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Retainer: USD 750</a:t>
            </a:r>
            <a:br>
              <a:rPr sz="1600"/>
            </a:br>
            <a:r>
              <a:rPr sz="1600"/>
              <a:t>Infra/LLM: USD 180</a:t>
            </a:r>
            <a:br>
              <a:rPr sz="1600"/>
            </a:br>
            <a:r>
              <a:rPr sz="1600"/>
              <a:t>Success fee: USD 1.200</a:t>
            </a:r>
            <a:br>
              <a:rPr sz="1600"/>
            </a:br>
            <a:br>
              <a:rPr sz="1600"/>
            </a:br>
            <a:r>
              <a:rPr sz="1600"/>
              <a:t>TCO mensual: USD 2.130</a:t>
            </a:r>
            <a:br>
              <a:rPr sz="1600"/>
            </a:br>
            <a:r>
              <a:rPr sz="1600"/>
              <a:t>Setup: USD 3.000</a:t>
            </a:r>
            <a:br>
              <a:rPr sz="1600"/>
            </a:br>
            <a:br>
              <a:rPr sz="1600"/>
            </a:br>
            <a:r>
              <a:rPr sz="1600"/>
              <a:t>Si el valor mensual neto justifica el costo → proyecto defendible.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071F39"/>
                </a:solidFill>
                <a:latin typeface="Aptos"/>
              </a:defRPr>
            </a:pPr>
            <a:r>
              <a:t>No vendas “horas ahorradas” como despidos: vendé capacidad liberada para absorber demanda.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Análisis de sensibilidad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920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8525"/>
                </a:solidFill>
                <a:latin typeface="Aptos"/>
              </a:defRPr>
            </a:pPr>
            <a:r>
              <a:t>Escenario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17320"/>
            <a:ext cx="1920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8525"/>
                </a:solidFill>
                <a:latin typeface="Aptos"/>
              </a:defRPr>
            </a:pPr>
            <a:r>
              <a:t>Volumen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17320"/>
            <a:ext cx="1920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8525"/>
                </a:solidFill>
                <a:latin typeface="Aptos"/>
              </a:defRPr>
            </a:pPr>
            <a:r>
              <a:t>Tasa éxito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417320"/>
            <a:ext cx="1920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8525"/>
                </a:solidFill>
                <a:latin typeface="Aptos"/>
              </a:defRPr>
            </a:pPr>
            <a:r>
              <a:t>Costo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417320"/>
            <a:ext cx="1920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8525"/>
                </a:solidFill>
                <a:latin typeface="Aptos"/>
              </a:defRPr>
            </a:pPr>
            <a:r>
              <a:t>Lectura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Conservador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800/mes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488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488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1488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¿sigue siendo viable?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632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1.200/mes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632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0632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medio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6324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caso esperado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Optimista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1.800/mes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bajo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121922"/>
                </a:solidFill>
                <a:latin typeface="Aptos"/>
              </a:defRPr>
            </a:pPr>
            <a:r>
              <a:t>upside del proyecto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71F39"/>
                </a:solidFill>
                <a:latin typeface="Aptos"/>
              </a:defRPr>
            </a:pPr>
            <a:r>
              <a:t>Un solo número de ROI es frágil. Tres escenarios muestran madurez y anticipan objeciones.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Storytelling técnico para no técnicos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73351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3072384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/>
              <a:t>¿</a:t>
            </a:r>
            <a:r>
              <a:rPr sz="1600" dirty="0" err="1"/>
              <a:t>Cuánto</a:t>
            </a:r>
            <a:r>
              <a:rPr sz="1600" dirty="0"/>
              <a:t> </a:t>
            </a:r>
            <a:r>
              <a:rPr sz="1600" dirty="0" err="1"/>
              <a:t>ahorra</a:t>
            </a:r>
            <a:r>
              <a:rPr sz="1600" dirty="0"/>
              <a:t>, genera o libera?</a:t>
            </a:r>
            <a:br>
              <a:rPr sz="1600" dirty="0"/>
            </a:br>
            <a:br>
              <a:rPr sz="1600" dirty="0"/>
            </a:br>
            <a:r>
              <a:rPr sz="1600" dirty="0"/>
              <a:t>No: “</a:t>
            </a:r>
            <a:r>
              <a:rPr sz="1600" dirty="0" err="1"/>
              <a:t>procesa</a:t>
            </a:r>
            <a:r>
              <a:rPr sz="1600" dirty="0"/>
              <a:t> tickets”.</a:t>
            </a:r>
            <a:br>
              <a:rPr sz="1600" dirty="0"/>
            </a:br>
            <a:r>
              <a:rPr sz="1600" dirty="0" err="1"/>
              <a:t>Sí</a:t>
            </a:r>
            <a:r>
              <a:rPr sz="1600" dirty="0"/>
              <a:t>: “libera </a:t>
            </a:r>
            <a:r>
              <a:rPr sz="1600" dirty="0" err="1"/>
              <a:t>capacidad</a:t>
            </a:r>
            <a:r>
              <a:rPr sz="1600" dirty="0"/>
              <a:t> para </a:t>
            </a:r>
            <a:r>
              <a:rPr sz="1600" dirty="0" err="1"/>
              <a:t>cuentas</a:t>
            </a:r>
            <a:r>
              <a:rPr sz="1600" dirty="0"/>
              <a:t> VIP”.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7" y="1673351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D4441"/>
                </a:solidFill>
                <a:latin typeface="Aptos"/>
              </a:defRPr>
            </a:pPr>
            <a:r>
              <a:t>Riesgo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103120"/>
            <a:ext cx="3072384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¿Qué puede salir mal?</a:t>
            </a:r>
            <a:br>
              <a:rPr sz="1600"/>
            </a:br>
            <a:br>
              <a:rPr sz="1600"/>
            </a:br>
            <a:r>
              <a:rPr sz="1600"/>
              <a:t>Alucinaciones, datos incorrectos, acciones sensibles.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8" y="1673351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76CB4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103120"/>
            <a:ext cx="3072384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¿Quién tiene la mano en el freno?</a:t>
            </a:r>
            <a:br>
              <a:rPr sz="1600"/>
            </a:br>
            <a:br>
              <a:rPr sz="1600"/>
            </a:br>
            <a:r>
              <a:rPr sz="1600"/>
              <a:t>Guardrails, logs, HITL, AI-as-a-Judge.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Hablar el idioma de cada stakeholder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ubl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22960"/>
            <a:ext cx="10972800" cy="57125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91072"/>
            <a:ext cx="107899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71F39"/>
                </a:solidFill>
                <a:latin typeface="Aptos"/>
              </a:defRPr>
            </a:pPr>
            <a:r>
              <a:t>Clave: misma arquitectura, cuatro relatos distintos.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Traducción Función → Beneficio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926080" cy="530352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63039"/>
            <a:ext cx="277977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RAG multi-fuente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67328" y="1591056"/>
            <a:ext cx="713232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17720" y="1380744"/>
            <a:ext cx="6858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21922"/>
                </a:solidFill>
                <a:latin typeface="Aptos"/>
              </a:defRPr>
            </a:pPr>
            <a:r>
              <a:t>Información corporativa verificada en segundos, sin silos.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926080" cy="530352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277977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AI-as-a-Judge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67328" y="2459736"/>
            <a:ext cx="713232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17720" y="2249424"/>
            <a:ext cx="6858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21922"/>
                </a:solidFill>
                <a:latin typeface="Aptos"/>
              </a:defRPr>
            </a:pPr>
            <a:r>
              <a:t>Control de calidad automático antes de impactar al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39"/>
            <a:ext cx="2926080" cy="530352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200399"/>
            <a:ext cx="277977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HITL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67328" y="3328415"/>
            <a:ext cx="713232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17720" y="3118103"/>
            <a:ext cx="6858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21922"/>
                </a:solidFill>
                <a:latin typeface="Aptos"/>
              </a:defRPr>
            </a:pPr>
            <a:r>
              <a:t>El humano aprueba acciones sensibles con contexto listo.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2926080" cy="530352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069080"/>
            <a:ext cx="277977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Logs + CRM metadata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67328" y="4197096"/>
            <a:ext cx="713232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17720" y="3986783"/>
            <a:ext cx="6858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21922"/>
                </a:solidFill>
                <a:latin typeface="Aptos"/>
              </a:defRPr>
            </a:pPr>
            <a:r>
              <a:t>Atribución auditable para ROI y facturación sin disputas.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00600"/>
            <a:ext cx="2926080" cy="530352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937760"/>
            <a:ext cx="277977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Manager-Worker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67328" y="5065776"/>
            <a:ext cx="713232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7720" y="4855464"/>
            <a:ext cx="6858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21922"/>
                </a:solidFill>
                <a:latin typeface="Aptos"/>
              </a:defRPr>
            </a:pPr>
            <a:r>
              <a:t>Cada tarea va al especialista correcto; menos errores y mantenimiento más simple.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Arquitectura como capa de orquestación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3440" y="1508760"/>
            <a:ext cx="2743200" cy="73152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36592" y="1645919"/>
            <a:ext cx="2596896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AGENTE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63240"/>
            <a:ext cx="246888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A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3200400"/>
            <a:ext cx="2322576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Worker Leads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063240"/>
            <a:ext cx="246888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3200400"/>
            <a:ext cx="2322576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Worker 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63240"/>
            <a:ext cx="246888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3200400"/>
            <a:ext cx="2322576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Worker Soporte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063240"/>
            <a:ext cx="246888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3200400"/>
            <a:ext cx="2322576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Supervisor QA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148840" y="2240280"/>
            <a:ext cx="3886200" cy="82296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892040" y="2240280"/>
            <a:ext cx="1143000" cy="82296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240280"/>
            <a:ext cx="1600200" cy="82296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2240280"/>
            <a:ext cx="4343400" cy="82296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983480"/>
            <a:ext cx="2103120" cy="59436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5120640"/>
            <a:ext cx="1956815" cy="374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983480"/>
            <a:ext cx="2103120" cy="59436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A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5120640"/>
            <a:ext cx="1956815" cy="374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CRM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983480"/>
            <a:ext cx="2103120" cy="59436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25312" y="5120640"/>
            <a:ext cx="1956815" cy="374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Calendar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983480"/>
            <a:ext cx="2103120" cy="59436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5120640"/>
            <a:ext cx="1956815" cy="374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Slack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071F39"/>
                </a:solidFill>
                <a:latin typeface="Aptos"/>
              </a:defRPr>
            </a:pPr>
            <a:r>
              <a:t>No mostrar “nodos”: mostrar roles, herramientas, flujos de decisión y control.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Despliegue por fases: autonomía con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ublic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22960"/>
            <a:ext cx="11155680" cy="60525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Qué permite y qué prohíbe cada fase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27632"/>
            <a:ext cx="22037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76CB4"/>
                </a:solidFill>
                <a:latin typeface="Aptos"/>
              </a:defRPr>
            </a:pPr>
            <a:r>
              <a:t>Fase 0 · Modo sombra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57400"/>
            <a:ext cx="2203704" cy="23083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 err="1"/>
              <a:t>Puede</a:t>
            </a:r>
            <a:r>
              <a:rPr sz="1600" dirty="0"/>
              <a:t>:</a:t>
            </a:r>
            <a:br>
              <a:rPr sz="1600" dirty="0"/>
            </a:br>
            <a:r>
              <a:rPr sz="1600" dirty="0"/>
              <a:t>Lee y </a:t>
            </a:r>
            <a:r>
              <a:rPr sz="1600" dirty="0" err="1"/>
              <a:t>sugiere</a:t>
            </a:r>
            <a:br>
              <a:rPr sz="1600" dirty="0"/>
            </a:br>
            <a:br>
              <a:rPr sz="1600" dirty="0"/>
            </a:br>
            <a:r>
              <a:rPr sz="1600" dirty="0"/>
              <a:t>Tiene </a:t>
            </a:r>
            <a:r>
              <a:rPr sz="1600" dirty="0" err="1"/>
              <a:t>prohibido</a:t>
            </a:r>
            <a:r>
              <a:rPr sz="1600" dirty="0"/>
              <a:t>:</a:t>
            </a:r>
            <a:br>
              <a:rPr sz="1600" dirty="0"/>
            </a:br>
            <a:r>
              <a:rPr sz="1600" dirty="0"/>
              <a:t>No </a:t>
            </a:r>
            <a:r>
              <a:rPr sz="1600" dirty="0" err="1"/>
              <a:t>responde</a:t>
            </a:r>
            <a:r>
              <a:rPr sz="1600" dirty="0"/>
              <a:t> solo</a:t>
            </a:r>
            <a:br>
              <a:rPr sz="1600" dirty="0"/>
            </a:br>
            <a:br>
              <a:rPr sz="1600" dirty="0"/>
            </a:br>
            <a:r>
              <a:rPr sz="1600" dirty="0" err="1"/>
              <a:t>Criterio</a:t>
            </a:r>
            <a:r>
              <a:rPr sz="1600" dirty="0"/>
              <a:t> de </a:t>
            </a:r>
            <a:r>
              <a:rPr sz="1600" dirty="0" err="1"/>
              <a:t>avance</a:t>
            </a:r>
            <a:r>
              <a:rPr sz="1600" dirty="0"/>
              <a:t>:</a:t>
            </a:r>
            <a:br>
              <a:rPr sz="1600" dirty="0"/>
            </a:br>
            <a:r>
              <a:rPr sz="1600" dirty="0" err="1"/>
              <a:t>precisión</a:t>
            </a:r>
            <a:r>
              <a:rPr sz="1600" dirty="0"/>
              <a:t>, logs y fallback bajo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6304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7328" y="1627632"/>
            <a:ext cx="22037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Fase 1 · Solo lectura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057400"/>
            <a:ext cx="2203704" cy="23083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Puede:</a:t>
            </a:r>
            <a:br>
              <a:rPr sz="1600"/>
            </a:br>
            <a:r>
              <a:rPr sz="1600"/>
              <a:t>Responde FAQs/RAG</a:t>
            </a:r>
            <a:br>
              <a:rPr sz="1600"/>
            </a:br>
            <a:br>
              <a:rPr sz="1600"/>
            </a:br>
            <a:r>
              <a:rPr sz="1600"/>
              <a:t>Tiene prohibido:</a:t>
            </a:r>
            <a:br>
              <a:rPr sz="1600"/>
            </a:br>
            <a:r>
              <a:rPr sz="1600"/>
              <a:t>No escribe en CRM</a:t>
            </a:r>
            <a:br>
              <a:rPr sz="1600"/>
            </a:br>
            <a:br>
              <a:rPr sz="1600"/>
            </a:br>
            <a:r>
              <a:rPr sz="1600"/>
              <a:t>Criterio de avance:</a:t>
            </a:r>
            <a:br>
              <a:rPr sz="1600"/>
            </a:br>
            <a:r>
              <a:rPr sz="1600"/>
              <a:t>precisión, logs y fallback bajo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46304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1627632"/>
            <a:ext cx="22037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28525"/>
                </a:solidFill>
                <a:latin typeface="Aptos"/>
              </a:defRPr>
            </a:pPr>
            <a:r>
              <a:t>Fase 2 · Escritura controlada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057400"/>
            <a:ext cx="2203704" cy="23083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Puede:</a:t>
            </a:r>
            <a:br>
              <a:rPr sz="1600"/>
            </a:br>
            <a:r>
              <a:rPr sz="1600"/>
              <a:t>Propone acciones</a:t>
            </a:r>
            <a:br>
              <a:rPr sz="1600"/>
            </a:br>
            <a:br>
              <a:rPr sz="1600"/>
            </a:br>
            <a:r>
              <a:rPr sz="1600"/>
              <a:t>Tiene prohibido:</a:t>
            </a:r>
            <a:br>
              <a:rPr sz="1600"/>
            </a:br>
            <a:r>
              <a:rPr sz="1600"/>
              <a:t>No ejecuta sin HITL</a:t>
            </a:r>
            <a:br>
              <a:rPr sz="1600"/>
            </a:br>
            <a:br>
              <a:rPr sz="1600"/>
            </a:br>
            <a:r>
              <a:rPr sz="1600"/>
              <a:t>Criterio de avance:</a:t>
            </a:r>
            <a:br>
              <a:rPr sz="1600"/>
            </a:br>
            <a:r>
              <a:rPr sz="1600"/>
              <a:t>precisión, logs y fallback bajo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46304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8048" y="1627632"/>
            <a:ext cx="22037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D4441"/>
                </a:solidFill>
                <a:latin typeface="Aptos"/>
              </a:defRPr>
            </a:pPr>
            <a:r>
              <a:t>Fase 3 · Autonomía supervisada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2057400"/>
            <a:ext cx="2203704" cy="23083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Puede:</a:t>
            </a:r>
            <a:br>
              <a:rPr sz="1600"/>
            </a:br>
            <a:r>
              <a:rPr sz="1600"/>
              <a:t>Opera con guardrails</a:t>
            </a:r>
            <a:br>
              <a:rPr sz="1600"/>
            </a:br>
            <a:br>
              <a:rPr sz="1600"/>
            </a:br>
            <a:r>
              <a:rPr sz="1600"/>
              <a:t>Tiene prohibido:</a:t>
            </a:r>
            <a:br>
              <a:rPr sz="1600"/>
            </a:br>
            <a:r>
              <a:rPr sz="1600"/>
              <a:t>No sale de políticas</a:t>
            </a:r>
            <a:br>
              <a:rPr sz="1600"/>
            </a:br>
            <a:br>
              <a:rPr sz="1600"/>
            </a:br>
            <a:r>
              <a:rPr sz="1600"/>
              <a:t>Criterio de avance:</a:t>
            </a:r>
            <a:br>
              <a:rPr sz="1600"/>
            </a:br>
            <a:r>
              <a:rPr sz="1600"/>
              <a:t>precisión, logs y fallback bajo control.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Trazabilidad: fuente de verdad del Success Fee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10312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1956815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Lead entra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2267712"/>
            <a:ext cx="731520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1920240"/>
            <a:ext cx="210312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9312" y="2057400"/>
            <a:ext cx="1956815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Agente interactúa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0" y="2267712"/>
            <a:ext cx="731520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920240"/>
            <a:ext cx="210312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F28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057400"/>
            <a:ext cx="1956815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CRM etiqueta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2267712"/>
            <a:ext cx="731520" cy="0"/>
          </a:xfrm>
          <a:prstGeom prst="line">
            <a:avLst/>
          </a:prstGeom>
          <a:ln w="25400">
            <a:solidFill>
              <a:srgbClr val="576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35440" y="1920240"/>
            <a:ext cx="2103120" cy="685800"/>
          </a:xfrm>
          <a:prstGeom prst="roundRect">
            <a:avLst/>
          </a:prstGeom>
          <a:solidFill>
            <a:srgbClr val="071F39"/>
          </a:solidFill>
          <a:ln w="2540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08592" y="2057400"/>
            <a:ext cx="1956815" cy="466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Factura KPI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886200"/>
            <a:ext cx="99669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050791"/>
            <a:ext cx="956462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AA2A6"/>
                </a:solidFill>
                <a:latin typeface="Aptos"/>
              </a:defRPr>
            </a:pPr>
            <a:r>
              <a:t>Metadatos mínimos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480560"/>
            <a:ext cx="956462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 err="1"/>
              <a:t>origen</a:t>
            </a:r>
            <a:r>
              <a:rPr sz="1400" dirty="0"/>
              <a:t> = IA · timestamp · </a:t>
            </a:r>
            <a:r>
              <a:rPr sz="1400" dirty="0" err="1"/>
              <a:t>workflow_version</a:t>
            </a:r>
            <a:r>
              <a:rPr sz="1400" dirty="0"/>
              <a:t> · </a:t>
            </a:r>
            <a:r>
              <a:rPr sz="1400" dirty="0" err="1"/>
              <a:t>interaction_id</a:t>
            </a:r>
            <a:r>
              <a:rPr sz="1400" dirty="0"/>
              <a:t> · owner · </a:t>
            </a:r>
            <a:r>
              <a:rPr sz="1400" dirty="0" err="1"/>
              <a:t>estado</a:t>
            </a:r>
            <a:r>
              <a:rPr sz="1400" dirty="0"/>
              <a:t> · </a:t>
            </a:r>
            <a:r>
              <a:rPr sz="1400" dirty="0" err="1"/>
              <a:t>ventana_conversion_dias</a:t>
            </a:r>
            <a:r>
              <a:rPr sz="1400" dirty="0"/>
              <a:t> · </a:t>
            </a:r>
            <a:r>
              <a:rPr sz="1400" dirty="0" err="1"/>
              <a:t>kpi_atribuible</a:t>
            </a:r>
            <a:endParaRPr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071F39"/>
                </a:solidFill>
                <a:latin typeface="Aptos"/>
              </a:defRPr>
            </a:pPr>
            <a:r>
              <a:t>Sin trazabilidad, el success fee termina en discusión. Con CRM como fuente de verdad, se factura con evidencia.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121922"/>
                </a:solidFill>
                <a:latin typeface="Aptos"/>
              </a:defRPr>
            </a:pPr>
            <a:r>
              <a:t>Defensa ante comité: objeciones típicas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05840" cy="54864"/>
          </a:xfrm>
          <a:prstGeom prst="rect">
            <a:avLst/>
          </a:prstGeom>
          <a:solidFill>
            <a:srgbClr val="F28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490472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76CB4"/>
                </a:solidFill>
                <a:latin typeface="Aptos"/>
              </a:defRPr>
            </a:pPr>
            <a:r>
              <a:t>“Esto ya lo hace mi CRM”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3072384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 dirty="0"/>
              <a:t>Respuesta:</a:t>
            </a:r>
            <a:br>
              <a:rPr sz="1600" dirty="0"/>
            </a:br>
            <a:r>
              <a:rPr sz="1600" dirty="0"/>
              <a:t>El CRM </a:t>
            </a:r>
            <a:r>
              <a:rPr sz="1600" dirty="0" err="1"/>
              <a:t>registra</a:t>
            </a:r>
            <a:r>
              <a:rPr sz="1600" dirty="0"/>
              <a:t>. El </a:t>
            </a:r>
            <a:r>
              <a:rPr sz="1600" dirty="0" err="1"/>
              <a:t>agente</a:t>
            </a:r>
            <a:r>
              <a:rPr sz="1600" dirty="0"/>
              <a:t> opera </a:t>
            </a:r>
            <a:r>
              <a:rPr sz="1600" dirty="0" err="1"/>
              <a:t>sobre</a:t>
            </a:r>
            <a:r>
              <a:rPr sz="1600" dirty="0"/>
              <a:t> el </a:t>
            </a:r>
            <a:r>
              <a:rPr sz="1600" dirty="0" err="1"/>
              <a:t>proceso</a:t>
            </a:r>
            <a:r>
              <a:rPr sz="1600" dirty="0"/>
              <a:t>: </a:t>
            </a:r>
            <a:r>
              <a:rPr sz="1600" dirty="0" err="1"/>
              <a:t>prioriza</a:t>
            </a:r>
            <a:r>
              <a:rPr sz="1600" dirty="0"/>
              <a:t>, </a:t>
            </a:r>
            <a:r>
              <a:rPr sz="1600" dirty="0" err="1"/>
              <a:t>responde</a:t>
            </a:r>
            <a:r>
              <a:rPr sz="1600" dirty="0"/>
              <a:t>, agenda y </a:t>
            </a:r>
            <a:r>
              <a:rPr sz="1600" dirty="0" err="1"/>
              <a:t>escala</a:t>
            </a:r>
            <a:r>
              <a:rPr sz="1600" dirty="0"/>
              <a:t> con </a:t>
            </a:r>
            <a:r>
              <a:rPr sz="1600" dirty="0" err="1"/>
              <a:t>trazabilidad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7" y="1490472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D4441"/>
                </a:solidFill>
                <a:latin typeface="Aptos"/>
              </a:defRPr>
            </a:pPr>
            <a:r>
              <a:t>“¿Y si alucina?”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1975104"/>
            <a:ext cx="3072384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Respuesta:</a:t>
            </a:r>
            <a:br>
              <a:rPr sz="1600"/>
            </a:br>
            <a:r>
              <a:rPr sz="1600"/>
              <a:t>Despliegue por fases, AI-as-a-Judge, HITL y límites de escritura según criticidad.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8" y="1490472"/>
            <a:ext cx="3072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49468"/>
                </a:solidFill>
                <a:latin typeface="Aptos"/>
              </a:defRPr>
            </a:pPr>
            <a:r>
              <a:t>“Es caro”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975104"/>
            <a:ext cx="3072384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50" b="0">
                <a:solidFill>
                  <a:srgbClr val="121922"/>
                </a:solidFill>
                <a:latin typeface="Aptos"/>
              </a:defRPr>
            </a:pPr>
            <a:r>
              <a:rPr sz="1600"/>
              <a:t>Respuesta:</a:t>
            </a:r>
            <a:br>
              <a:rPr sz="1600"/>
            </a:br>
            <a:r>
              <a:rPr sz="1600"/>
              <a:t>Comparamos contra baseline, TCO y payback. No se vende costo: se vende capacidad y reducción de fricción.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789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Cierre de camada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10241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200" b="1">
                <a:solidFill>
                  <a:srgbClr val="FFCD78"/>
                </a:solidFill>
                <a:latin typeface="Aptos"/>
              </a:defRPr>
            </a:pPr>
            <a:r>
              <a:t>“Dejen de vender el motor.</a:t>
            </a:r>
            <a:br/>
            <a:r>
              <a:t>Empiecen a vender el destino.”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9669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ptos"/>
              </a:defRPr>
            </a:pPr>
            <a:r>
              <a:t>El cliente no compra nodos: compra más ventas, menos fricción, menor riesgo y una forma segura de escalar.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89320"/>
            <a:ext cx="9966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28525"/>
                </a:solidFill>
                <a:latin typeface="Aptos"/>
              </a:defRPr>
            </a:pPr>
            <a:r>
              <a:t>Arquitecto técnico + estratega de negocio = Asesor de IA experto.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1186</Words>
  <Application>Microsoft Office PowerPoint</Application>
  <PresentationFormat>Panorámica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Carolina Lemes</cp:lastModifiedBy>
  <cp:revision>1</cp:revision>
  <dcterms:created xsi:type="dcterms:W3CDTF">2013-01-27T09:14:16Z</dcterms:created>
  <dcterms:modified xsi:type="dcterms:W3CDTF">2026-09-09T23:19:12Z</dcterms:modified>
  <cp:category/>
</cp:coreProperties>
</file>