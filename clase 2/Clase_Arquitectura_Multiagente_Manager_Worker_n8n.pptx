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9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Lemes" userId="5ff4adf7-3f42-47aa-9bbb-c804149ba722" providerId="ADAL" clId="{038C700E-1A2C-4CED-B6FD-C04E68F3B4BE}"/>
    <pc:docChg chg="undo custSel modSld sldOrd">
      <pc:chgData name="Carolina Lemes" userId="5ff4adf7-3f42-47aa-9bbb-c804149ba722" providerId="ADAL" clId="{038C700E-1A2C-4CED-B6FD-C04E68F3B4BE}" dt="2026-09-15T22:03:19.133" v="155" actId="478"/>
      <pc:docMkLst>
        <pc:docMk/>
      </pc:docMkLst>
      <pc:sldChg chg="delSp mod">
        <pc:chgData name="Carolina Lemes" userId="5ff4adf7-3f42-47aa-9bbb-c804149ba722" providerId="ADAL" clId="{038C700E-1A2C-4CED-B6FD-C04E68F3B4BE}" dt="2026-09-15T22:03:19.133" v="155" actId="478"/>
        <pc:sldMkLst>
          <pc:docMk/>
          <pc:sldMk cId="0" sldId="256"/>
        </pc:sldMkLst>
        <pc:spChg chg="del">
          <ac:chgData name="Carolina Lemes" userId="5ff4adf7-3f42-47aa-9bbb-c804149ba722" providerId="ADAL" clId="{038C700E-1A2C-4CED-B6FD-C04E68F3B4BE}" dt="2026-09-15T22:03:19.133" v="155" actId="47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49:49.807" v="1" actId="403"/>
        <pc:sldMkLst>
          <pc:docMk/>
          <pc:sldMk cId="0" sldId="257"/>
        </pc:sldMkLst>
        <pc:spChg chg="mod">
          <ac:chgData name="Carolina Lemes" userId="5ff4adf7-3f42-47aa-9bbb-c804149ba722" providerId="ADAL" clId="{038C700E-1A2C-4CED-B6FD-C04E68F3B4BE}" dt="2026-09-15T20:49:49.807" v="1" actId="403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8:04.090" v="144" actId="26606"/>
        <pc:sldMkLst>
          <pc:docMk/>
          <pc:sldMk cId="0" sldId="258"/>
        </pc:sldMkLst>
        <pc:spChg chg="mod">
          <ac:chgData name="Carolina Lemes" userId="5ff4adf7-3f42-47aa-9bbb-c804149ba722" providerId="ADAL" clId="{038C700E-1A2C-4CED-B6FD-C04E68F3B4BE}" dt="2026-09-15T20:51:39.424" v="67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1:39.424" v="6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1:45.159" v="78" actId="1037"/>
          <ac:spMkLst>
            <pc:docMk/>
            <pc:sldMk cId="0" sldId="258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26.247" v="64" actId="1038"/>
          <ac:spMkLst>
            <pc:docMk/>
            <pc:sldMk cId="0" sldId="258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26.247" v="64" actId="1038"/>
          <ac:spMkLst>
            <pc:docMk/>
            <pc:sldMk cId="0" sldId="258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1:51.559" v="96" actId="1037"/>
          <ac:spMkLst>
            <pc:docMk/>
            <pc:sldMk cId="0" sldId="258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18.757" v="38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1:51.559" v="96" actId="103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18.757" v="38" actId="10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1:51.559" v="96" actId="103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18.757" v="38" actId="10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03.988" v="2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03.988" v="2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12.214" v="3" actId="107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0:12.214" v="3" actId="1076"/>
          <ac:spMkLst>
            <pc:docMk/>
            <pc:sldMk cId="0" sldId="258"/>
            <ac:spMk id="21" creationId="{00000000-0000-0000-0000-000000000000}"/>
          </ac:spMkLst>
        </pc:spChg>
      </pc:sldChg>
      <pc:sldChg chg="mod modShow">
        <pc:chgData name="Carolina Lemes" userId="5ff4adf7-3f42-47aa-9bbb-c804149ba722" providerId="ADAL" clId="{038C700E-1A2C-4CED-B6FD-C04E68F3B4BE}" dt="2026-09-15T20:52:19.558" v="97" actId="729"/>
        <pc:sldMkLst>
          <pc:docMk/>
          <pc:sldMk cId="0" sldId="259"/>
        </pc:sldMkLst>
      </pc:sldChg>
      <pc:sldChg chg="modSp mod">
        <pc:chgData name="Carolina Lemes" userId="5ff4adf7-3f42-47aa-9bbb-c804149ba722" providerId="ADAL" clId="{038C700E-1A2C-4CED-B6FD-C04E68F3B4BE}" dt="2026-09-15T20:58:04.090" v="144" actId="26606"/>
        <pc:sldMkLst>
          <pc:docMk/>
          <pc:sldMk cId="0" sldId="260"/>
        </pc:sldMkLst>
        <pc:spChg chg="mod">
          <ac:chgData name="Carolina Lemes" userId="5ff4adf7-3f42-47aa-9bbb-c804149ba722" providerId="ADAL" clId="{038C700E-1A2C-4CED-B6FD-C04E68F3B4BE}" dt="2026-09-15T20:53:00.395" v="104" actId="403"/>
          <ac:spMkLst>
            <pc:docMk/>
            <pc:sldMk cId="0" sldId="260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0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00.395" v="104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2:32.829" v="99" actId="403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3:34.248" v="120" actId="1036"/>
        <pc:sldMkLst>
          <pc:docMk/>
          <pc:sldMk cId="0" sldId="261"/>
        </pc:sldMkLst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3:34.248" v="120" actId="1036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8:04.090" v="144" actId="26606"/>
        <pc:sldMkLst>
          <pc:docMk/>
          <pc:sldMk cId="0" sldId="262"/>
        </pc:sldMkLst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23.987" v="122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23.987" v="122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23.987" v="122" actId="403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7:41.195" v="126" actId="403"/>
        <pc:sldMkLst>
          <pc:docMk/>
          <pc:sldMk cId="0" sldId="263"/>
        </pc:sldMkLst>
        <pc:spChg chg="mod">
          <ac:chgData name="Carolina Lemes" userId="5ff4adf7-3f42-47aa-9bbb-c804149ba722" providerId="ADAL" clId="{038C700E-1A2C-4CED-B6FD-C04E68F3B4BE}" dt="2026-09-15T20:57:41.195" v="126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41.195" v="126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41.195" v="126" actId="403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8:04.090" v="144" actId="26606"/>
        <pc:sldMkLst>
          <pc:docMk/>
          <pc:sldMk cId="0" sldId="264"/>
        </pc:sldMkLst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7:51.658" v="143" actId="103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4"/>
            <ac:spMk id="20" creationId="{00000000-0000-0000-0000-000000000000}"/>
          </ac:spMkLst>
        </pc:spChg>
      </pc:sldChg>
      <pc:sldChg chg="modSp mod">
        <pc:chgData name="Carolina Lemes" userId="5ff4adf7-3f42-47aa-9bbb-c804149ba722" providerId="ADAL" clId="{038C700E-1A2C-4CED-B6FD-C04E68F3B4BE}" dt="2026-09-15T20:58:04.988" v="145" actId="403"/>
        <pc:sldMkLst>
          <pc:docMk/>
          <pc:sldMk cId="0" sldId="265"/>
        </pc:sldMkLst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1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04.988" v="145" actId="403"/>
          <ac:spMkLst>
            <pc:docMk/>
            <pc:sldMk cId="0" sldId="265"/>
            <ac:spMk id="15" creationId="{00000000-0000-0000-0000-000000000000}"/>
          </ac:spMkLst>
        </pc:spChg>
      </pc:sldChg>
      <pc:sldChg chg="modSp mod modShow">
        <pc:chgData name="Carolina Lemes" userId="5ff4adf7-3f42-47aa-9bbb-c804149ba722" providerId="ADAL" clId="{038C700E-1A2C-4CED-B6FD-C04E68F3B4BE}" dt="2026-09-15T20:58:41.412" v="149" actId="729"/>
        <pc:sldMkLst>
          <pc:docMk/>
          <pc:sldMk cId="0" sldId="266"/>
        </pc:sldMkLst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1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1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20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32.707" v="148" actId="403"/>
          <ac:spMkLst>
            <pc:docMk/>
            <pc:sldMk cId="0" sldId="266"/>
            <ac:spMk id="21" creationId="{00000000-0000-0000-0000-000000000000}"/>
          </ac:spMkLst>
        </pc:spChg>
      </pc:sldChg>
      <pc:sldChg chg="modSp mod ord">
        <pc:chgData name="Carolina Lemes" userId="5ff4adf7-3f42-47aa-9bbb-c804149ba722" providerId="ADAL" clId="{038C700E-1A2C-4CED-B6FD-C04E68F3B4BE}" dt="2026-09-15T20:59:08.914" v="154"/>
        <pc:sldMkLst>
          <pc:docMk/>
          <pc:sldMk cId="0" sldId="267"/>
        </pc:sldMkLst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4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5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6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Carolina Lemes" userId="5ff4adf7-3f42-47aa-9bbb-c804149ba722" providerId="ADAL" clId="{038C700E-1A2C-4CED-B6FD-C04E68F3B4BE}" dt="2026-09-15T20:58:56.563" v="151" actId="403"/>
          <ac:spMkLst>
            <pc:docMk/>
            <pc:sldMk cId="0" sldId="267"/>
            <ac:spMk id="9" creationId="{00000000-0000-0000-0000-000000000000}"/>
          </ac:spMkLst>
        </pc:spChg>
      </pc:sldChg>
      <pc:sldChg chg="modSp mod modShow">
        <pc:chgData name="Carolina Lemes" userId="5ff4adf7-3f42-47aa-9bbb-c804149ba722" providerId="ADAL" clId="{038C700E-1A2C-4CED-B6FD-C04E68F3B4BE}" dt="2026-09-15T20:59:05.611" v="152" actId="729"/>
        <pc:sldMkLst>
          <pc:docMk/>
          <pc:sldMk cId="0" sldId="268"/>
        </pc:sldMkLst>
        <pc:spChg chg="mod">
          <ac:chgData name="Carolina Lemes" userId="5ff4adf7-3f42-47aa-9bbb-c804149ba722" providerId="ADAL" clId="{038C700E-1A2C-4CED-B6FD-C04E68F3B4BE}" dt="2026-09-15T20:58:04.090" v="144" actId="26606"/>
          <ac:spMkLst>
            <pc:docMk/>
            <pc:sldMk cId="0" sldId="268"/>
            <ac:spMk id="1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5156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Arquitectura Multi-Agente en n8n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241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CDDAEB"/>
                </a:solidFill>
                <a:latin typeface="Aptos"/>
              </a:rPr>
              <a:t>Manager–Worker · Router · Guardrails · HITL · Trazabilidad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424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Objetivo de hoy: pasar de un agente monolítico a un sistema modular, controlable y reutilizable.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El problema: un agente que hace todo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920240" cy="731520"/>
          </a:xfrm>
          <a:prstGeom prst="roundRect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2148839"/>
            <a:ext cx="1773936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Usuario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88920" y="2331720"/>
            <a:ext cx="50292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29000" y="1600200"/>
            <a:ext cx="2743200" cy="1737360"/>
          </a:xfrm>
          <a:prstGeom prst="round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1645920"/>
            <a:ext cx="2596896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AGENTE</a:t>
            </a:r>
            <a:br/>
            <a:r>
              <a:t>MONOLÍTICO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32588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Busca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84248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Analiza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642615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Decide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3300984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3959352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Actualiza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61772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11F36"/>
                </a:solidFill>
                <a:latin typeface="Aptos"/>
              </a:rPr>
              <a:t>• Valida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 dirty="0" err="1">
                <a:solidFill>
                  <a:srgbClr val="BE4646"/>
                </a:solidFill>
                <a:latin typeface="Aptos"/>
              </a:rPr>
              <a:t>Cuantas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más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responsabilidades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y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herramientas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acumula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más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difícil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es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depurarlo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,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limitar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permisos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y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entender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dónde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BE4646"/>
                </a:solidFill>
                <a:latin typeface="Aptos"/>
              </a:rPr>
              <a:t>falló</a:t>
            </a:r>
            <a:r>
              <a:rPr sz="2000" b="1" dirty="0">
                <a:solidFill>
                  <a:srgbClr val="BE4646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Manager–Worker: dividir responsabilidades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84462" y="2876194"/>
            <a:ext cx="1554480" cy="640080"/>
          </a:xfrm>
          <a:prstGeom prst="roundRect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614" y="2921914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Usuario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23408" y="3071547"/>
            <a:ext cx="50292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17023" y="2614347"/>
            <a:ext cx="1828800" cy="1143000"/>
          </a:xfrm>
          <a:prstGeom prst="round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0175" y="2660066"/>
            <a:ext cx="1682496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MANAGER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14507" y="1803858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44786" y="1620978"/>
            <a:ext cx="2148840" cy="640080"/>
          </a:xfrm>
          <a:prstGeom prst="round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17938" y="1679408"/>
            <a:ext cx="200253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 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de Facturación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914507" y="3038298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144786" y="2855418"/>
            <a:ext cx="2148840" cy="640080"/>
          </a:xfrm>
          <a:prstGeom prst="round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17938" y="3021569"/>
            <a:ext cx="200253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 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Técnico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914507" y="4272738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44786" y="4089858"/>
            <a:ext cx="2148840" cy="640080"/>
          </a:xfrm>
          <a:prstGeom prst="round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17938" y="4256009"/>
            <a:ext cx="200253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 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de Ventas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43200" y="5128953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F36"/>
                </a:solidFill>
                <a:latin typeface="Aptos"/>
              </a:rPr>
              <a:t>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5586153"/>
            <a:ext cx="30175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26C78"/>
                </a:solidFill>
                <a:latin typeface="Aptos"/>
              </a:rPr>
              <a:t>Decide, enruta y consolida. No hace el trabajo pesado.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128953"/>
            <a:ext cx="3017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11F36"/>
                </a:solidFill>
                <a:latin typeface="Aptos"/>
              </a:rPr>
              <a:t>Workers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586153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26C78"/>
                </a:solidFill>
                <a:latin typeface="Aptos"/>
              </a:rPr>
              <a:t>Especialistas pequeños: una responsabilidad, una entrada clara y una salida predecible.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El contrato de 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6C78"/>
                </a:solidFill>
                <a:latin typeface="Aptos"/>
              </a:rPr>
              <a:t>La comunicación entre workflows debe ser explícita y predecible.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42976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5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Manager → Worker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89204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{</a:t>
            </a:r>
            <a:br/>
            <a:r>
              <a:t>  "original_input": "Me cobraron dos veces",</a:t>
            </a:r>
            <a:br/>
            <a:r>
              <a:t>  "intent": "BILLING",</a:t>
            </a:r>
            <a:br/>
            <a:r>
              <a:t>  "confidence": 0.94,</a:t>
            </a:r>
            <a:br/>
            <a:r>
              <a:t>  "risk": "LOW"</a:t>
            </a:r>
            <a:br/>
            <a:r>
              <a:t>}</a:t>
            </a:r>
            <a:br/>
            <a:br/>
            <a:r>
              <a:t>Solo enviamos lo que el especialista necesita.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73152" cy="4297680"/>
          </a:xfrm>
          <a:prstGeom prst="rect">
            <a:avLst/>
          </a:prstGeom>
          <a:solidFill>
            <a:srgbClr val="36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93775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Worker →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240280"/>
            <a:ext cx="489204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{</a:t>
            </a:r>
            <a:br/>
            <a:r>
              <a:t>  "status": "success",</a:t>
            </a:r>
            <a:br/>
            <a:r>
              <a:t>  "worker": "BILLING",</a:t>
            </a:r>
            <a:br/>
            <a:r>
              <a:t>  "respuesta": "...",</a:t>
            </a:r>
            <a:br/>
            <a:r>
              <a:t>  "requires_human": false</a:t>
            </a:r>
            <a:br/>
            <a:r>
              <a:t>}</a:t>
            </a:r>
            <a:br/>
            <a:br/>
            <a:r>
              <a:t>El Manager siempre sabe qué esperar.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¿Manager–Worker o Planner–Executor?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73152" cy="42976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97324"/>
            <a:ext cx="493775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11F36"/>
                </a:solidFill>
                <a:latin typeface="Aptos"/>
              </a:rPr>
              <a:t>Manager–Worker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4648"/>
            <a:ext cx="4892040" cy="22775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626C78"/>
                </a:solidFill>
                <a:latin typeface="Aptos"/>
              </a:rPr>
              <a:t>Los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especialistas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ya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están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definidos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dirty="0"/>
              <a:t>El Manager decide A QUIÉN </a:t>
            </a:r>
            <a:r>
              <a:rPr dirty="0" err="1"/>
              <a:t>delegar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Ejemplo</a:t>
            </a:r>
            <a:r>
              <a:rPr dirty="0"/>
              <a:t>:</a:t>
            </a:r>
            <a:br>
              <a:rPr dirty="0"/>
            </a:br>
            <a:r>
              <a:rPr dirty="0"/>
              <a:t>“</a:t>
            </a:r>
            <a:r>
              <a:rPr dirty="0" err="1"/>
              <a:t>Respondé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consulta de </a:t>
            </a:r>
            <a:r>
              <a:rPr dirty="0" err="1"/>
              <a:t>facturación</a:t>
            </a:r>
            <a:r>
              <a:rPr dirty="0"/>
              <a:t>.”</a:t>
            </a:r>
            <a:br>
              <a:rPr dirty="0"/>
            </a:br>
            <a:br>
              <a:rPr dirty="0"/>
            </a:br>
            <a:r>
              <a:rPr dirty="0"/>
              <a:t>→ Worker</a:t>
            </a:r>
            <a:r>
              <a:rPr lang="es-AR"/>
              <a:t> de Facturación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035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73152" cy="429768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697324"/>
            <a:ext cx="4937759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111F36"/>
                </a:solidFill>
                <a:latin typeface="Aptos"/>
              </a:rPr>
              <a:t>Planner–Executor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54648"/>
            <a:ext cx="4892040" cy="25545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626C78"/>
                </a:solidFill>
                <a:latin typeface="Aptos"/>
              </a:rPr>
              <a:t>Los pasos no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están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totalmente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1600" b="0" dirty="0" err="1">
                <a:solidFill>
                  <a:srgbClr val="626C78"/>
                </a:solidFill>
                <a:latin typeface="Aptos"/>
              </a:rPr>
              <a:t>definidos</a:t>
            </a:r>
            <a:r>
              <a:rPr sz="1600" b="0" dirty="0">
                <a:solidFill>
                  <a:srgbClr val="626C78"/>
                </a:solidFill>
                <a:latin typeface="Aptos"/>
              </a:rPr>
              <a:t>.</a:t>
            </a:r>
            <a:br>
              <a:rPr dirty="0"/>
            </a:br>
            <a:br>
              <a:rPr dirty="0"/>
            </a:br>
            <a:r>
              <a:rPr dirty="0"/>
              <a:t>El Planner decide QUÉ PASOS </a:t>
            </a:r>
            <a:r>
              <a:rPr dirty="0" err="1"/>
              <a:t>realizar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Ejemplo</a:t>
            </a:r>
            <a:r>
              <a:rPr dirty="0"/>
              <a:t>:</a:t>
            </a:r>
            <a:br>
              <a:rPr dirty="0"/>
            </a:br>
            <a:r>
              <a:rPr dirty="0"/>
              <a:t>“</a:t>
            </a:r>
            <a:r>
              <a:rPr dirty="0" err="1"/>
              <a:t>Investigá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bajaron</a:t>
            </a:r>
            <a:r>
              <a:rPr dirty="0"/>
              <a:t> las </a:t>
            </a:r>
            <a:r>
              <a:rPr dirty="0" err="1"/>
              <a:t>ventas</a:t>
            </a:r>
            <a:r>
              <a:rPr dirty="0"/>
              <a:t> y </a:t>
            </a:r>
            <a:r>
              <a:rPr dirty="0" err="1"/>
              <a:t>proponé</a:t>
            </a:r>
            <a:r>
              <a:rPr dirty="0"/>
              <a:t> un plan.”</a:t>
            </a:r>
            <a:br>
              <a:rPr dirty="0"/>
            </a:br>
            <a:br>
              <a:rPr dirty="0"/>
            </a:br>
            <a:r>
              <a:rPr dirty="0"/>
              <a:t>→ Plan → </a:t>
            </a:r>
            <a:r>
              <a:rPr dirty="0" err="1"/>
              <a:t>tareas</a:t>
            </a:r>
            <a:r>
              <a:rPr dirty="0"/>
              <a:t> → </a:t>
            </a:r>
            <a:r>
              <a:rPr dirty="0" err="1"/>
              <a:t>ejecución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11F36"/>
                </a:solidFill>
                <a:latin typeface="Aptos"/>
              </a:rPr>
              <a:t>Hoy practicamos Manager–Worker. Planner–Executor queda como evolución para problemas más abiertos.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Router: ¿quién debe intervenir?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2984264"/>
            <a:ext cx="1554480" cy="640080"/>
          </a:xfrm>
          <a:prstGeom prst="roundRect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3029983"/>
            <a:ext cx="14081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Mensaje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40280" y="3167144"/>
            <a:ext cx="50292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34640" y="2664224"/>
            <a:ext cx="1828800" cy="1188720"/>
          </a:xfrm>
          <a:prstGeom prst="round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07792" y="2966195"/>
            <a:ext cx="1682496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ptos"/>
              </a:rPr>
              <a:t>ROUTER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83480" y="1822976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0" y="1658384"/>
            <a:ext cx="2057400" cy="594360"/>
          </a:xfrm>
          <a:prstGeom prst="round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1704104"/>
            <a:ext cx="1911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BILLING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83480" y="2920256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715000" y="2755664"/>
            <a:ext cx="2057400" cy="594360"/>
          </a:xfrm>
          <a:prstGeom prst="round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88152" y="2801383"/>
            <a:ext cx="1911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TECH_SUPPORT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83480" y="4017536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0" y="3852944"/>
            <a:ext cx="2057400" cy="594360"/>
          </a:xfrm>
          <a:prstGeom prst="round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88152" y="3898664"/>
            <a:ext cx="1911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SALES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83480" y="5114816"/>
            <a:ext cx="594360" cy="274320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15000" y="4950224"/>
            <a:ext cx="2057400" cy="594360"/>
          </a:xfrm>
          <a:prstGeom prst="roundRect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88152" y="4995944"/>
            <a:ext cx="191109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Aptos"/>
              </a:rPr>
              <a:t>UNKNOWN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41264"/>
            <a:ext cx="32918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841264"/>
            <a:ext cx="73152" cy="3566160"/>
          </a:xfrm>
          <a:prstGeom prst="rect">
            <a:avLst/>
          </a:prstGeom>
          <a:solidFill>
            <a:srgbClr val="36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1978423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Salida estructurada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435624"/>
            <a:ext cx="2880360" cy="28346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intent</a:t>
            </a:r>
            <a:br/>
            <a:r>
              <a:t>confidence</a:t>
            </a:r>
            <a:br/>
            <a:r>
              <a:t>risk</a:t>
            </a:r>
            <a:br/>
            <a:br/>
            <a:r>
              <a:t>El Router NO resuelve.</a:t>
            </a:r>
            <a:br/>
            <a:r>
              <a:t>Solo clasifica y deriva.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561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AR" sz="2800" b="1">
                <a:solidFill>
                  <a:srgbClr val="111F36"/>
                </a:solidFill>
                <a:latin typeface="Aptos"/>
              </a:rPr>
              <a:t>Confianza </a:t>
            </a:r>
            <a:r>
              <a:rPr sz="2800" b="1">
                <a:solidFill>
                  <a:srgbClr val="111F36"/>
                </a:solidFill>
                <a:latin typeface="Aptos"/>
              </a:rPr>
              <a:t>+ </a:t>
            </a:r>
            <a:r>
              <a:rPr lang="es-AR" sz="2800" b="1">
                <a:solidFill>
                  <a:srgbClr val="111F36"/>
                </a:solidFill>
                <a:latin typeface="Aptos"/>
              </a:rPr>
              <a:t>Riesgo</a:t>
            </a:r>
            <a:r>
              <a:rPr sz="2800" b="1">
                <a:solidFill>
                  <a:srgbClr val="111F36"/>
                </a:solidFill>
                <a:latin typeface="Aptos"/>
              </a:rPr>
              <a:t> =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73152" cy="3474720"/>
          </a:xfrm>
          <a:prstGeom prst="rect">
            <a:avLst/>
          </a:prstGeom>
          <a:solidFill>
            <a:srgbClr val="36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Confianza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8219"/>
            <a:ext cx="3063239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626C78"/>
                </a:solidFill>
                <a:latin typeface="Aptos"/>
              </a:rPr>
              <a:t>≥ 0.85</a:t>
            </a:r>
            <a:br>
              <a:rPr sz="2400" dirty="0"/>
            </a:br>
            <a:br>
              <a:rPr sz="2400" dirty="0"/>
            </a:br>
            <a:r>
              <a:rPr sz="2400" dirty="0" err="1"/>
              <a:t>Enrutamiento</a:t>
            </a:r>
            <a:r>
              <a:rPr sz="2400" dirty="0"/>
              <a:t> </a:t>
            </a:r>
            <a:r>
              <a:rPr sz="2400" dirty="0" err="1"/>
              <a:t>automático</a:t>
            </a:r>
            <a:r>
              <a:rPr sz="2400" dirty="0"/>
              <a:t> al </a:t>
            </a:r>
            <a:r>
              <a:rPr sz="2400" dirty="0" err="1"/>
              <a:t>especialista</a:t>
            </a:r>
            <a:r>
              <a:rPr sz="2400"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73152" cy="347472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Confianza media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8219"/>
            <a:ext cx="3063239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626C78"/>
                </a:solidFill>
                <a:latin typeface="Aptos"/>
              </a:rPr>
              <a:t>0.50 – 0.84</a:t>
            </a:r>
            <a:br>
              <a:rPr sz="2400" dirty="0"/>
            </a:br>
            <a:br>
              <a:rPr sz="2400" dirty="0"/>
            </a:br>
            <a:r>
              <a:rPr sz="2400" dirty="0" err="1"/>
              <a:t>Procesar</a:t>
            </a:r>
            <a:r>
              <a:rPr sz="2400" dirty="0"/>
              <a:t> con </a:t>
            </a:r>
            <a:r>
              <a:rPr sz="2400" dirty="0" err="1"/>
              <a:t>marca</a:t>
            </a:r>
            <a:r>
              <a:rPr sz="2400" dirty="0"/>
              <a:t> de </a:t>
            </a:r>
            <a:r>
              <a:rPr sz="2400" dirty="0" err="1"/>
              <a:t>revisión</a:t>
            </a:r>
            <a:r>
              <a:rPr sz="2400" dirty="0"/>
              <a:t> o </a:t>
            </a:r>
            <a:r>
              <a:rPr sz="2400" dirty="0" err="1"/>
              <a:t>validación</a:t>
            </a:r>
            <a:r>
              <a:rPr sz="2400" dirty="0"/>
              <a:t> </a:t>
            </a:r>
            <a:r>
              <a:rPr sz="2400" dirty="0" err="1"/>
              <a:t>adicional</a:t>
            </a:r>
            <a:r>
              <a:rPr sz="2400"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4747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73152" cy="34747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Confianza baja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842885"/>
            <a:ext cx="3063239" cy="1446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dirty="0">
                <a:solidFill>
                  <a:srgbClr val="626C78"/>
                </a:solidFill>
                <a:latin typeface="Aptos"/>
              </a:rPr>
              <a:t>&lt; 0.50</a:t>
            </a:r>
            <a:br>
              <a:rPr sz="2400" dirty="0"/>
            </a:br>
            <a:br>
              <a:rPr sz="2400" dirty="0"/>
            </a:br>
            <a:r>
              <a:rPr sz="2400" dirty="0" err="1"/>
              <a:t>Frenar</a:t>
            </a:r>
            <a:r>
              <a:rPr sz="2400" dirty="0"/>
              <a:t> </a:t>
            </a:r>
            <a:r>
              <a:rPr sz="2400" dirty="0" err="1"/>
              <a:t>automatismo</a:t>
            </a:r>
            <a:r>
              <a:rPr sz="2400" dirty="0"/>
              <a:t> y </a:t>
            </a:r>
            <a:r>
              <a:rPr sz="2400" dirty="0" err="1"/>
              <a:t>escalar</a:t>
            </a:r>
            <a:r>
              <a:rPr sz="2400" dirty="0"/>
              <a:t> a HITL.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8640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11F36"/>
                </a:solidFill>
                <a:latin typeface="Aptos"/>
              </a:rPr>
              <a:t>El riesgo puede sobreescribir la confianza: una acción HIGH RISK puede exigir aprobación humana aunque la intención sea clarísima.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Guardrails: el prompt orienta; el workflow limita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420624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1. Iteraciones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2650"/>
            <a:ext cx="3063239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 err="1">
                <a:solidFill>
                  <a:srgbClr val="626C78"/>
                </a:solidFill>
                <a:latin typeface="Aptos"/>
              </a:rPr>
              <a:t>Acotar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los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ciclos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del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agente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para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evitar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loops y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consumo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626C78"/>
                </a:solidFill>
                <a:latin typeface="Aptos"/>
              </a:rPr>
              <a:t>descontrolado</a:t>
            </a:r>
            <a:r>
              <a:rPr sz="2000" b="0" dirty="0">
                <a:solidFill>
                  <a:srgbClr val="626C78"/>
                </a:solidFill>
                <a:latin typeface="Aptos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206240"/>
          </a:xfrm>
          <a:prstGeom prst="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2. Mínimo privilegio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78762"/>
            <a:ext cx="3063239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626C78"/>
                </a:solidFill>
                <a:latin typeface="Aptos"/>
              </a:rPr>
              <a:t>Cada Worker recibe solo las herramientas y permisos necesarios para su función.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420624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3. HITL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32650"/>
            <a:ext cx="3063239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626C78"/>
                </a:solidFill>
                <a:latin typeface="Aptos"/>
              </a:rPr>
              <a:t>Las decisiones críticas se frenan hasta que una persona las aprueba.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BE4646"/>
                </a:solidFill>
                <a:latin typeface="Aptos"/>
              </a:rPr>
              <a:t>“No quiero que lo haga” en un prompt ≠ impedir técnicamente que pueda hacerlo.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Arquitectura que vamos a construir en n8n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088260"/>
            <a:ext cx="1234440" cy="594360"/>
          </a:xfrm>
          <a:prstGeom prst="roundRect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3192" y="3133980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Telegram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645920" y="3252852"/>
            <a:ext cx="41148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48840" y="3088260"/>
            <a:ext cx="1234440" cy="594360"/>
          </a:xfrm>
          <a:prstGeom prst="roundRect">
            <a:avLst/>
          </a:prstGeom>
          <a:solidFill>
            <a:srgbClr val="11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21992" y="3133980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Router 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74720" y="3252852"/>
            <a:ext cx="41148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77639" y="3088260"/>
            <a:ext cx="1234440" cy="594360"/>
          </a:xfrm>
          <a:prstGeom prst="round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50791" y="3133980"/>
            <a:ext cx="1088136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Switch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49240" y="1508760"/>
            <a:ext cx="50292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989320" y="1371600"/>
            <a:ext cx="1828800" cy="548640"/>
          </a:xfrm>
          <a:prstGeom prst="round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62472" y="1384310"/>
            <a:ext cx="168249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 de Facturación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349240" y="2651760"/>
            <a:ext cx="50292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89320" y="2514600"/>
            <a:ext cx="1828800" cy="548640"/>
          </a:xfrm>
          <a:prstGeom prst="round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62472" y="2635031"/>
            <a:ext cx="168249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 Técnico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Right Arrow 17"/>
          <p:cNvSpPr/>
          <p:nvPr/>
        </p:nvSpPr>
        <p:spPr>
          <a:xfrm>
            <a:off x="5349240" y="3794760"/>
            <a:ext cx="50292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89320" y="3657600"/>
            <a:ext cx="1828800" cy="548640"/>
          </a:xfrm>
          <a:prstGeom prst="round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62472" y="3778031"/>
            <a:ext cx="1682496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Worker</a:t>
            </a:r>
            <a:r>
              <a:rPr lang="es-AR" sz="1400" b="1">
                <a:solidFill>
                  <a:srgbClr val="FFFFFF"/>
                </a:solidFill>
                <a:latin typeface="Aptos"/>
              </a:rPr>
              <a:t> de Ventas</a:t>
            </a:r>
            <a:endParaRPr sz="14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349240" y="4937760"/>
            <a:ext cx="502920" cy="256032"/>
          </a:xfrm>
          <a:prstGeom prst="rightArrow">
            <a:avLst/>
          </a:prstGeom>
          <a:solidFill>
            <a:srgbClr val="62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989320" y="4800600"/>
            <a:ext cx="1828800" cy="548640"/>
          </a:xfrm>
          <a:prstGeom prst="round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2472" y="4846320"/>
            <a:ext cx="168249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HITL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1965960"/>
            <a:ext cx="2971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Todos devuelven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514600"/>
            <a:ext cx="29718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626C78"/>
                </a:solidFill>
                <a:latin typeface="Aptos"/>
              </a:rPr>
              <a:t>status</a:t>
            </a:r>
            <a:br/>
            <a:r>
              <a:t>worker</a:t>
            </a:r>
            <a:br/>
            <a:r>
              <a:t>respuesta</a:t>
            </a:r>
            <a:br/>
            <a:r>
              <a:t>requires_human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58200" y="4069080"/>
            <a:ext cx="2103120" cy="594360"/>
          </a:xfrm>
          <a:prstGeom prst="roundRect">
            <a:avLst/>
          </a:prstGeom>
          <a:solidFill>
            <a:srgbClr val="369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31352" y="4114800"/>
            <a:ext cx="1956815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Respuesta +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Sub-workflows: especialistas desacoplados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5" name="Rectangle 4"/>
          <p:cNvSpPr/>
          <p:nvPr/>
        </p:nvSpPr>
        <p:spPr>
          <a:xfrm>
            <a:off x="640080" y="1508760"/>
            <a:ext cx="73152" cy="429768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/>
          <p:cNvSpPr txBox="1"/>
          <p:nvPr/>
        </p:nvSpPr>
        <p:spPr>
          <a:xfrm>
            <a:off x="868680" y="1666993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11F36"/>
                </a:solidFill>
                <a:latin typeface="Aptos"/>
              </a:rPr>
              <a:t>Worker</a:t>
            </a:r>
            <a:r>
              <a:rPr lang="es-AR" b="1">
                <a:solidFill>
                  <a:srgbClr val="111F36"/>
                </a:solidFill>
                <a:latin typeface="Aptos"/>
              </a:rPr>
              <a:t> de Facturación</a:t>
            </a:r>
            <a:endParaRPr b="1">
              <a:solidFill>
                <a:srgbClr val="111F36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808982"/>
            <a:ext cx="3063239" cy="21544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dirty="0">
                <a:solidFill>
                  <a:srgbClr val="626C78"/>
                </a:solidFill>
                <a:latin typeface="Aptos"/>
              </a:rPr>
              <a:t>Execute Workflow Trigger</a:t>
            </a:r>
            <a:br>
              <a:rPr sz="2000" dirty="0"/>
            </a:br>
            <a:r>
              <a:rPr sz="2000" dirty="0"/>
              <a:t>↓</a:t>
            </a:r>
            <a:br>
              <a:rPr sz="2000" dirty="0"/>
            </a:br>
            <a:r>
              <a:rPr lang="es-AR" sz="2000" dirty="0"/>
              <a:t>IA </a:t>
            </a:r>
            <a:r>
              <a:rPr sz="2000" dirty="0"/>
              <a:t>/ </a:t>
            </a:r>
            <a:r>
              <a:rPr sz="2000" dirty="0" err="1"/>
              <a:t>reglas</a:t>
            </a:r>
            <a:r>
              <a:rPr sz="2000" dirty="0"/>
              <a:t> de </a:t>
            </a:r>
            <a:r>
              <a:rPr lang="es-AR" sz="2000" dirty="0"/>
              <a:t>Facturación</a:t>
            </a:r>
            <a:br>
              <a:rPr sz="2000" dirty="0"/>
            </a:br>
            <a:r>
              <a:rPr sz="2000" dirty="0"/>
              <a:t>↓</a:t>
            </a:r>
            <a:br>
              <a:rPr sz="2000" dirty="0"/>
            </a:br>
            <a:r>
              <a:rPr sz="2000" dirty="0"/>
              <a:t>Structured Output</a:t>
            </a:r>
            <a:br>
              <a:rPr sz="2000" dirty="0"/>
            </a:br>
            <a:r>
              <a:rPr sz="2000" dirty="0"/>
              <a:t>↓</a:t>
            </a:r>
            <a:br>
              <a:rPr sz="2000" dirty="0"/>
            </a:br>
            <a:r>
              <a:rPr sz="2000" dirty="0"/>
              <a:t>Respuesta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/>
        </p:nvSpPr>
        <p:spPr>
          <a:xfrm>
            <a:off x="4343400" y="1508760"/>
            <a:ext cx="73152" cy="4297680"/>
          </a:xfrm>
          <a:prstGeom prst="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572000" y="1666993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11F36"/>
                </a:solidFill>
                <a:latin typeface="Aptos"/>
              </a:rPr>
              <a:t>Worker</a:t>
            </a:r>
            <a:r>
              <a:rPr lang="es-AR" b="1">
                <a:solidFill>
                  <a:srgbClr val="111F36"/>
                </a:solidFill>
                <a:latin typeface="Aptos"/>
              </a:rPr>
              <a:t> Técnico</a:t>
            </a:r>
            <a:endParaRPr b="1">
              <a:solidFill>
                <a:srgbClr val="111F36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0" y="2808982"/>
            <a:ext cx="3063239" cy="21544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26C78"/>
                </a:solidFill>
                <a:latin typeface="Aptos"/>
              </a:rPr>
              <a:t>Execute Workflow Trigger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AI / documentación técnica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Structured Output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Respuesta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747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73152" cy="429768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275320" y="1666993"/>
            <a:ext cx="31089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111F36"/>
                </a:solidFill>
                <a:latin typeface="Aptos"/>
              </a:rPr>
              <a:t>Worker</a:t>
            </a:r>
            <a:r>
              <a:rPr lang="es-AR" b="1">
                <a:solidFill>
                  <a:srgbClr val="111F36"/>
                </a:solidFill>
                <a:latin typeface="Aptos"/>
              </a:rPr>
              <a:t> de Ventas</a:t>
            </a:r>
            <a:endParaRPr b="1">
              <a:solidFill>
                <a:srgbClr val="111F36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5320" y="2808982"/>
            <a:ext cx="3063239" cy="21544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26C78"/>
                </a:solidFill>
                <a:latin typeface="Aptos"/>
              </a:rPr>
              <a:t>Execute Workflow Trigger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AI / información comercial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Structured Output</a:t>
            </a:r>
            <a:br>
              <a:rPr sz="2000"/>
            </a:br>
            <a:r>
              <a:rPr sz="2000"/>
              <a:t>↓</a:t>
            </a:r>
            <a:br>
              <a:rPr sz="2000"/>
            </a:br>
            <a:r>
              <a:rPr sz="2000"/>
              <a:t>Respuesta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1F36"/>
                </a:solidFill>
                <a:latin typeface="Aptos"/>
              </a:rPr>
              <a:t>Un Worker no necesita saber que existe Telegram ni quién lo llamó. Solo cumple su contrato.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9436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El criterio arquitectónico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1">
                <a:solidFill>
                  <a:srgbClr val="EB8934"/>
                </a:solidFill>
                <a:latin typeface="Aptos"/>
              </a:rPr>
              <a:t>No agregamos agentes porque sí.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23689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• Manager–Worker → dividir responsabilidades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54041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FFFFFF"/>
                </a:solidFill>
                <a:latin typeface="Aptos"/>
              </a:rPr>
              <a:t>• Router → </a:t>
            </a:r>
            <a:r>
              <a:rPr sz="2000" b="0" dirty="0" err="1">
                <a:solidFill>
                  <a:srgbClr val="FFFFFF"/>
                </a:solidFill>
                <a:latin typeface="Aptos"/>
              </a:rPr>
              <a:t>decidir</a:t>
            </a:r>
            <a:r>
              <a:rPr sz="2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ptos"/>
              </a:rPr>
              <a:t>quién</a:t>
            </a:r>
            <a:r>
              <a:rPr sz="2000" b="0" dirty="0">
                <a:solidFill>
                  <a:srgbClr val="FFFF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FFFFF"/>
                </a:solidFill>
                <a:latin typeface="Aptos"/>
              </a:rPr>
              <a:t>interviene</a:t>
            </a:r>
            <a:endParaRPr sz="2000" b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384393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• Contrato JSON → evitar pérdida de contexto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14744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• Tools → definir qué puede hacer cada especialista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45096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• Guardrails + HITL → limitar acciones críticas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75448"/>
            <a:ext cx="100584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• Logs → saber qué pasó y dónde falló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97880"/>
            <a:ext cx="10607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D2E0F0"/>
                </a:solidFill>
                <a:latin typeface="Aptos"/>
              </a:rPr>
              <a:t>Un sistema multi-agente es mejor solo cuando la división aumenta control, mantenibilidad o precisión.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5610"/>
            <a:ext cx="109728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s-AR" sz="2800" b="1">
                <a:solidFill>
                  <a:srgbClr val="111F36"/>
                </a:solidFill>
                <a:latin typeface="Aptos"/>
              </a:rPr>
              <a:t>Romper el agente</a:t>
            </a:r>
            <a:r>
              <a:rPr sz="2800" b="1">
                <a:solidFill>
                  <a:srgbClr val="111F36"/>
                </a:solidFill>
                <a:latin typeface="Aptos"/>
              </a:rPr>
              <a:t>: </a:t>
            </a:r>
            <a:r>
              <a:rPr lang="es-AR" sz="2800" b="1">
                <a:solidFill>
                  <a:srgbClr val="111F36"/>
                </a:solidFill>
                <a:latin typeface="Aptos"/>
              </a:rPr>
              <a:t>entradas </a:t>
            </a:r>
            <a:r>
              <a:rPr sz="2800" b="1">
                <a:solidFill>
                  <a:srgbClr val="111F36"/>
                </a:solidFill>
                <a:latin typeface="Aptos"/>
              </a:rPr>
              <a:t>para </a:t>
            </a:r>
            <a:r>
              <a:rPr lang="es-AR" sz="2800" b="1">
                <a:solidFill>
                  <a:srgbClr val="111F36"/>
                </a:solidFill>
                <a:latin typeface="Aptos"/>
              </a:rPr>
              <a:t>forzar</a:t>
            </a:r>
            <a:r>
              <a:rPr sz="2800" b="1">
                <a:solidFill>
                  <a:srgbClr val="111F36"/>
                </a:solidFill>
                <a:latin typeface="Aptos"/>
              </a:rPr>
              <a:t> nuestra arquitectura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23005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423005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111F36"/>
                </a:solidFill>
                <a:latin typeface="Aptos"/>
              </a:rPr>
              <a:t>“Me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cobraron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 dos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veces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438394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BILLING · 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1957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81957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111F36"/>
                </a:solidFill>
                <a:latin typeface="Aptos"/>
              </a:rPr>
              <a:t>“No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puedo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iniciar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sesión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197346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TECH_SUPPORT · 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40909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40909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dirty="0">
                <a:solidFill>
                  <a:srgbClr val="111F36"/>
                </a:solidFill>
                <a:latin typeface="Aptos"/>
              </a:rPr>
              <a:t>“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Quiero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contratar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 el plan </a:t>
            </a:r>
            <a:r>
              <a:rPr sz="2000" b="0" dirty="0" err="1">
                <a:solidFill>
                  <a:srgbClr val="111F36"/>
                </a:solidFill>
                <a:latin typeface="Aptos"/>
              </a:rPr>
              <a:t>empresarial</a:t>
            </a:r>
            <a:r>
              <a:rPr sz="2000" b="0" dirty="0">
                <a:solidFill>
                  <a:srgbClr val="111F36"/>
                </a:solidFill>
                <a:latin typeface="Aptos"/>
              </a:rPr>
              <a:t>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956298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SALES · 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9861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699861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11F36"/>
                </a:solidFill>
                <a:latin typeface="Aptos"/>
              </a:rPr>
              <a:t>“Hola, ¿me ayudás?”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3715250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UNKNOWN / baja confianza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58813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58813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11F36"/>
                </a:solidFill>
                <a:latin typeface="Aptos"/>
              </a:rPr>
              <a:t>“Me cobraron dos veces y no puedo entrar.”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474202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Multi-intención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7764"/>
            <a:ext cx="4114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934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5217764"/>
            <a:ext cx="658368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>
                <a:solidFill>
                  <a:srgbClr val="111F36"/>
                </a:solidFill>
                <a:latin typeface="Aptos"/>
              </a:rPr>
              <a:t>“Reintegrame USD 8.000 ahora.”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5233153"/>
            <a:ext cx="347472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>
                <a:solidFill>
                  <a:srgbClr val="626C78"/>
                </a:solidFill>
                <a:latin typeface="Aptos"/>
              </a:rPr>
              <a:t>BILLING · HIGH → HITL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111F36"/>
                </a:solidFill>
                <a:latin typeface="Aptos"/>
              </a:rPr>
              <a:t>Ahora sí: manos a n8n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097280" cy="54864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26C78"/>
                </a:solidFill>
                <a:latin typeface="Aptos"/>
              </a:rPr>
              <a:t>Objetivo práctico de la clase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206240"/>
          </a:xfrm>
          <a:prstGeom prst="rect">
            <a:avLst/>
          </a:prstGeom>
          <a:solidFill>
            <a:srgbClr val="2C5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Parte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063239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Construir 2–3 Workers independientes con Execute Workflow Trigger y contrato de salida.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508760"/>
            <a:ext cx="73152" cy="4206240"/>
          </a:xfrm>
          <a:prstGeom prst="rect">
            <a:avLst/>
          </a:prstGeom>
          <a:solidFill>
            <a:srgbClr val="36A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Parte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063239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Construir Manager + Router + Switch + Execute Sub-workflow.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4747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5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73152" cy="4206240"/>
          </a:xfrm>
          <a:prstGeom prst="rect">
            <a:avLst/>
          </a:prstGeom>
          <a:solidFill>
            <a:srgbClr val="EB8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645919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11F36"/>
                </a:solidFill>
                <a:latin typeface="Aptos"/>
              </a:rPr>
              <a:t>Parte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517314"/>
            <a:ext cx="3063239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26C78"/>
                </a:solidFill>
                <a:latin typeface="Aptos"/>
              </a:rPr>
              <a:t>Agregar </a:t>
            </a:r>
            <a:r>
              <a:rPr lang="es-AR" sz="1200" b="0">
                <a:solidFill>
                  <a:srgbClr val="626C78"/>
                </a:solidFill>
                <a:latin typeface="Aptos"/>
              </a:rPr>
              <a:t>confianza</a:t>
            </a:r>
            <a:r>
              <a:rPr sz="1200" b="0">
                <a:solidFill>
                  <a:srgbClr val="626C78"/>
                </a:solidFill>
                <a:latin typeface="Aptos"/>
              </a:rPr>
              <a:t>/</a:t>
            </a:r>
            <a:r>
              <a:rPr lang="es-AR" sz="1200" b="0">
                <a:solidFill>
                  <a:srgbClr val="626C78"/>
                </a:solidFill>
                <a:latin typeface="Aptos"/>
              </a:rPr>
              <a:t>riesgo</a:t>
            </a:r>
            <a:r>
              <a:rPr sz="1200" b="0">
                <a:solidFill>
                  <a:srgbClr val="626C78"/>
                </a:solidFill>
                <a:latin typeface="Aptos"/>
              </a:rPr>
              <a:t>, HITL y trazabilidad. Después intentamos romperlo.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11F36"/>
                </a:solidFill>
                <a:latin typeface="Aptos"/>
              </a:rPr>
              <a:t>Groq será nuestro LLM durante la práctica.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846</Words>
  <Application>Microsoft Office PowerPoint</Application>
  <PresentationFormat>Panorámica</PresentationFormat>
  <Paragraphs>116</Paragraphs>
  <Slides>13</Slides>
  <Notes>0</Notes>
  <HiddenSlides>3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Carolina Lemes</cp:lastModifiedBy>
  <cp:revision>1</cp:revision>
  <dcterms:created xsi:type="dcterms:W3CDTF">2013-01-27T09:14:16Z</dcterms:created>
  <dcterms:modified xsi:type="dcterms:W3CDTF">2026-09-15T23:00:06Z</dcterms:modified>
  <cp:category/>
</cp:coreProperties>
</file>